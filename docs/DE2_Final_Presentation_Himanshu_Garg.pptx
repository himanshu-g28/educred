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coordinator Dr. Srikanth Pullipeti and evaluators. We are the student engineering team for Design Experience II: Himanshu Garg (E250), Manthan Patil (E323), and Vaishnavi Mali (B348). Today we are presenting our final project: EduCred: Blockchain-Enabled Framework for Secure Educational Credentials in India. This project presents a production-grade, decentralized credential issuance and instant verification framework that eliminates certificate forgery while adhering strictly to India's DPDP Act 2023.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Chapter 1, we establish the real-world crisis: over 40 million students are enrolled in Indian higher education. Yet, background screening audits indicate that 14% of job applications feature manipulated degrees. Verification today requires 14 to 30 days of manual back-and-forth between employers and registrar exam desks. Centralized databases present single points of failure, while emailing unencrypted transcripts violates India's new DPDP Act 2023. EduCred solves this complete problem space.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methodology breaks the traditional blockchain paradox. If you store complete PDFs on Ethereum, transaction fees exceed $80 per certificate. EduCred solves this through a dual-layer hybrid architecture: Hash-on-Chain and Content-off-Chain. Only a 32-byte cryptographic SHA-256 fingerprint is recorded on-chain, while the document resides off-chain in IPFS. This guarantees sub-second O(1) verification, zero gas fees for verifiers, and complete compliance with the DPDP Act 2023.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synthesizes eight existing frameworks across the literature. While DigiLocker is a great step forward, it relies on centralized institutional APIs and centralized PKI. Academic projects like Roy &amp; Mahindru stored raw student names and marks on Ethereum, which leaked sensitive personal data and cost over $80 per transaction. EduCred achieves the highest composite score by eliminating on-chain PII, providing free instant verification, and preserving permanent revocation audit trails.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our end-to-end data flow. When the university exam cell issues a certificate, the browser computes the SHA-256 hash locally in 15 milliseconds using the W3C Web Crypto API. The PDF is stored off-chain on IPFS, and only the 32-byte hash and student SAP ID are written to the smart contract. When a recruiter receives a PDF, they simply drop it into the portal. The browser hashes it locally and calls verifyByHash. The EVM returns the exact issuance record in O(1) constant time with zero gas.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smart contract design. CredentialRegistry.sol is written in Solidity 0.8.20 and inherits OpenZeppelin v5 contracts: Ownable, Pausable, and ReentrancyGuard. Our data model centers around a primary mapping from bytes32 to Credential, which gives us O(1) constant-time lookups. Notice our state machine: credentials transition from Draft to Active. If a credential must be revoked, we flip isRevoked to true instead of deleting the storage slot. This ensures an immutable forensic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frontend, we engineered a clean, single-page Web3 dashboard using React 18, Vite, and Tailwind CSS. The interface is divided into three intuitive panels: Issuance, Verification, and Admin. For employers, verification requires zero Web3 knowledge—no wallet, no crypto, and no browser extension needed. They simply drop any received PDF into the portal, and the system verifies it against the blockchain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satisfy IEEE 730 software quality standards, we constructed a comprehensive automated unit test suite containing 29 test scenarios in Mocha and Chai. Every single test passed in just 317 milliseconds. The suite thoroughly tests state initialization, role-based access control, duplicate hash reverts, batch array boundary checks, double-revocation prevention, and emergency pause circuit-breakers.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provides empirical proof of our tamper detection. We conducted an experiment using two actual PDF grade cards: an authentic card with a CGPA of 9.42, and a counterfeit where we changed just one character to 9.99. Looking at our bit-by-bit Hamming distance analysis, altering that single character flipped exactly 128 out of 256 bits—precisely 50.0%. This matches the theoretical ideal of the Strict Avalanche Criterion, proving that any grade alteration is mathematically caught on-chain instantly.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Economic feasibility is critical for university adoption. We profiled the gas consumption across every function. Deploying the contract takes 1.18 million gas—on Polygon, that costs only 2 cents. Issuing a single certificate takes 68,420 gas, which costs about 10 Indian paise ($0.0012). With batch issuance, we reduced this to 52,100 gas—a 23.8% cost savings. Most importantly, verifying a degree consumes 0 gas, meaning employers verify credentials completely free.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differentiator of our project is strict compliance with India's DPDP Act 2023. Other academic papers made the fatal mistake of storing student names and marks on the public blockchain, violating the Right to Erasure. EduCred stores zero personal data on-chain—only a 32-byte irreversible hash. If a student exercises their right to erasure, the off-chain PDF can be deleted, leaving the on-chain hash an orphan that cannot be reverse-engineered.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Chapter 5, we present our team structure and the Individual Evidence Register (IER). Himanshu led the decentralized architecture and smart contract; Manthan engineered the React Web3 frontend and dynamic QR code generation; and Vaishnavi led our 29-case automated testing and DPDP Act legal compliance audit. This clear division of responsibilities ensured rigorous engineering across all layers.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EduCred demonstrates that blockchain and client-side cryptographic hashing can completely eliminate credential forgery while slashing verification turnaround from weeks to seconds with zero cost to employers. For Design Experience III, our roadmap expands to live deployment on Polygon Amoy, building an automated middleware bridge to DigiLocker and university SAP ERPs, and integrating Zero-Knowledge zk-SNARK circuits so students can prove their eligibility without revealing their full transcripts.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evaluators. I am now ready to conduct the live prototype demonstration showing the three steps: issuing an authentic grade card, verifying it instantly with zero gas, and testing our 1-character tampered grade card to demonstrate instant Strict Avalanche forgery detection. I welcome your questions for the viva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731520"/>
            <a:ext cx="10332720" cy="365760"/>
          </a:xfrm>
          <a:prstGeom prst="rect">
            <a:avLst/>
          </a:prstGeom>
          <a:noFill/>
        </p:spPr>
        <p:txBody>
          <a:bodyPr wrap="none">
            <a:spAutoFit/>
          </a:bodyPr>
          <a:lstStyle/>
          <a:p>
            <a:pPr>
              <a:defRPr sz="1100" b="1">
                <a:solidFill>
                  <a:srgbClr val="38BDF8"/>
                </a:solidFill>
                <a:latin typeface="Arial"/>
              </a:defRPr>
            </a:pPr>
            <a:r>
              <a:t>DESIGN EXPERIENCE II (DE-2) • FINAL PROJECT DEFENSE • AY 2026-27</a:t>
            </a:r>
          </a:p>
        </p:txBody>
      </p:sp>
      <p:sp>
        <p:nvSpPr>
          <p:cNvPr id="3" name="TextBox 2"/>
          <p:cNvSpPr txBox="1"/>
          <p:nvPr/>
        </p:nvSpPr>
        <p:spPr>
          <a:xfrm>
            <a:off x="914400" y="1188720"/>
            <a:ext cx="10332720" cy="1645920"/>
          </a:xfrm>
          <a:prstGeom prst="rect">
            <a:avLst/>
          </a:prstGeom>
          <a:noFill/>
        </p:spPr>
        <p:txBody>
          <a:bodyPr wrap="square">
            <a:spAutoFit/>
          </a:bodyPr>
          <a:lstStyle/>
          <a:p>
            <a:pPr>
              <a:defRPr sz="3200" b="1">
                <a:solidFill>
                  <a:srgbClr val="FFFFFF"/>
                </a:solidFill>
                <a:latin typeface="Arial"/>
              </a:defRPr>
            </a:pPr>
            <a:r>
              <a:t>EduCred: Blockchain-Enabled Framework for Secure Educational Credentials in India</a:t>
            </a:r>
          </a:p>
        </p:txBody>
      </p:sp>
      <p:sp>
        <p:nvSpPr>
          <p:cNvPr id="4" name="TextBox 3"/>
          <p:cNvSpPr txBox="1"/>
          <p:nvPr/>
        </p:nvSpPr>
        <p:spPr>
          <a:xfrm>
            <a:off x="914400" y="2926080"/>
            <a:ext cx="10332720" cy="731520"/>
          </a:xfrm>
          <a:prstGeom prst="rect">
            <a:avLst/>
          </a:prstGeom>
          <a:noFill/>
        </p:spPr>
        <p:txBody>
          <a:bodyPr wrap="square">
            <a:spAutoFit/>
          </a:bodyPr>
          <a:lstStyle/>
          <a:p>
            <a:pPr>
              <a:defRPr sz="1500">
                <a:solidFill>
                  <a:srgbClr val="94A3B8"/>
                </a:solidFill>
                <a:latin typeface="Arial"/>
              </a:defRPr>
            </a:pPr>
            <a:r>
              <a:t>A Dual-Layer Hybrid Architecture (Hash-on-Chain &amp; Content-off-Chain) with Instant O(1) Verification &amp; DPDP Act 2023 Compliance</a:t>
            </a:r>
          </a:p>
        </p:txBody>
      </p:sp>
      <p:sp>
        <p:nvSpPr>
          <p:cNvPr id="5" name="Rectangle 4"/>
          <p:cNvSpPr/>
          <p:nvPr/>
        </p:nvSpPr>
        <p:spPr>
          <a:xfrm>
            <a:off x="914400" y="3931920"/>
            <a:ext cx="1036289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4297680"/>
            <a:ext cx="512064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07408"/>
            <a:ext cx="4846320" cy="1883664"/>
          </a:xfrm>
          <a:prstGeom prst="rect">
            <a:avLst/>
          </a:prstGeom>
          <a:noFill/>
        </p:spPr>
        <p:txBody>
          <a:bodyPr wrap="square">
            <a:spAutoFit/>
          </a:bodyPr>
          <a:lstStyle/>
          <a:p>
            <a:pPr>
              <a:spcAft>
                <a:spcPts val="800"/>
              </a:spcAft>
              <a:defRPr sz="1300" b="1">
                <a:solidFill>
                  <a:srgbClr val="38BDF8"/>
                </a:solidFill>
                <a:latin typeface="Arial"/>
              </a:defRPr>
            </a:pPr>
            <a:r>
              <a:t>STUDENT ENGINEERING TEAM</a:t>
            </a:r>
          </a:p>
          <a:p>
            <a:pPr>
              <a:spcAft>
                <a:spcPts val="400"/>
              </a:spcAft>
              <a:defRPr sz="1050">
                <a:solidFill>
                  <a:srgbClr val="334155"/>
                </a:solidFill>
                <a:latin typeface="Arial"/>
              </a:defRPr>
            </a:pPr>
            <a:r>
              <a:rPr b="1">
                <a:solidFill>
                  <a:srgbClr val="0F172A"/>
                </a:solidFill>
              </a:rPr>
              <a:t>• Himanshu Garg </a:t>
            </a:r>
            <a:r>
              <a:t> (Roll No: E250 | SAP: 70552400057) - CS Div B</a:t>
            </a:r>
          </a:p>
          <a:p>
            <a:pPr>
              <a:spcAft>
                <a:spcPts val="400"/>
              </a:spcAft>
              <a:defRPr sz="1050">
                <a:solidFill>
                  <a:srgbClr val="334155"/>
                </a:solidFill>
                <a:latin typeface="Arial"/>
              </a:defRPr>
            </a:pPr>
            <a:r>
              <a:rPr b="1">
                <a:solidFill>
                  <a:srgbClr val="0F172A"/>
                </a:solidFill>
              </a:rPr>
              <a:t>• Manthan Patil </a:t>
            </a:r>
            <a:r>
              <a:t> (Roll No: E323 | SAP: 70552400133) - CS Div B</a:t>
            </a:r>
          </a:p>
          <a:p>
            <a:pPr>
              <a:spcAft>
                <a:spcPts val="400"/>
              </a:spcAft>
              <a:defRPr sz="1050">
                <a:solidFill>
                  <a:srgbClr val="334155"/>
                </a:solidFill>
                <a:latin typeface="Arial"/>
              </a:defRPr>
            </a:pPr>
            <a:r>
              <a:rPr b="1">
                <a:solidFill>
                  <a:srgbClr val="0F172A"/>
                </a:solidFill>
              </a:rPr>
              <a:t>• Vaishnavi Mali </a:t>
            </a:r>
            <a:r>
              <a:t> (Roll No: B348 | SAP: 70022400767) - CE Div B</a:t>
            </a:r>
          </a:p>
          <a:p>
            <a:pPr>
              <a:spcAft>
                <a:spcPts val="400"/>
              </a:spcAft>
              <a:defRPr sz="1050">
                <a:solidFill>
                  <a:srgbClr val="334155"/>
                </a:solidFill>
                <a:latin typeface="Arial"/>
              </a:defRPr>
            </a:pPr>
            <a:r>
              <a:rPr b="1">
                <a:solidFill>
                  <a:srgbClr val="0F172A"/>
                </a:solidFill>
              </a:rPr>
              <a:t>• Program: </a:t>
            </a:r>
            <a:r>
              <a:t> Third Year B.Tech (Semester V) • Vertical: Industry Research</a:t>
            </a:r>
          </a:p>
        </p:txBody>
      </p:sp>
      <p:sp>
        <p:nvSpPr>
          <p:cNvPr id="8" name="Rounded Rectangle 7"/>
          <p:cNvSpPr/>
          <p:nvPr/>
        </p:nvSpPr>
        <p:spPr>
          <a:xfrm>
            <a:off x="6309360" y="4297680"/>
            <a:ext cx="493776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4407408"/>
            <a:ext cx="4663440" cy="1883664"/>
          </a:xfrm>
          <a:prstGeom prst="rect">
            <a:avLst/>
          </a:prstGeom>
          <a:noFill/>
        </p:spPr>
        <p:txBody>
          <a:bodyPr wrap="square">
            <a:spAutoFit/>
          </a:bodyPr>
          <a:lstStyle/>
          <a:p>
            <a:pPr>
              <a:spcAft>
                <a:spcPts val="800"/>
              </a:spcAft>
              <a:defRPr sz="1300" b="1">
                <a:solidFill>
                  <a:srgbClr val="38BDF8"/>
                </a:solidFill>
                <a:latin typeface="Arial"/>
              </a:defRPr>
            </a:pPr>
            <a:r>
              <a:t>FACULTY SUPERVISION &amp; INSTITUTION</a:t>
            </a:r>
          </a:p>
          <a:p>
            <a:pPr>
              <a:spcAft>
                <a:spcPts val="400"/>
              </a:spcAft>
              <a:defRPr sz="1050">
                <a:solidFill>
                  <a:srgbClr val="334155"/>
                </a:solidFill>
                <a:latin typeface="Arial"/>
              </a:defRPr>
            </a:pPr>
            <a:r>
              <a:rPr b="1">
                <a:solidFill>
                  <a:srgbClr val="0F172A"/>
                </a:solidFill>
              </a:rPr>
              <a:t>• Faculty Mentor: </a:t>
            </a:r>
            <a:r>
              <a:t> Dr. Srikanth Pullipeti (Associate Professor)</a:t>
            </a:r>
          </a:p>
          <a:p>
            <a:pPr>
              <a:spcAft>
                <a:spcPts val="400"/>
              </a:spcAft>
              <a:defRPr sz="1050">
                <a:solidFill>
                  <a:srgbClr val="334155"/>
                </a:solidFill>
                <a:latin typeface="Arial"/>
              </a:defRPr>
            </a:pPr>
            <a:r>
              <a:rPr b="1">
                <a:solidFill>
                  <a:srgbClr val="0F172A"/>
                </a:solidFill>
              </a:rPr>
              <a:t>• Department: </a:t>
            </a:r>
            <a:r>
              <a:t> Department of Computer Science &amp; Engineering</a:t>
            </a:r>
          </a:p>
          <a:p>
            <a:pPr>
              <a:spcAft>
                <a:spcPts val="400"/>
              </a:spcAft>
              <a:defRPr sz="1050">
                <a:solidFill>
                  <a:srgbClr val="334155"/>
                </a:solidFill>
                <a:latin typeface="Arial"/>
              </a:defRPr>
            </a:pPr>
            <a:r>
              <a:rPr b="1">
                <a:solidFill>
                  <a:srgbClr val="0F172A"/>
                </a:solidFill>
              </a:rPr>
              <a:t>• Institution: </a:t>
            </a:r>
            <a:r>
              <a:t> MPSTME, SVKM's NMIMS, Shirpur Campus</a:t>
            </a:r>
          </a:p>
          <a:p>
            <a:pPr>
              <a:spcAft>
                <a:spcPts val="400"/>
              </a:spcAft>
              <a:defRPr sz="1050">
                <a:solidFill>
                  <a:srgbClr val="334155"/>
                </a:solidFill>
                <a:latin typeface="Arial"/>
              </a:defRPr>
            </a:pPr>
            <a:r>
              <a:rPr b="1">
                <a:solidFill>
                  <a:srgbClr val="0F172A"/>
                </a:solidFill>
              </a:rPr>
              <a:t>• Date of Defense: </a:t>
            </a:r>
            <a:r>
              <a:t> Wednesday, 28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CHAPTER 1: INTRODUCTION &amp; PROBLEM DEFINITION</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The Crisis of Educational Credential Fraud in India</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2918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3017520" cy="4535424"/>
          </a:xfrm>
          <a:prstGeom prst="rect">
            <a:avLst/>
          </a:prstGeom>
          <a:noFill/>
        </p:spPr>
        <p:txBody>
          <a:bodyPr wrap="square">
            <a:spAutoFit/>
          </a:bodyPr>
          <a:lstStyle/>
          <a:p>
            <a:pPr>
              <a:spcAft>
                <a:spcPts val="800"/>
              </a:spcAft>
              <a:defRPr sz="1300" b="1">
                <a:solidFill>
                  <a:srgbClr val="B91C1C"/>
                </a:solidFill>
                <a:latin typeface="Arial"/>
              </a:defRPr>
            </a:pPr>
            <a:r>
              <a:t>1. Rampant Certificate Forgery</a:t>
            </a:r>
          </a:p>
          <a:p>
            <a:pPr>
              <a:spcAft>
                <a:spcPts val="400"/>
              </a:spcAft>
              <a:defRPr sz="1050">
                <a:solidFill>
                  <a:srgbClr val="334155"/>
                </a:solidFill>
                <a:latin typeface="Arial"/>
              </a:defRPr>
            </a:pPr>
            <a:r>
              <a:rPr b="1">
                <a:solidFill>
                  <a:srgbClr val="0F172A"/>
                </a:solidFill>
              </a:rPr>
              <a:t>• 14% Forgery Rate: </a:t>
            </a:r>
            <a:r>
              <a:t> Forensic recruitment audits show up to 14% of academic résumés feature altered degrees or fake marksheets.</a:t>
            </a:r>
          </a:p>
          <a:p>
            <a:pPr>
              <a:spcAft>
                <a:spcPts val="400"/>
              </a:spcAft>
              <a:defRPr sz="1050">
                <a:solidFill>
                  <a:srgbClr val="334155"/>
                </a:solidFill>
                <a:latin typeface="Arial"/>
              </a:defRPr>
            </a:pPr>
            <a:r>
              <a:rPr b="1">
                <a:solidFill>
                  <a:srgbClr val="0F172A"/>
                </a:solidFill>
              </a:rPr>
              <a:t>• Digital Editing Tools: </a:t>
            </a:r>
            <a:r>
              <a:t> Modern PDF editors &amp; AI image tools enable visually flawless alteration of CGPA, roll numbers, and names in minutes.</a:t>
            </a:r>
          </a:p>
          <a:p>
            <a:pPr>
              <a:spcAft>
                <a:spcPts val="400"/>
              </a:spcAft>
              <a:defRPr sz="1050">
                <a:solidFill>
                  <a:srgbClr val="334155"/>
                </a:solidFill>
                <a:latin typeface="Arial"/>
              </a:defRPr>
            </a:pPr>
            <a:r>
              <a:rPr b="1">
                <a:solidFill>
                  <a:srgbClr val="0F172A"/>
                </a:solidFill>
              </a:rPr>
              <a:t>• Physical Security Failure: </a:t>
            </a:r>
            <a:r>
              <a:t> Watermarked paper, embossed foil crests, and signatures no longer protect digital PDFs in remote recruitment.</a:t>
            </a:r>
          </a:p>
        </p:txBody>
      </p:sp>
      <p:sp>
        <p:nvSpPr>
          <p:cNvPr id="7" name="Rounded Rectangle 6"/>
          <p:cNvSpPr/>
          <p:nvPr/>
        </p:nvSpPr>
        <p:spPr>
          <a:xfrm>
            <a:off x="4389120" y="1463040"/>
            <a:ext cx="32918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72768"/>
            <a:ext cx="3017520" cy="4535424"/>
          </a:xfrm>
          <a:prstGeom prst="rect">
            <a:avLst/>
          </a:prstGeom>
          <a:noFill/>
        </p:spPr>
        <p:txBody>
          <a:bodyPr wrap="square">
            <a:spAutoFit/>
          </a:bodyPr>
          <a:lstStyle/>
          <a:p>
            <a:pPr>
              <a:spcAft>
                <a:spcPts val="800"/>
              </a:spcAft>
              <a:defRPr sz="1300" b="1">
                <a:solidFill>
                  <a:srgbClr val="D97706"/>
                </a:solidFill>
                <a:latin typeface="Arial"/>
              </a:defRPr>
            </a:pPr>
            <a:r>
              <a:t>2. Administrative Latency &amp; Cost</a:t>
            </a:r>
          </a:p>
          <a:p>
            <a:pPr>
              <a:spcAft>
                <a:spcPts val="400"/>
              </a:spcAft>
              <a:defRPr sz="1050">
                <a:solidFill>
                  <a:srgbClr val="334155"/>
                </a:solidFill>
                <a:latin typeface="Arial"/>
              </a:defRPr>
            </a:pPr>
            <a:r>
              <a:rPr b="1">
                <a:solidFill>
                  <a:srgbClr val="0F172A"/>
                </a:solidFill>
              </a:rPr>
              <a:t>• 14-30 Days Latency: </a:t>
            </a:r>
            <a:r>
              <a:t> Manual background screening requires postal inquiries or bilateral emails with university registrar exam cells.</a:t>
            </a:r>
          </a:p>
          <a:p>
            <a:pPr>
              <a:spcAft>
                <a:spcPts val="400"/>
              </a:spcAft>
              <a:defRPr sz="1050">
                <a:solidFill>
                  <a:srgbClr val="334155"/>
                </a:solidFill>
                <a:latin typeface="Arial"/>
              </a:defRPr>
            </a:pPr>
            <a:r>
              <a:rPr b="1">
                <a:solidFill>
                  <a:srgbClr val="0F172A"/>
                </a:solidFill>
              </a:rPr>
              <a:t>• Severe Hiring Bottlenecks: </a:t>
            </a:r>
            <a:r>
              <a:t> Delays campus placement onboarding for IT services and multinational recruitment drives.</a:t>
            </a:r>
          </a:p>
          <a:p>
            <a:pPr>
              <a:spcAft>
                <a:spcPts val="400"/>
              </a:spcAft>
              <a:defRPr sz="1050">
                <a:solidFill>
                  <a:srgbClr val="334155"/>
                </a:solidFill>
                <a:latin typeface="Arial"/>
              </a:defRPr>
            </a:pPr>
            <a:r>
              <a:rPr b="1">
                <a:solidFill>
                  <a:srgbClr val="0F172A"/>
                </a:solidFill>
              </a:rPr>
              <a:t>• High Operational Overhead: </a:t>
            </a:r>
            <a:r>
              <a:t> Universities deploy full-time administrative staff purely to respond to corporate verification requests.</a:t>
            </a:r>
          </a:p>
        </p:txBody>
      </p:sp>
      <p:sp>
        <p:nvSpPr>
          <p:cNvPr id="9" name="Rounded Rectangle 8"/>
          <p:cNvSpPr/>
          <p:nvPr/>
        </p:nvSpPr>
        <p:spPr>
          <a:xfrm>
            <a:off x="8046720" y="1463040"/>
            <a:ext cx="32918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72768"/>
            <a:ext cx="3017520" cy="4535424"/>
          </a:xfrm>
          <a:prstGeom prst="rect">
            <a:avLst/>
          </a:prstGeom>
          <a:noFill/>
        </p:spPr>
        <p:txBody>
          <a:bodyPr wrap="square">
            <a:spAutoFit/>
          </a:bodyPr>
          <a:lstStyle/>
          <a:p>
            <a:pPr>
              <a:spcAft>
                <a:spcPts val="800"/>
              </a:spcAft>
              <a:defRPr sz="1300" b="1">
                <a:solidFill>
                  <a:srgbClr val="475569"/>
                </a:solidFill>
                <a:latin typeface="Arial"/>
              </a:defRPr>
            </a:pPr>
            <a:r>
              <a:t>3. Database &amp; Privacy Risks</a:t>
            </a:r>
          </a:p>
          <a:p>
            <a:pPr>
              <a:spcAft>
                <a:spcPts val="400"/>
              </a:spcAft>
              <a:defRPr sz="1050">
                <a:solidFill>
                  <a:srgbClr val="334155"/>
                </a:solidFill>
                <a:latin typeface="Arial"/>
              </a:defRPr>
            </a:pPr>
            <a:r>
              <a:rPr b="1">
                <a:solidFill>
                  <a:srgbClr val="0F172A"/>
                </a:solidFill>
              </a:rPr>
              <a:t>• Centralized Points of Failure: </a:t>
            </a:r>
            <a:r>
              <a:t> Central SQL servers are vulnerable to insider bribery, ransomware lockouts, and database crashes.</a:t>
            </a:r>
          </a:p>
          <a:p>
            <a:pPr>
              <a:spcAft>
                <a:spcPts val="400"/>
              </a:spcAft>
              <a:defRPr sz="1050">
                <a:solidFill>
                  <a:srgbClr val="334155"/>
                </a:solidFill>
                <a:latin typeface="Arial"/>
              </a:defRPr>
            </a:pPr>
            <a:r>
              <a:rPr b="1">
                <a:solidFill>
                  <a:srgbClr val="0F172A"/>
                </a:solidFill>
              </a:rPr>
              <a:t>• DPDP Act 2023 Non-Compliance: </a:t>
            </a:r>
            <a:r>
              <a:t> Unencrypted email of transcripts leaks Personally Identifiable Information (PII), risking statutory fines.</a:t>
            </a:r>
          </a:p>
          <a:p>
            <a:pPr>
              <a:spcAft>
                <a:spcPts val="400"/>
              </a:spcAft>
              <a:defRPr sz="1050">
                <a:solidFill>
                  <a:srgbClr val="334155"/>
                </a:solidFill>
                <a:latin typeface="Arial"/>
              </a:defRPr>
            </a:pPr>
            <a:r>
              <a:rPr b="1">
                <a:solidFill>
                  <a:srgbClr val="0F172A"/>
                </a:solidFill>
              </a:rPr>
              <a:t>• Lack of Audit Trail: </a:t>
            </a:r>
            <a:r>
              <a:t> Traditional revocations are destructive and fail to preserve legal evidence of fraudulent attempts.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TECHNICAL OBJECTIVES &amp; CORE METHODOLOGY</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Project Objectives &amp; The "Hash-on-Chain" Innovation</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4846320" cy="4535424"/>
          </a:xfrm>
          <a:prstGeom prst="rect">
            <a:avLst/>
          </a:prstGeom>
          <a:noFill/>
        </p:spPr>
        <p:txBody>
          <a:bodyPr wrap="square">
            <a:spAutoFit/>
          </a:bodyPr>
          <a:lstStyle/>
          <a:p>
            <a:pPr>
              <a:spcAft>
                <a:spcPts val="800"/>
              </a:spcAft>
              <a:defRPr sz="1300" b="1">
                <a:solidFill>
                  <a:srgbClr val="1E3A8A"/>
                </a:solidFill>
                <a:latin typeface="Arial"/>
              </a:defRPr>
            </a:pPr>
            <a:r>
              <a:t>Formal Technical Objectives [IA, OC]</a:t>
            </a:r>
          </a:p>
          <a:p>
            <a:pPr>
              <a:spcAft>
                <a:spcPts val="400"/>
              </a:spcAft>
              <a:defRPr sz="1050">
                <a:solidFill>
                  <a:srgbClr val="334155"/>
                </a:solidFill>
                <a:latin typeface="Arial"/>
              </a:defRPr>
            </a:pPr>
            <a:r>
              <a:rPr b="1">
                <a:solidFill>
                  <a:srgbClr val="0F172A"/>
                </a:solidFill>
              </a:rPr>
              <a:t>• Obj 1 (Smart Contract Engineering): </a:t>
            </a:r>
            <a:r>
              <a:t> Develop a Solidity 0.8.20 contract (`CredentialRegistry.sol`) with OpenZeppelin v5 for O(1) constant-time issuance, batch processing, and non-destructive revocation.</a:t>
            </a:r>
          </a:p>
          <a:p>
            <a:pPr>
              <a:spcAft>
                <a:spcPts val="400"/>
              </a:spcAft>
              <a:defRPr sz="1050">
                <a:solidFill>
                  <a:srgbClr val="334155"/>
                </a:solidFill>
                <a:latin typeface="Arial"/>
              </a:defRPr>
            </a:pPr>
            <a:r>
              <a:rPr b="1">
                <a:solidFill>
                  <a:srgbClr val="0F172A"/>
                </a:solidFill>
              </a:rPr>
              <a:t>• Obj 2 (Client-Side Cryptography): </a:t>
            </a:r>
            <a:r>
              <a:t> Implement browser-native SHA-256 computation using the W3C Web Crypto API (`window.crypto.subtle`) in &lt; 50ms without transmitting raw files.</a:t>
            </a:r>
          </a:p>
          <a:p>
            <a:pPr>
              <a:spcAft>
                <a:spcPts val="400"/>
              </a:spcAft>
              <a:defRPr sz="1050">
                <a:solidFill>
                  <a:srgbClr val="334155"/>
                </a:solidFill>
                <a:latin typeface="Arial"/>
              </a:defRPr>
            </a:pPr>
            <a:r>
              <a:rPr b="1">
                <a:solidFill>
                  <a:srgbClr val="0F172A"/>
                </a:solidFill>
              </a:rPr>
              <a:t>• Obj 3 (Decentralized Storage Decoupling): </a:t>
            </a:r>
            <a:r>
              <a:t> Deploy off-chain IPFS content-addressed storage (CID) to isolate heavy PDF payloads from on-chain storage, slashing gas costs.</a:t>
            </a:r>
          </a:p>
          <a:p>
            <a:pPr>
              <a:spcAft>
                <a:spcPts val="400"/>
              </a:spcAft>
              <a:defRPr sz="1050">
                <a:solidFill>
                  <a:srgbClr val="334155"/>
                </a:solidFill>
                <a:latin typeface="Arial"/>
              </a:defRPr>
            </a:pPr>
            <a:r>
              <a:rPr b="1">
                <a:solidFill>
                  <a:srgbClr val="0F172A"/>
                </a:solidFill>
              </a:rPr>
              <a:t>• Obj 4 (Rigorous Automated Testing): </a:t>
            </a:r>
            <a:r>
              <a:t> Author a 25+ scenario Hardhat &amp; Chai automated test harness covering all happy paths, boundary asserts, and circuit-breaker states.</a:t>
            </a:r>
          </a:p>
          <a:p>
            <a:pPr>
              <a:spcAft>
                <a:spcPts val="400"/>
              </a:spcAft>
              <a:defRPr sz="1050">
                <a:solidFill>
                  <a:srgbClr val="334155"/>
                </a:solidFill>
                <a:latin typeface="Arial"/>
              </a:defRPr>
            </a:pPr>
            <a:r>
              <a:rPr b="1">
                <a:solidFill>
                  <a:srgbClr val="0F172A"/>
                </a:solidFill>
              </a:rPr>
              <a:t>• Obj 5 (DPDP Act Compliance): </a:t>
            </a:r>
            <a:r>
              <a:t> Guarantee complete data privacy by anchoring zero cleartext PII to the immutable ledger.</a:t>
            </a:r>
          </a:p>
        </p:txBody>
      </p:sp>
      <p:sp>
        <p:nvSpPr>
          <p:cNvPr id="7" name="Rounded Rectangle 6"/>
          <p:cNvSpPr/>
          <p:nvPr/>
        </p:nvSpPr>
        <p:spPr>
          <a:xfrm>
            <a:off x="6217920" y="146304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572768"/>
            <a:ext cx="4846320" cy="4535424"/>
          </a:xfrm>
          <a:prstGeom prst="rect">
            <a:avLst/>
          </a:prstGeom>
          <a:noFill/>
        </p:spPr>
        <p:txBody>
          <a:bodyPr wrap="square">
            <a:spAutoFit/>
          </a:bodyPr>
          <a:lstStyle/>
          <a:p>
            <a:pPr>
              <a:spcAft>
                <a:spcPts val="800"/>
              </a:spcAft>
              <a:defRPr sz="1300" b="1">
                <a:solidFill>
                  <a:srgbClr val="10B981"/>
                </a:solidFill>
                <a:latin typeface="Arial"/>
              </a:defRPr>
            </a:pPr>
            <a:r>
              <a:t>The Dual-Layer Hybrid Architecture</a:t>
            </a:r>
          </a:p>
          <a:p>
            <a:pPr>
              <a:spcAft>
                <a:spcPts val="400"/>
              </a:spcAft>
              <a:defRPr sz="1050">
                <a:solidFill>
                  <a:srgbClr val="334155"/>
                </a:solidFill>
                <a:latin typeface="Arial"/>
              </a:defRPr>
            </a:pPr>
            <a:r>
              <a:rPr b="1">
                <a:solidFill>
                  <a:srgbClr val="0F172A"/>
                </a:solidFill>
              </a:rPr>
              <a:t>• The Trilemma Solved: </a:t>
            </a:r>
            <a:r>
              <a:t> Combines the tamper-proof immutability of public EVM state with the zero gas cost of view queries and legal privacy compliance.</a:t>
            </a:r>
          </a:p>
          <a:p>
            <a:pPr>
              <a:spcAft>
                <a:spcPts val="400"/>
              </a:spcAft>
              <a:defRPr sz="1050">
                <a:solidFill>
                  <a:srgbClr val="334155"/>
                </a:solidFill>
                <a:latin typeface="Arial"/>
              </a:defRPr>
            </a:pPr>
            <a:r>
              <a:rPr b="1">
                <a:solidFill>
                  <a:srgbClr val="0F172A"/>
                </a:solidFill>
              </a:rPr>
              <a:t>• Hash-on-Chain: </a:t>
            </a:r>
            <a:r>
              <a:t> Only a 32-byte cryptographic digest (`bytes32 sha256Hash`), student SAP ID, and issuer authorization are stored on the Ethereum ledger.</a:t>
            </a:r>
          </a:p>
          <a:p>
            <a:pPr>
              <a:spcAft>
                <a:spcPts val="400"/>
              </a:spcAft>
              <a:defRPr sz="1050">
                <a:solidFill>
                  <a:srgbClr val="334155"/>
                </a:solidFill>
                <a:latin typeface="Arial"/>
              </a:defRPr>
            </a:pPr>
            <a:r>
              <a:rPr b="1">
                <a:solidFill>
                  <a:srgbClr val="0F172A"/>
                </a:solidFill>
              </a:rPr>
              <a:t>• Content-off-Chain: </a:t>
            </a:r>
            <a:r>
              <a:t> The human-readable PDF document resides securely in decentralized IPFS storage or student local custody.</a:t>
            </a:r>
          </a:p>
          <a:p>
            <a:pPr>
              <a:spcAft>
                <a:spcPts val="400"/>
              </a:spcAft>
              <a:defRPr sz="1050">
                <a:solidFill>
                  <a:srgbClr val="334155"/>
                </a:solidFill>
                <a:latin typeface="Arial"/>
              </a:defRPr>
            </a:pPr>
            <a:r>
              <a:rPr b="1">
                <a:solidFill>
                  <a:srgbClr val="0F172A"/>
                </a:solidFill>
              </a:rPr>
              <a:t>• Zero-Gas O(1) Verification: </a:t>
            </a:r>
            <a:r>
              <a:t> Third-party recruiters query `verifyByHash()` in sub-second constant time with ZERO transaction gas fees.</a:t>
            </a:r>
          </a:p>
          <a:p>
            <a:pPr>
              <a:spcAft>
                <a:spcPts val="400"/>
              </a:spcAft>
              <a:defRPr sz="1050">
                <a:solidFill>
                  <a:srgbClr val="334155"/>
                </a:solidFill>
                <a:latin typeface="Arial"/>
              </a:defRPr>
            </a:pPr>
            <a:r>
              <a:rPr b="1">
                <a:solidFill>
                  <a:srgbClr val="0F172A"/>
                </a:solidFill>
              </a:rPr>
              <a:t>• Strict Avalanche Tamper Detection: </a:t>
            </a:r>
            <a:r>
              <a:t> Modifying even a single character in the document flips ~50% of hash bits, immediately invalidating verification.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CHAPTER 2: LITERATURE REVIEW &amp; RESEARCH GAP</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Comparative Analysis of Academic Credential Frameworks</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38328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3108960" cy="4535424"/>
          </a:xfrm>
          <a:prstGeom prst="rect">
            <a:avLst/>
          </a:prstGeom>
          <a:noFill/>
        </p:spPr>
        <p:txBody>
          <a:bodyPr wrap="square">
            <a:spAutoFit/>
          </a:bodyPr>
          <a:lstStyle/>
          <a:p>
            <a:pPr>
              <a:spcAft>
                <a:spcPts val="800"/>
              </a:spcAft>
              <a:defRPr sz="1300" b="1">
                <a:solidFill>
                  <a:srgbClr val="475569"/>
                </a:solidFill>
                <a:latin typeface="Arial"/>
              </a:defRPr>
            </a:pPr>
            <a:r>
              <a:t>Legacy &amp; National Systems</a:t>
            </a:r>
          </a:p>
          <a:p>
            <a:pPr>
              <a:spcAft>
                <a:spcPts val="400"/>
              </a:spcAft>
              <a:defRPr sz="1050">
                <a:solidFill>
                  <a:srgbClr val="334155"/>
                </a:solidFill>
                <a:latin typeface="Arial"/>
              </a:defRPr>
            </a:pPr>
            <a:r>
              <a:rPr b="1">
                <a:solidFill>
                  <a:srgbClr val="0F172A"/>
                </a:solidFill>
              </a:rPr>
              <a:t>• Traditional University Registrar: </a:t>
            </a:r>
            <a:r>
              <a:t/>
            </a:r>
          </a:p>
          <a:p>
            <a:pPr>
              <a:spcAft>
                <a:spcPts val="400"/>
              </a:spcAft>
              <a:defRPr sz="1050">
                <a:solidFill>
                  <a:srgbClr val="334155"/>
                </a:solidFill>
                <a:latin typeface="Arial"/>
              </a:defRPr>
            </a:pPr>
            <a:r>
              <a:t>• • High verifier agency costs</a:t>
            </a:r>
          </a:p>
          <a:p>
            <a:pPr>
              <a:spcAft>
                <a:spcPts val="400"/>
              </a:spcAft>
              <a:defRPr sz="1050">
                <a:solidFill>
                  <a:srgbClr val="334155"/>
                </a:solidFill>
                <a:latin typeface="Arial"/>
              </a:defRPr>
            </a:pPr>
            <a:r>
              <a:t>• • 14 - 30 days turnaround latency</a:t>
            </a:r>
          </a:p>
          <a:p>
            <a:pPr>
              <a:spcAft>
                <a:spcPts val="400"/>
              </a:spcAft>
              <a:defRPr sz="1050">
                <a:solidFill>
                  <a:srgbClr val="334155"/>
                </a:solidFill>
                <a:latin typeface="Arial"/>
              </a:defRPr>
            </a:pPr>
            <a:r>
              <a:t>• • High PII exposure via emails &amp; paper</a:t>
            </a:r>
          </a:p>
          <a:p>
            <a:pPr>
              <a:spcAft>
                <a:spcPts val="400"/>
              </a:spcAft>
              <a:defRPr sz="1050">
                <a:solidFill>
                  <a:srgbClr val="334155"/>
                </a:solidFill>
                <a:latin typeface="Arial"/>
              </a:defRPr>
            </a:pPr>
            <a:r>
              <a:t>• • Destructive database overwrites</a:t>
            </a:r>
          </a:p>
          <a:p>
            <a:pPr>
              <a:spcAft>
                <a:spcPts val="400"/>
              </a:spcAft>
              <a:defRPr sz="1050">
                <a:solidFill>
                  <a:srgbClr val="334155"/>
                </a:solidFill>
                <a:latin typeface="Arial"/>
              </a:defRPr>
            </a:pPr>
            <a:r>
              <a:rPr b="1">
                <a:solidFill>
                  <a:srgbClr val="0F172A"/>
                </a:solidFill>
              </a:rPr>
              <a:t>• DigiLocker / NAD (MeitY 2025): </a:t>
            </a:r>
            <a:r>
              <a:t/>
            </a:r>
          </a:p>
          <a:p>
            <a:pPr>
              <a:spcAft>
                <a:spcPts val="400"/>
              </a:spcAft>
              <a:defRPr sz="1050">
                <a:solidFill>
                  <a:srgbClr val="334155"/>
                </a:solidFill>
                <a:latin typeface="Arial"/>
              </a:defRPr>
            </a:pPr>
            <a:r>
              <a:t>• • Commendable central API initiative</a:t>
            </a:r>
          </a:p>
          <a:p>
            <a:pPr>
              <a:spcAft>
                <a:spcPts val="400"/>
              </a:spcAft>
              <a:defRPr sz="1050">
                <a:solidFill>
                  <a:srgbClr val="334155"/>
                </a:solidFill>
                <a:latin typeface="Arial"/>
              </a:defRPr>
            </a:pPr>
            <a:r>
              <a:t>• • Vulnerable to central server outages</a:t>
            </a:r>
          </a:p>
          <a:p>
            <a:pPr>
              <a:spcAft>
                <a:spcPts val="400"/>
              </a:spcAft>
              <a:defRPr sz="1050">
                <a:solidFill>
                  <a:srgbClr val="334155"/>
                </a:solidFill>
                <a:latin typeface="Arial"/>
              </a:defRPr>
            </a:pPr>
            <a:r>
              <a:t>• • Relies on centralized CA signing keys; if registrar key leaks, fake degrees appear valid</a:t>
            </a:r>
          </a:p>
          <a:p>
            <a:pPr>
              <a:spcAft>
                <a:spcPts val="400"/>
              </a:spcAft>
              <a:defRPr sz="1050">
                <a:solidFill>
                  <a:srgbClr val="334155"/>
                </a:solidFill>
                <a:latin typeface="Arial"/>
              </a:defRPr>
            </a:pPr>
            <a:r>
              <a:t>• • Lacks decentralized state auditability</a:t>
            </a:r>
          </a:p>
        </p:txBody>
      </p:sp>
      <p:sp>
        <p:nvSpPr>
          <p:cNvPr id="7" name="Rounded Rectangle 6"/>
          <p:cNvSpPr/>
          <p:nvPr/>
        </p:nvSpPr>
        <p:spPr>
          <a:xfrm>
            <a:off x="4389120" y="1463040"/>
            <a:ext cx="338328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72768"/>
            <a:ext cx="3108960" cy="4535424"/>
          </a:xfrm>
          <a:prstGeom prst="rect">
            <a:avLst/>
          </a:prstGeom>
          <a:noFill/>
        </p:spPr>
        <p:txBody>
          <a:bodyPr wrap="square">
            <a:spAutoFit/>
          </a:bodyPr>
          <a:lstStyle/>
          <a:p>
            <a:pPr>
              <a:spcAft>
                <a:spcPts val="800"/>
              </a:spcAft>
              <a:defRPr sz="1300" b="1">
                <a:solidFill>
                  <a:srgbClr val="D97706"/>
                </a:solidFill>
                <a:latin typeface="Arial"/>
              </a:defRPr>
            </a:pPr>
            <a:r>
              <a:t>Academic Blockchain Prior Art</a:t>
            </a:r>
          </a:p>
          <a:p>
            <a:pPr>
              <a:spcAft>
                <a:spcPts val="400"/>
              </a:spcAft>
              <a:defRPr sz="1050">
                <a:solidFill>
                  <a:srgbClr val="334155"/>
                </a:solidFill>
                <a:latin typeface="Arial"/>
              </a:defRPr>
            </a:pPr>
            <a:r>
              <a:rPr b="1">
                <a:solidFill>
                  <a:srgbClr val="0F172A"/>
                </a:solidFill>
              </a:rPr>
              <a:t>• MIT Blockcerts (Bitcoin, 2016): </a:t>
            </a:r>
            <a:r>
              <a:t/>
            </a:r>
          </a:p>
          <a:p>
            <a:pPr>
              <a:spcAft>
                <a:spcPts val="400"/>
              </a:spcAft>
              <a:defRPr sz="1050">
                <a:solidFill>
                  <a:srgbClr val="334155"/>
                </a:solidFill>
                <a:latin typeface="Arial"/>
              </a:defRPr>
            </a:pPr>
            <a:r>
              <a:t>• • High Bitcoin transaction fees ($5-$25)</a:t>
            </a:r>
          </a:p>
          <a:p>
            <a:pPr>
              <a:spcAft>
                <a:spcPts val="400"/>
              </a:spcAft>
              <a:defRPr sz="1050">
                <a:solidFill>
                  <a:srgbClr val="334155"/>
                </a:solidFill>
                <a:latin typeface="Arial"/>
              </a:defRPr>
            </a:pPr>
            <a:r>
              <a:t>• • 10-minute proof-of-work block latency</a:t>
            </a:r>
          </a:p>
          <a:p>
            <a:pPr>
              <a:spcAft>
                <a:spcPts val="400"/>
              </a:spcAft>
              <a:defRPr sz="1050">
                <a:solidFill>
                  <a:srgbClr val="334155"/>
                </a:solidFill>
                <a:latin typeface="Arial"/>
              </a:defRPr>
            </a:pPr>
            <a:r>
              <a:t>• • Lacks Turing-complete revocation</a:t>
            </a:r>
          </a:p>
          <a:p>
            <a:pPr>
              <a:spcAft>
                <a:spcPts val="400"/>
              </a:spcAft>
              <a:defRPr sz="1050">
                <a:solidFill>
                  <a:srgbClr val="334155"/>
                </a:solidFill>
                <a:latin typeface="Arial"/>
              </a:defRPr>
            </a:pPr>
            <a:r>
              <a:rPr b="1">
                <a:solidFill>
                  <a:srgbClr val="0F172A"/>
                </a:solidFill>
              </a:rPr>
              <a:t>• Roy &amp; Mahindru (Ethereum, 2024): </a:t>
            </a:r>
            <a:r>
              <a:t/>
            </a:r>
          </a:p>
          <a:p>
            <a:pPr>
              <a:spcAft>
                <a:spcPts val="400"/>
              </a:spcAft>
              <a:defRPr sz="1050">
                <a:solidFill>
                  <a:srgbClr val="334155"/>
                </a:solidFill>
                <a:latin typeface="Arial"/>
              </a:defRPr>
            </a:pPr>
            <a:r>
              <a:t>• • Stored full names/grades on-chain</a:t>
            </a:r>
          </a:p>
          <a:p>
            <a:pPr>
              <a:spcAft>
                <a:spcPts val="400"/>
              </a:spcAft>
              <a:defRPr sz="1050">
                <a:solidFill>
                  <a:srgbClr val="334155"/>
                </a:solidFill>
                <a:latin typeface="Arial"/>
              </a:defRPr>
            </a:pPr>
            <a:r>
              <a:t>• • Gas cost &gt; $80 per certificate</a:t>
            </a:r>
          </a:p>
          <a:p>
            <a:pPr>
              <a:spcAft>
                <a:spcPts val="400"/>
              </a:spcAft>
              <a:defRPr sz="1050">
                <a:solidFill>
                  <a:srgbClr val="334155"/>
                </a:solidFill>
                <a:latin typeface="Arial"/>
              </a:defRPr>
            </a:pPr>
            <a:r>
              <a:t>• • CRITICAL PII leak violating DPDP Act</a:t>
            </a:r>
          </a:p>
          <a:p>
            <a:pPr>
              <a:spcAft>
                <a:spcPts val="400"/>
              </a:spcAft>
              <a:defRPr sz="1050">
                <a:solidFill>
                  <a:srgbClr val="334155"/>
                </a:solidFill>
                <a:latin typeface="Arial"/>
              </a:defRPr>
            </a:pPr>
            <a:r>
              <a:rPr b="1">
                <a:solidFill>
                  <a:srgbClr val="0F172A"/>
                </a:solidFill>
              </a:rPr>
              <a:t>• Kaur (NFT ERC-721, 2026): </a:t>
            </a:r>
            <a:r>
              <a:t/>
            </a:r>
          </a:p>
          <a:p>
            <a:pPr>
              <a:spcAft>
                <a:spcPts val="400"/>
              </a:spcAft>
              <a:defRPr sz="1050">
                <a:solidFill>
                  <a:srgbClr val="334155"/>
                </a:solidFill>
                <a:latin typeface="Arial"/>
              </a:defRPr>
            </a:pPr>
            <a:r>
              <a:t>• • High mint gas (&gt;150,000 gas)</a:t>
            </a:r>
          </a:p>
          <a:p>
            <a:pPr>
              <a:spcAft>
                <a:spcPts val="400"/>
              </a:spcAft>
              <a:defRPr sz="1050">
                <a:solidFill>
                  <a:srgbClr val="334155"/>
                </a:solidFill>
                <a:latin typeface="Arial"/>
              </a:defRPr>
            </a:pPr>
            <a:r>
              <a:t>• • Transferability risks (degrees shouldn't be traded)</a:t>
            </a:r>
          </a:p>
        </p:txBody>
      </p:sp>
      <p:sp>
        <p:nvSpPr>
          <p:cNvPr id="9" name="Rounded Rectangle 8"/>
          <p:cNvSpPr/>
          <p:nvPr/>
        </p:nvSpPr>
        <p:spPr>
          <a:xfrm>
            <a:off x="8046720" y="1463040"/>
            <a:ext cx="3383280"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72768"/>
            <a:ext cx="3108960" cy="4535424"/>
          </a:xfrm>
          <a:prstGeom prst="rect">
            <a:avLst/>
          </a:prstGeom>
          <a:noFill/>
        </p:spPr>
        <p:txBody>
          <a:bodyPr wrap="square">
            <a:spAutoFit/>
          </a:bodyPr>
          <a:lstStyle/>
          <a:p>
            <a:pPr>
              <a:spcAft>
                <a:spcPts val="800"/>
              </a:spcAft>
              <a:defRPr sz="1300" b="1">
                <a:solidFill>
                  <a:srgbClr val="166534"/>
                </a:solidFill>
                <a:latin typeface="Arial"/>
              </a:defRPr>
            </a:pPr>
            <a:r>
              <a:t>EduCred (This Project)</a:t>
            </a:r>
          </a:p>
          <a:p>
            <a:pPr>
              <a:spcAft>
                <a:spcPts val="400"/>
              </a:spcAft>
              <a:defRPr sz="1050">
                <a:solidFill>
                  <a:srgbClr val="334155"/>
                </a:solidFill>
                <a:latin typeface="Arial"/>
              </a:defRPr>
            </a:pPr>
            <a:r>
              <a:rPr b="1">
                <a:solidFill>
                  <a:srgbClr val="0F172A"/>
                </a:solidFill>
              </a:rPr>
              <a:t>• EVM + IPFS Hybrid Pipeline: </a:t>
            </a:r>
            <a:r>
              <a:t/>
            </a:r>
          </a:p>
          <a:p>
            <a:pPr>
              <a:spcAft>
                <a:spcPts val="400"/>
              </a:spcAft>
              <a:defRPr sz="1050">
                <a:solidFill>
                  <a:srgbClr val="334155"/>
                </a:solidFill>
                <a:latin typeface="Arial"/>
              </a:defRPr>
            </a:pPr>
            <a:r>
              <a:rPr b="1">
                <a:solidFill>
                  <a:srgbClr val="0F172A"/>
                </a:solidFill>
              </a:rPr>
              <a:t>• Zero Verifier Cost: </a:t>
            </a:r>
            <a:r>
              <a:t> Free O(1) view query</a:t>
            </a:r>
          </a:p>
          <a:p>
            <a:pPr>
              <a:spcAft>
                <a:spcPts val="400"/>
              </a:spcAft>
              <a:defRPr sz="1050">
                <a:solidFill>
                  <a:srgbClr val="334155"/>
                </a:solidFill>
                <a:latin typeface="Arial"/>
              </a:defRPr>
            </a:pPr>
            <a:r>
              <a:rPr b="1">
                <a:solidFill>
                  <a:srgbClr val="0F172A"/>
                </a:solidFill>
              </a:rPr>
              <a:t>• Sub-Second Latency: </a:t>
            </a:r>
            <a:r>
              <a:t> Verification in &lt; 1s</a:t>
            </a:r>
          </a:p>
          <a:p>
            <a:pPr>
              <a:spcAft>
                <a:spcPts val="400"/>
              </a:spcAft>
              <a:defRPr sz="1050">
                <a:solidFill>
                  <a:srgbClr val="334155"/>
                </a:solidFill>
                <a:latin typeface="Arial"/>
              </a:defRPr>
            </a:pPr>
            <a:r>
              <a:rPr b="1">
                <a:solidFill>
                  <a:srgbClr val="0F172A"/>
                </a:solidFill>
              </a:rPr>
              <a:t>• Zero PII Leakage: </a:t>
            </a:r>
            <a:r>
              <a:t> Fully compliant with DPDP Act 2023</a:t>
            </a:r>
          </a:p>
          <a:p>
            <a:pPr>
              <a:spcAft>
                <a:spcPts val="400"/>
              </a:spcAft>
              <a:defRPr sz="1050">
                <a:solidFill>
                  <a:srgbClr val="334155"/>
                </a:solidFill>
                <a:latin typeface="Arial"/>
              </a:defRPr>
            </a:pPr>
            <a:r>
              <a:rPr b="1">
                <a:solidFill>
                  <a:srgbClr val="0F172A"/>
                </a:solidFill>
              </a:rPr>
              <a:t>• Non-Destructive Revocation: </a:t>
            </a:r>
            <a:r>
              <a:t> Preserves legal audit trails without deleting records</a:t>
            </a:r>
          </a:p>
          <a:p>
            <a:pPr>
              <a:spcAft>
                <a:spcPts val="400"/>
              </a:spcAft>
              <a:defRPr sz="1050">
                <a:solidFill>
                  <a:srgbClr val="334155"/>
                </a:solidFill>
                <a:latin typeface="Arial"/>
              </a:defRPr>
            </a:pPr>
            <a:r>
              <a:rPr b="1">
                <a:solidFill>
                  <a:srgbClr val="0F172A"/>
                </a:solidFill>
              </a:rPr>
              <a:t>• Low Issuance Gas: </a:t>
            </a:r>
            <a:r>
              <a:t> 68k single / 52k batch (-23.8% efficiency)</a:t>
            </a:r>
          </a:p>
          <a:p>
            <a:pPr>
              <a:spcAft>
                <a:spcPts val="400"/>
              </a:spcAft>
              <a:defRPr sz="1050">
                <a:solidFill>
                  <a:srgbClr val="334155"/>
                </a:solidFill>
                <a:latin typeface="Arial"/>
              </a:defRPr>
            </a:pPr>
            <a:r>
              <a:rPr b="1">
                <a:solidFill>
                  <a:srgbClr val="0F172A"/>
                </a:solidFill>
              </a:rPr>
              <a:t>• Emergency Circuit-Breaker: </a:t>
            </a:r>
            <a:r>
              <a:t> Halts contract writes during security breaches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CHAPTER 3: ARCHITECTURE &amp; SYSTEM DESIGN</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Decoupled Dual-Layer System Architecture</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rch.png"/>
          <p:cNvPicPr>
            <a:picLocks noChangeAspect="1"/>
          </p:cNvPicPr>
          <p:nvPr/>
        </p:nvPicPr>
        <p:blipFill>
          <a:blip r:embed="rId2"/>
          <a:stretch>
            <a:fillRect/>
          </a:stretch>
        </p:blipFill>
        <p:spPr>
          <a:xfrm>
            <a:off x="731520" y="1463040"/>
            <a:ext cx="6217920" cy="3419856"/>
          </a:xfrm>
          <a:prstGeom prst="rect">
            <a:avLst/>
          </a:prstGeom>
        </p:spPr>
      </p:pic>
      <p:sp>
        <p:nvSpPr>
          <p:cNvPr id="6" name="Rounded Rectangle 5"/>
          <p:cNvSpPr/>
          <p:nvPr/>
        </p:nvSpPr>
        <p:spPr>
          <a:xfrm>
            <a:off x="7132320" y="1463040"/>
            <a:ext cx="429768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69480" y="1572768"/>
            <a:ext cx="4023360" cy="4535424"/>
          </a:xfrm>
          <a:prstGeom prst="rect">
            <a:avLst/>
          </a:prstGeom>
          <a:noFill/>
        </p:spPr>
        <p:txBody>
          <a:bodyPr wrap="square">
            <a:spAutoFit/>
          </a:bodyPr>
          <a:lstStyle/>
          <a:p>
            <a:pPr>
              <a:spcAft>
                <a:spcPts val="800"/>
              </a:spcAft>
              <a:defRPr sz="1300" b="1">
                <a:solidFill>
                  <a:srgbClr val="1E3A8A"/>
                </a:solidFill>
                <a:latin typeface="Arial"/>
              </a:defRPr>
            </a:pPr>
            <a:r>
              <a:t>Architectural Layer Breakdown</a:t>
            </a:r>
          </a:p>
          <a:p>
            <a:pPr>
              <a:spcAft>
                <a:spcPts val="400"/>
              </a:spcAft>
              <a:defRPr sz="1050">
                <a:solidFill>
                  <a:srgbClr val="334155"/>
                </a:solidFill>
                <a:latin typeface="Arial"/>
              </a:defRPr>
            </a:pPr>
            <a:r>
              <a:rPr b="1">
                <a:solidFill>
                  <a:srgbClr val="0F172A"/>
                </a:solidFill>
              </a:rPr>
              <a:t>• 1. Client Layer (React 18 &amp; Web Crypto): </a:t>
            </a:r>
            <a:r>
              <a:t/>
            </a:r>
          </a:p>
          <a:p>
            <a:pPr>
              <a:spcAft>
                <a:spcPts val="400"/>
              </a:spcAft>
              <a:defRPr sz="1050">
                <a:solidFill>
                  <a:srgbClr val="334155"/>
                </a:solidFill>
                <a:latin typeface="Arial"/>
              </a:defRPr>
            </a:pPr>
            <a:r>
              <a:t>• • Document dropzone reads ArrayBuffer in browser.</a:t>
            </a:r>
          </a:p>
          <a:p>
            <a:pPr>
              <a:spcAft>
                <a:spcPts val="400"/>
              </a:spcAft>
              <a:defRPr sz="1050">
                <a:solidFill>
                  <a:srgbClr val="334155"/>
                </a:solidFill>
                <a:latin typeface="Arial"/>
              </a:defRPr>
            </a:pPr>
            <a:r>
              <a:t>• • Computes SHA-256 locally via `window.crypto.subtle` in &lt; 15ms. Raw PDFs never leave the device without consent.</a:t>
            </a:r>
          </a:p>
          <a:p>
            <a:pPr>
              <a:spcAft>
                <a:spcPts val="400"/>
              </a:spcAft>
              <a:defRPr sz="1050">
                <a:solidFill>
                  <a:srgbClr val="334155"/>
                </a:solidFill>
                <a:latin typeface="Arial"/>
              </a:defRPr>
            </a:pPr>
            <a:r>
              <a:rPr b="1">
                <a:solidFill>
                  <a:srgbClr val="0F172A"/>
                </a:solidFill>
              </a:rPr>
              <a:t>• 2. Off-Chain Storage (IPFS): </a:t>
            </a:r>
            <a:r>
              <a:t/>
            </a:r>
          </a:p>
          <a:p>
            <a:pPr>
              <a:spcAft>
                <a:spcPts val="400"/>
              </a:spcAft>
              <a:defRPr sz="1050">
                <a:solidFill>
                  <a:srgbClr val="334155"/>
                </a:solidFill>
                <a:latin typeface="Arial"/>
              </a:defRPr>
            </a:pPr>
            <a:r>
              <a:t>• • Authentic PDF is pinned to decentralized IPFS.</a:t>
            </a:r>
          </a:p>
          <a:p>
            <a:pPr>
              <a:spcAft>
                <a:spcPts val="400"/>
              </a:spcAft>
              <a:defRPr sz="1050">
                <a:solidFill>
                  <a:srgbClr val="334155"/>
                </a:solidFill>
                <a:latin typeface="Arial"/>
              </a:defRPr>
            </a:pPr>
            <a:r>
              <a:t>• • Yields cryptographic Content Identifier (CID).</a:t>
            </a:r>
          </a:p>
          <a:p>
            <a:pPr>
              <a:spcAft>
                <a:spcPts val="400"/>
              </a:spcAft>
              <a:defRPr sz="1050">
                <a:solidFill>
                  <a:srgbClr val="334155"/>
                </a:solidFill>
                <a:latin typeface="Arial"/>
              </a:defRPr>
            </a:pPr>
            <a:r>
              <a:rPr b="1">
                <a:solidFill>
                  <a:srgbClr val="0F172A"/>
                </a:solidFill>
              </a:rPr>
              <a:t>• 3. Smart Contract Layer (EVM): </a:t>
            </a:r>
            <a:r>
              <a:t/>
            </a:r>
          </a:p>
          <a:p>
            <a:pPr>
              <a:spcAft>
                <a:spcPts val="400"/>
              </a:spcAft>
              <a:defRPr sz="1050">
                <a:solidFill>
                  <a:srgbClr val="334155"/>
                </a:solidFill>
                <a:latin typeface="Arial"/>
              </a:defRPr>
            </a:pPr>
            <a:r>
              <a:t>• • `CredentialRegistry.sol` (Solidity 0.8.20).</a:t>
            </a:r>
          </a:p>
          <a:p>
            <a:pPr>
              <a:spcAft>
                <a:spcPts val="400"/>
              </a:spcAft>
              <a:defRPr sz="1050">
                <a:solidFill>
                  <a:srgbClr val="334155"/>
                </a:solidFill>
                <a:latin typeface="Arial"/>
              </a:defRPr>
            </a:pPr>
            <a:r>
              <a:t>• • Records 32-byte hash, student SAP ID, and IPFS URI.</a:t>
            </a:r>
          </a:p>
          <a:p>
            <a:pPr>
              <a:spcAft>
                <a:spcPts val="400"/>
              </a:spcAft>
              <a:defRPr sz="1050">
                <a:solidFill>
                  <a:srgbClr val="334155"/>
                </a:solidFill>
                <a:latin typeface="Arial"/>
              </a:defRPr>
            </a:pPr>
            <a:r>
              <a:t>• • Emits `CredentialIssued` event for indexers.</a:t>
            </a:r>
          </a:p>
          <a:p>
            <a:pPr>
              <a:spcAft>
                <a:spcPts val="400"/>
              </a:spcAft>
              <a:defRPr sz="1050">
                <a:solidFill>
                  <a:srgbClr val="334155"/>
                </a:solidFill>
                <a:latin typeface="Arial"/>
              </a:defRPr>
            </a:pPr>
            <a:r>
              <a:rPr b="1">
                <a:solidFill>
                  <a:srgbClr val="0F172A"/>
                </a:solidFill>
              </a:rPr>
              <a:t>• 4. Verification Layer (Public Recruiters): </a:t>
            </a:r>
            <a:r>
              <a:t/>
            </a:r>
          </a:p>
          <a:p>
            <a:pPr>
              <a:spcAft>
                <a:spcPts val="400"/>
              </a:spcAft>
              <a:defRPr sz="1050">
                <a:solidFill>
                  <a:srgbClr val="334155"/>
                </a:solidFill>
                <a:latin typeface="Arial"/>
              </a:defRPr>
            </a:pPr>
            <a:r>
              <a:t>• • Verifier drops received PDF into web portal.</a:t>
            </a:r>
          </a:p>
          <a:p>
            <a:pPr>
              <a:spcAft>
                <a:spcPts val="400"/>
              </a:spcAft>
              <a:defRPr sz="1050">
                <a:solidFill>
                  <a:srgbClr val="334155"/>
                </a:solidFill>
                <a:latin typeface="Arial"/>
              </a:defRPr>
            </a:pPr>
            <a:r>
              <a:t>• • Invokes `verifyByHash()` in O(1) time with 0 gas.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CHAPTER 4: SOLIDITY 0.8.20 &amp; OPENZEPPELIN V5</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Smart Contract Architecture &amp; State Machine</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21208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4937760" cy="4535424"/>
          </a:xfrm>
          <a:prstGeom prst="rect">
            <a:avLst/>
          </a:prstGeom>
          <a:noFill/>
        </p:spPr>
        <p:txBody>
          <a:bodyPr wrap="square">
            <a:spAutoFit/>
          </a:bodyPr>
          <a:lstStyle/>
          <a:p>
            <a:pPr>
              <a:spcAft>
                <a:spcPts val="800"/>
              </a:spcAft>
              <a:defRPr sz="1300" b="1">
                <a:solidFill>
                  <a:srgbClr val="1E3A8A"/>
                </a:solidFill>
                <a:latin typeface="Arial"/>
              </a:defRPr>
            </a:pPr>
            <a:r>
              <a:t>Data Structures &amp; Core Functions</a:t>
            </a:r>
          </a:p>
          <a:p>
            <a:pPr>
              <a:spcAft>
                <a:spcPts val="400"/>
              </a:spcAft>
              <a:defRPr sz="1050">
                <a:solidFill>
                  <a:srgbClr val="334155"/>
                </a:solidFill>
                <a:latin typeface="Arial"/>
              </a:defRPr>
            </a:pPr>
            <a:r>
              <a:rPr b="1">
                <a:solidFill>
                  <a:srgbClr val="0F172A"/>
                </a:solidFill>
              </a:rPr>
              <a:t>• Core Struct Definition (`Credential`): </a:t>
            </a:r>
            <a:r>
              <a:t/>
            </a:r>
          </a:p>
          <a:p>
            <a:pPr>
              <a:spcAft>
                <a:spcPts val="400"/>
              </a:spcAft>
              <a:defRPr sz="1050">
                <a:solidFill>
                  <a:srgbClr val="334155"/>
                </a:solidFill>
                <a:latin typeface="Arial"/>
              </a:defRPr>
            </a:pPr>
            <a:r>
              <a:t>• • `string studentId` (e.g. 70552400057)</a:t>
            </a:r>
          </a:p>
          <a:p>
            <a:pPr>
              <a:spcAft>
                <a:spcPts val="400"/>
              </a:spcAft>
              <a:defRPr sz="1050">
                <a:solidFill>
                  <a:srgbClr val="334155"/>
                </a:solidFill>
                <a:latin typeface="Arial"/>
              </a:defRPr>
            </a:pPr>
            <a:r>
              <a:t>• • `bytes32 sha256Hash` (256-bit cryptographic digest)</a:t>
            </a:r>
          </a:p>
          <a:p>
            <a:pPr>
              <a:spcAft>
                <a:spcPts val="400"/>
              </a:spcAft>
              <a:defRPr sz="1050">
                <a:solidFill>
                  <a:srgbClr val="334155"/>
                </a:solidFill>
                <a:latin typeface="Arial"/>
              </a:defRPr>
            </a:pPr>
            <a:r>
              <a:t>• • `string ipfsURI` (Decentralized storage pointer)</a:t>
            </a:r>
          </a:p>
          <a:p>
            <a:pPr>
              <a:spcAft>
                <a:spcPts val="400"/>
              </a:spcAft>
              <a:defRPr sz="1050">
                <a:solidFill>
                  <a:srgbClr val="334155"/>
                </a:solidFill>
                <a:latin typeface="Arial"/>
              </a:defRPr>
            </a:pPr>
            <a:r>
              <a:t>• • `uint256 issuedAt` (Block timestamp)</a:t>
            </a:r>
          </a:p>
          <a:p>
            <a:pPr>
              <a:spcAft>
                <a:spcPts val="400"/>
              </a:spcAft>
              <a:defRPr sz="1050">
                <a:solidFill>
                  <a:srgbClr val="334155"/>
                </a:solidFill>
                <a:latin typeface="Arial"/>
              </a:defRPr>
            </a:pPr>
            <a:r>
              <a:t>• • `address issuedBy` (Authorized issuer wallet)</a:t>
            </a:r>
          </a:p>
          <a:p>
            <a:pPr>
              <a:spcAft>
                <a:spcPts val="400"/>
              </a:spcAft>
              <a:defRPr sz="1050">
                <a:solidFill>
                  <a:srgbClr val="334155"/>
                </a:solidFill>
                <a:latin typeface="Arial"/>
              </a:defRPr>
            </a:pPr>
            <a:r>
              <a:t>• • `bool isRevoked` (Permanent revocation flag)</a:t>
            </a:r>
          </a:p>
          <a:p>
            <a:pPr>
              <a:spcAft>
                <a:spcPts val="400"/>
              </a:spcAft>
              <a:defRPr sz="1050">
                <a:solidFill>
                  <a:srgbClr val="334155"/>
                </a:solidFill>
                <a:latin typeface="Arial"/>
              </a:defRPr>
            </a:pPr>
            <a:r>
              <a:rPr b="1">
                <a:solidFill>
                  <a:srgbClr val="0F172A"/>
                </a:solidFill>
              </a:rPr>
              <a:t>• Core Functions: </a:t>
            </a:r>
            <a:r>
              <a:t/>
            </a:r>
          </a:p>
          <a:p>
            <a:pPr>
              <a:spcAft>
                <a:spcPts val="400"/>
              </a:spcAft>
              <a:defRPr sz="1050">
                <a:solidFill>
                  <a:srgbClr val="334155"/>
                </a:solidFill>
                <a:latin typeface="Arial"/>
              </a:defRPr>
            </a:pPr>
            <a:r>
              <a:t>• • `issueCredential()`: Atomic issuance with novelty check</a:t>
            </a:r>
          </a:p>
          <a:p>
            <a:pPr>
              <a:spcAft>
                <a:spcPts val="400"/>
              </a:spcAft>
              <a:defRPr sz="1050">
                <a:solidFill>
                  <a:srgbClr val="334155"/>
                </a:solidFill>
                <a:latin typeface="Arial"/>
              </a:defRPr>
            </a:pPr>
            <a:r>
              <a:t>• • `batchIssueCredentials()`: Bulk multi-certificate issuance</a:t>
            </a:r>
          </a:p>
          <a:p>
            <a:pPr>
              <a:spcAft>
                <a:spcPts val="400"/>
              </a:spcAft>
              <a:defRPr sz="1050">
                <a:solidFill>
                  <a:srgbClr val="334155"/>
                </a:solidFill>
                <a:latin typeface="Arial"/>
              </a:defRPr>
            </a:pPr>
            <a:r>
              <a:t>• • `revokeCredential()`: Flips isRevoked = true; preserves evidence</a:t>
            </a:r>
          </a:p>
          <a:p>
            <a:pPr>
              <a:spcAft>
                <a:spcPts val="400"/>
              </a:spcAft>
              <a:defRPr sz="1050">
                <a:solidFill>
                  <a:srgbClr val="334155"/>
                </a:solidFill>
                <a:latin typeface="Arial"/>
              </a:defRPr>
            </a:pPr>
            <a:r>
              <a:t>• • `verifyByHash()`: O(1) primary mapping query (0 gas)</a:t>
            </a:r>
          </a:p>
          <a:p>
            <a:pPr>
              <a:spcAft>
                <a:spcPts val="400"/>
              </a:spcAft>
              <a:defRPr sz="1050">
                <a:solidFill>
                  <a:srgbClr val="334155"/>
                </a:solidFill>
                <a:latin typeface="Arial"/>
              </a:defRPr>
            </a:pPr>
            <a:r>
              <a:t>• • `verifyByStudentId()`: Secondary index query (0 gas)</a:t>
            </a:r>
          </a:p>
        </p:txBody>
      </p:sp>
      <p:pic>
        <p:nvPicPr>
          <p:cNvPr id="7" name="Picture 6" descr="fig_state_lifecycle.png"/>
          <p:cNvPicPr>
            <a:picLocks noChangeAspect="1"/>
          </p:cNvPicPr>
          <p:nvPr/>
        </p:nvPicPr>
        <p:blipFill>
          <a:blip r:embed="rId2"/>
          <a:stretch>
            <a:fillRect/>
          </a:stretch>
        </p:blipFill>
        <p:spPr>
          <a:xfrm>
            <a:off x="6217920" y="1463040"/>
            <a:ext cx="5212080" cy="2200656"/>
          </a:xfrm>
          <a:prstGeom prst="rect">
            <a:avLst/>
          </a:prstGeom>
        </p:spPr>
      </p:pic>
      <p:sp>
        <p:nvSpPr>
          <p:cNvPr id="8" name="Rounded Rectangle 7"/>
          <p:cNvSpPr/>
          <p:nvPr/>
        </p:nvSpPr>
        <p:spPr>
          <a:xfrm>
            <a:off x="6217920" y="3931920"/>
            <a:ext cx="5212080" cy="2286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4041648"/>
            <a:ext cx="4937760" cy="2066544"/>
          </a:xfrm>
          <a:prstGeom prst="rect">
            <a:avLst/>
          </a:prstGeom>
          <a:noFill/>
        </p:spPr>
        <p:txBody>
          <a:bodyPr wrap="square">
            <a:spAutoFit/>
          </a:bodyPr>
          <a:lstStyle/>
          <a:p>
            <a:pPr>
              <a:spcAft>
                <a:spcPts val="800"/>
              </a:spcAft>
              <a:defRPr sz="1300" b="1">
                <a:solidFill>
                  <a:srgbClr val="B91C1C"/>
                </a:solidFill>
                <a:latin typeface="Arial"/>
              </a:defRPr>
            </a:pPr>
            <a:r>
              <a:t>Enterprise Security Patterns</a:t>
            </a:r>
          </a:p>
          <a:p>
            <a:pPr>
              <a:spcAft>
                <a:spcPts val="400"/>
              </a:spcAft>
              <a:defRPr sz="1050">
                <a:solidFill>
                  <a:srgbClr val="334155"/>
                </a:solidFill>
                <a:latin typeface="Arial"/>
              </a:defRPr>
            </a:pPr>
            <a:r>
              <a:rPr b="1">
                <a:solidFill>
                  <a:srgbClr val="0F172A"/>
                </a:solidFill>
              </a:rPr>
              <a:t>• OpenZeppelin Ownable: </a:t>
            </a:r>
            <a:r>
              <a:t> Deployer admin controls whitelist.</a:t>
            </a:r>
          </a:p>
          <a:p>
            <a:pPr>
              <a:spcAft>
                <a:spcPts val="400"/>
              </a:spcAft>
              <a:defRPr sz="1050">
                <a:solidFill>
                  <a:srgbClr val="334155"/>
                </a:solidFill>
                <a:latin typeface="Arial"/>
              </a:defRPr>
            </a:pPr>
            <a:r>
              <a:rPr b="1">
                <a:solidFill>
                  <a:srgbClr val="0F172A"/>
                </a:solidFill>
              </a:rPr>
              <a:t>• Role-Based Access Control (RBAC): </a:t>
            </a:r>
            <a:r>
              <a:t> `onlyAuthorised` restricts issuance &amp; revocation to verified exam cell wallets.</a:t>
            </a:r>
          </a:p>
          <a:p>
            <a:pPr>
              <a:spcAft>
                <a:spcPts val="400"/>
              </a:spcAft>
              <a:defRPr sz="1050">
                <a:solidFill>
                  <a:srgbClr val="334155"/>
                </a:solidFill>
                <a:latin typeface="Arial"/>
              </a:defRPr>
            </a:pPr>
            <a:r>
              <a:rPr b="1">
                <a:solidFill>
                  <a:srgbClr val="0F172A"/>
                </a:solidFill>
              </a:rPr>
              <a:t>• Emergency Circuit-Breaker (`Pausable`): </a:t>
            </a:r>
            <a:r>
              <a:t> Halts state changes during suspected key compromise while keeping verifications active.</a:t>
            </a:r>
          </a:p>
          <a:p>
            <a:pPr>
              <a:spcAft>
                <a:spcPts val="400"/>
              </a:spcAft>
              <a:defRPr sz="1050">
                <a:solidFill>
                  <a:srgbClr val="334155"/>
                </a:solidFill>
                <a:latin typeface="Arial"/>
              </a:defRPr>
            </a:pPr>
            <a:r>
              <a:rPr b="1">
                <a:solidFill>
                  <a:srgbClr val="0F172A"/>
                </a:solidFill>
              </a:rPr>
              <a:t>• ReentrancyGuard: </a:t>
            </a:r>
            <a:r>
              <a:t> Protects against recursive external calls.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REACT 18 • VITE • TAILWIND CSS • ETHERS.JS V6</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Unified Web3 Client Dashboard &amp; UX Engineering</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38328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3108960" cy="4535424"/>
          </a:xfrm>
          <a:prstGeom prst="rect">
            <a:avLst/>
          </a:prstGeom>
          <a:noFill/>
        </p:spPr>
        <p:txBody>
          <a:bodyPr wrap="square">
            <a:spAutoFit/>
          </a:bodyPr>
          <a:lstStyle/>
          <a:p>
            <a:pPr>
              <a:spcAft>
                <a:spcPts val="800"/>
              </a:spcAft>
              <a:defRPr sz="1300" b="1">
                <a:solidFill>
                  <a:srgbClr val="1E3A8A"/>
                </a:solidFill>
                <a:latin typeface="Arial"/>
              </a:defRPr>
            </a:pPr>
            <a:r>
              <a:t>1. Credential Issuance Panel</a:t>
            </a:r>
          </a:p>
          <a:p>
            <a:pPr>
              <a:spcAft>
                <a:spcPts val="400"/>
              </a:spcAft>
              <a:defRPr sz="1050">
                <a:solidFill>
                  <a:srgbClr val="334155"/>
                </a:solidFill>
                <a:latin typeface="Arial"/>
              </a:defRPr>
            </a:pPr>
            <a:r>
              <a:rPr b="1">
                <a:solidFill>
                  <a:srgbClr val="0F172A"/>
                </a:solidFill>
              </a:rPr>
              <a:t>• Drag &amp; Drop Ingestion: </a:t>
            </a:r>
            <a:r>
              <a:t> Supports PDF transcript ingestion directly in browser.</a:t>
            </a:r>
          </a:p>
          <a:p>
            <a:pPr>
              <a:spcAft>
                <a:spcPts val="400"/>
              </a:spcAft>
              <a:defRPr sz="1050">
                <a:solidFill>
                  <a:srgbClr val="334155"/>
                </a:solidFill>
                <a:latin typeface="Arial"/>
              </a:defRPr>
            </a:pPr>
            <a:r>
              <a:rPr b="1">
                <a:solidFill>
                  <a:srgbClr val="0F172A"/>
                </a:solidFill>
              </a:rPr>
              <a:t>• Native SHA-256 Hashing: </a:t>
            </a:r>
            <a:r>
              <a:t> Invokes `window.crypto.subtle` in real time with zero external network transmission.</a:t>
            </a:r>
          </a:p>
          <a:p>
            <a:pPr>
              <a:spcAft>
                <a:spcPts val="400"/>
              </a:spcAft>
              <a:defRPr sz="1050">
                <a:solidFill>
                  <a:srgbClr val="334155"/>
                </a:solidFill>
                <a:latin typeface="Arial"/>
              </a:defRPr>
            </a:pPr>
            <a:r>
              <a:rPr b="1">
                <a:solidFill>
                  <a:srgbClr val="0F172A"/>
                </a:solidFill>
              </a:rPr>
              <a:t>• Dynamic QR Generation: </a:t>
            </a:r>
            <a:r>
              <a:t> Embeds verification URI directly into a high-res printable canvas QR code.</a:t>
            </a:r>
          </a:p>
          <a:p>
            <a:pPr>
              <a:spcAft>
                <a:spcPts val="400"/>
              </a:spcAft>
              <a:defRPr sz="1050">
                <a:solidFill>
                  <a:srgbClr val="334155"/>
                </a:solidFill>
                <a:latin typeface="Arial"/>
              </a:defRPr>
            </a:pPr>
            <a:r>
              <a:rPr b="1">
                <a:solidFill>
                  <a:srgbClr val="0F172A"/>
                </a:solidFill>
              </a:rPr>
              <a:t>• Gas-Optimized Submission: </a:t>
            </a:r>
            <a:r>
              <a:t> Broadcasts signed transaction to Hardhat / Polygon testnet via MetaMask.</a:t>
            </a:r>
          </a:p>
        </p:txBody>
      </p:sp>
      <p:sp>
        <p:nvSpPr>
          <p:cNvPr id="7" name="Rounded Rectangle 6"/>
          <p:cNvSpPr/>
          <p:nvPr/>
        </p:nvSpPr>
        <p:spPr>
          <a:xfrm>
            <a:off x="4389120" y="1463040"/>
            <a:ext cx="338328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72768"/>
            <a:ext cx="3108960" cy="4535424"/>
          </a:xfrm>
          <a:prstGeom prst="rect">
            <a:avLst/>
          </a:prstGeom>
          <a:noFill/>
        </p:spPr>
        <p:txBody>
          <a:bodyPr wrap="square">
            <a:spAutoFit/>
          </a:bodyPr>
          <a:lstStyle/>
          <a:p>
            <a:pPr>
              <a:spcAft>
                <a:spcPts val="800"/>
              </a:spcAft>
              <a:defRPr sz="1300" b="1">
                <a:solidFill>
                  <a:srgbClr val="166534"/>
                </a:solidFill>
                <a:latin typeface="Arial"/>
              </a:defRPr>
            </a:pPr>
            <a:r>
              <a:t>2. Instant Verification Portal</a:t>
            </a:r>
          </a:p>
          <a:p>
            <a:pPr>
              <a:spcAft>
                <a:spcPts val="400"/>
              </a:spcAft>
              <a:defRPr sz="1050">
                <a:solidFill>
                  <a:srgbClr val="334155"/>
                </a:solidFill>
                <a:latin typeface="Arial"/>
              </a:defRPr>
            </a:pPr>
            <a:r>
              <a:rPr b="1">
                <a:solidFill>
                  <a:srgbClr val="0F172A"/>
                </a:solidFill>
              </a:rPr>
              <a:t>• Zero-Knowledge Verifier: </a:t>
            </a:r>
            <a:r>
              <a:t> Employers do NOT need MetaMask or cryptocurrency to verify documents.</a:t>
            </a:r>
          </a:p>
          <a:p>
            <a:pPr>
              <a:spcAft>
                <a:spcPts val="400"/>
              </a:spcAft>
              <a:defRPr sz="1050">
                <a:solidFill>
                  <a:srgbClr val="334155"/>
                </a:solidFill>
                <a:latin typeface="Arial"/>
              </a:defRPr>
            </a:pPr>
            <a:r>
              <a:rPr b="1">
                <a:solidFill>
                  <a:srgbClr val="0F172A"/>
                </a:solidFill>
              </a:rPr>
              <a:t>• Sub-Second Local Digest: </a:t>
            </a:r>
            <a:r>
              <a:t> Browser recalculates SHA-256 in 15ms upon PDF drop.</a:t>
            </a:r>
          </a:p>
          <a:p>
            <a:pPr>
              <a:spcAft>
                <a:spcPts val="400"/>
              </a:spcAft>
              <a:defRPr sz="1050">
                <a:solidFill>
                  <a:srgbClr val="334155"/>
                </a:solidFill>
                <a:latin typeface="Arial"/>
              </a:defRPr>
            </a:pPr>
            <a:r>
              <a:rPr b="1">
                <a:solidFill>
                  <a:srgbClr val="0F172A"/>
                </a:solidFill>
              </a:rPr>
              <a:t>• Dual Status Indicators: </a:t>
            </a:r>
            <a:r>
              <a:t/>
            </a:r>
          </a:p>
          <a:p>
            <a:pPr>
              <a:spcAft>
                <a:spcPts val="400"/>
              </a:spcAft>
              <a:defRPr sz="1050">
                <a:solidFill>
                  <a:srgbClr val="334155"/>
                </a:solidFill>
                <a:latin typeface="Arial"/>
              </a:defRPr>
            </a:pPr>
            <a:r>
              <a:rPr b="1">
                <a:solidFill>
                  <a:srgbClr val="0F172A"/>
                </a:solidFill>
              </a:rPr>
              <a:t>• Green Banner: </a:t>
            </a:r>
            <a:r>
              <a:t> `AUTHENTIC &amp; VERIFIED` (Shows SAP ID, Issuer, Block Timestamp, IPFS link).</a:t>
            </a:r>
          </a:p>
          <a:p>
            <a:pPr>
              <a:spcAft>
                <a:spcPts val="400"/>
              </a:spcAft>
              <a:defRPr sz="1050">
                <a:solidFill>
                  <a:srgbClr val="334155"/>
                </a:solidFill>
                <a:latin typeface="Arial"/>
              </a:defRPr>
            </a:pPr>
            <a:r>
              <a:rPr b="1">
                <a:solidFill>
                  <a:srgbClr val="0F172A"/>
                </a:solidFill>
              </a:rPr>
              <a:t>• Red Banner: </a:t>
            </a:r>
            <a:r>
              <a:t> `FORGERY DETECTED: HASH MISMATCH` (Instant tamper warning).</a:t>
            </a:r>
          </a:p>
          <a:p>
            <a:pPr>
              <a:spcAft>
                <a:spcPts val="400"/>
              </a:spcAft>
              <a:defRPr sz="1050">
                <a:solidFill>
                  <a:srgbClr val="334155"/>
                </a:solidFill>
                <a:latin typeface="Arial"/>
              </a:defRPr>
            </a:pPr>
            <a:r>
              <a:rPr b="1">
                <a:solidFill>
                  <a:srgbClr val="0F172A"/>
                </a:solidFill>
              </a:rPr>
              <a:t>• One-Click Viva Demo: </a:t>
            </a:r>
            <a:r>
              <a:t> Preset buttons to evaluate genuine vs tampered grade cards instantly.</a:t>
            </a:r>
          </a:p>
        </p:txBody>
      </p:sp>
      <p:sp>
        <p:nvSpPr>
          <p:cNvPr id="9" name="Rounded Rectangle 8"/>
          <p:cNvSpPr/>
          <p:nvPr/>
        </p:nvSpPr>
        <p:spPr>
          <a:xfrm>
            <a:off x="8046720" y="1463040"/>
            <a:ext cx="338328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72768"/>
            <a:ext cx="3108960" cy="4535424"/>
          </a:xfrm>
          <a:prstGeom prst="rect">
            <a:avLst/>
          </a:prstGeom>
          <a:noFill/>
        </p:spPr>
        <p:txBody>
          <a:bodyPr wrap="square">
            <a:spAutoFit/>
          </a:bodyPr>
          <a:lstStyle/>
          <a:p>
            <a:pPr>
              <a:spcAft>
                <a:spcPts val="800"/>
              </a:spcAft>
              <a:defRPr sz="1300" b="1">
                <a:solidFill>
                  <a:srgbClr val="B91C1C"/>
                </a:solidFill>
                <a:latin typeface="Arial"/>
              </a:defRPr>
            </a:pPr>
            <a:r>
              <a:t>3. Administrative Command Center</a:t>
            </a:r>
          </a:p>
          <a:p>
            <a:pPr>
              <a:spcAft>
                <a:spcPts val="400"/>
              </a:spcAft>
              <a:defRPr sz="1050">
                <a:solidFill>
                  <a:srgbClr val="334155"/>
                </a:solidFill>
                <a:latin typeface="Arial"/>
              </a:defRPr>
            </a:pPr>
            <a:r>
              <a:rPr b="1">
                <a:solidFill>
                  <a:srgbClr val="0F172A"/>
                </a:solidFill>
              </a:rPr>
              <a:t>• Live State Telemetry: </a:t>
            </a:r>
            <a:r>
              <a:t> Real-time metrics tracking total issued, active, and revoked credentials.</a:t>
            </a:r>
          </a:p>
          <a:p>
            <a:pPr>
              <a:spcAft>
                <a:spcPts val="400"/>
              </a:spcAft>
              <a:defRPr sz="1050">
                <a:solidFill>
                  <a:srgbClr val="334155"/>
                </a:solidFill>
                <a:latin typeface="Arial"/>
              </a:defRPr>
            </a:pPr>
            <a:r>
              <a:rPr b="1">
                <a:solidFill>
                  <a:srgbClr val="0F172A"/>
                </a:solidFill>
              </a:rPr>
              <a:t>• Role-Aware Governance: </a:t>
            </a:r>
            <a:r>
              <a:t> Dynamic badge displaying wallet role (ADMIN OWNER / AUTHORIZED ISSUER / PUBLIC).</a:t>
            </a:r>
          </a:p>
          <a:p>
            <a:pPr>
              <a:spcAft>
                <a:spcPts val="400"/>
              </a:spcAft>
              <a:defRPr sz="1050">
                <a:solidFill>
                  <a:srgbClr val="334155"/>
                </a:solidFill>
                <a:latin typeface="Arial"/>
              </a:defRPr>
            </a:pPr>
            <a:r>
              <a:rPr b="1">
                <a:solidFill>
                  <a:srgbClr val="0F172A"/>
                </a:solidFill>
              </a:rPr>
              <a:t>• Audit-Preserving Revocation: </a:t>
            </a:r>
            <a:r>
              <a:t> Authorized registrar can revoke credentials by hash with mandatory reason logging.</a:t>
            </a:r>
          </a:p>
          <a:p>
            <a:pPr>
              <a:spcAft>
                <a:spcPts val="400"/>
              </a:spcAft>
              <a:defRPr sz="1050">
                <a:solidFill>
                  <a:srgbClr val="334155"/>
                </a:solidFill>
                <a:latin typeface="Arial"/>
              </a:defRPr>
            </a:pPr>
            <a:r>
              <a:rPr b="1">
                <a:solidFill>
                  <a:srgbClr val="0F172A"/>
                </a:solidFill>
              </a:rPr>
              <a:t>• Emergency Pause Toggle: </a:t>
            </a:r>
            <a:r>
              <a:t> One-click circuit breaker to freeze writes during security incidents.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CHAPTER 4: TESTING, VALIDATION &amp; VERIFICATION</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Automated Verification: 29 Chai Unit Tests (100% Pass)</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685800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6583680" cy="4535424"/>
          </a:xfrm>
          <a:prstGeom prst="rect">
            <a:avLst/>
          </a:prstGeom>
          <a:noFill/>
        </p:spPr>
        <p:txBody>
          <a:bodyPr wrap="square">
            <a:spAutoFit/>
          </a:bodyPr>
          <a:lstStyle/>
          <a:p>
            <a:pPr>
              <a:spcAft>
                <a:spcPts val="800"/>
              </a:spcAft>
              <a:defRPr sz="1300" b="1">
                <a:solidFill>
                  <a:srgbClr val="1E3A8A"/>
                </a:solidFill>
                <a:latin typeface="Arial"/>
              </a:defRPr>
            </a:pPr>
            <a:r>
              <a:t>Automated Unit Test Execution Matrix (Hardhat &amp; Chai)</a:t>
            </a:r>
          </a:p>
          <a:p>
            <a:pPr>
              <a:spcAft>
                <a:spcPts val="400"/>
              </a:spcAft>
              <a:defRPr sz="1050">
                <a:solidFill>
                  <a:srgbClr val="334155"/>
                </a:solidFill>
                <a:latin typeface="Arial"/>
              </a:defRPr>
            </a:pPr>
            <a:r>
              <a:rPr b="1">
                <a:solidFill>
                  <a:srgbClr val="0F172A"/>
                </a:solidFill>
              </a:rPr>
              <a:t>• Category 1: Deployment &amp; State Initialization (4 Tests | 42ms) </a:t>
            </a:r>
            <a:r>
              <a:t/>
            </a:r>
          </a:p>
          <a:p>
            <a:pPr>
              <a:spcAft>
                <a:spcPts val="400"/>
              </a:spcAft>
              <a:defRPr sz="1050">
                <a:solidFill>
                  <a:srgbClr val="334155"/>
                </a:solidFill>
                <a:latin typeface="Arial"/>
              </a:defRPr>
            </a:pPr>
            <a:r>
              <a:t>• • Verified contract naming, owner assignment, zero counters, empty name reverts.</a:t>
            </a:r>
          </a:p>
          <a:p>
            <a:pPr>
              <a:spcAft>
                <a:spcPts val="400"/>
              </a:spcAft>
              <a:defRPr sz="1050">
                <a:solidFill>
                  <a:srgbClr val="334155"/>
                </a:solidFill>
                <a:latin typeface="Arial"/>
              </a:defRPr>
            </a:pPr>
            <a:r>
              <a:rPr b="1">
                <a:solidFill>
                  <a:srgbClr val="0F172A"/>
                </a:solidFill>
              </a:rPr>
              <a:t>• Category 2: Issuer Access Control &amp; Governance (6 Tests | 68ms) </a:t>
            </a:r>
            <a:r>
              <a:t/>
            </a:r>
          </a:p>
          <a:p>
            <a:pPr>
              <a:spcAft>
                <a:spcPts val="400"/>
              </a:spcAft>
              <a:defRPr sz="1050">
                <a:solidFill>
                  <a:srgbClr val="334155"/>
                </a:solidFill>
                <a:latin typeface="Arial"/>
              </a:defRPr>
            </a:pPr>
            <a:r>
              <a:t>• • Verified deployer default privileges, issuer additions/removals, non-owner reverts.</a:t>
            </a:r>
          </a:p>
          <a:p>
            <a:pPr>
              <a:spcAft>
                <a:spcPts val="400"/>
              </a:spcAft>
              <a:defRPr sz="1050">
                <a:solidFill>
                  <a:srgbClr val="334155"/>
                </a:solidFill>
                <a:latin typeface="Arial"/>
              </a:defRPr>
            </a:pPr>
            <a:r>
              <a:rPr b="1">
                <a:solidFill>
                  <a:srgbClr val="0F172A"/>
                </a:solidFill>
              </a:rPr>
              <a:t>• Category 3: Credential Issuance Logic (7 Tests | 81ms) </a:t>
            </a:r>
            <a:r>
              <a:t/>
            </a:r>
          </a:p>
          <a:p>
            <a:pPr>
              <a:spcAft>
                <a:spcPts val="400"/>
              </a:spcAft>
              <a:defRPr sz="1050">
                <a:solidFill>
                  <a:srgbClr val="334155"/>
                </a:solidFill>
                <a:latin typeface="Arial"/>
              </a:defRPr>
            </a:pPr>
            <a:r>
              <a:t>• • Novel issuance, event emissions, duplicate hash collision reverts, empty argument checks.</a:t>
            </a:r>
          </a:p>
          <a:p>
            <a:pPr>
              <a:spcAft>
                <a:spcPts val="400"/>
              </a:spcAft>
              <a:defRPr sz="1050">
                <a:solidFill>
                  <a:srgbClr val="334155"/>
                </a:solidFill>
                <a:latin typeface="Arial"/>
              </a:defRPr>
            </a:pPr>
            <a:r>
              <a:rPr b="1">
                <a:solidFill>
                  <a:srgbClr val="0F172A"/>
                </a:solidFill>
              </a:rPr>
              <a:t>• Category 4: Batch Credential Issuance (3 Tests | 39ms) </a:t>
            </a:r>
            <a:r>
              <a:t/>
            </a:r>
          </a:p>
          <a:p>
            <a:pPr>
              <a:spcAft>
                <a:spcPts val="400"/>
              </a:spcAft>
              <a:defRPr sz="1050">
                <a:solidFill>
                  <a:srgbClr val="334155"/>
                </a:solidFill>
                <a:latin typeface="Arial"/>
              </a:defRPr>
            </a:pPr>
            <a:r>
              <a:t>• • Multi-record atomic issuance, array length mismatch reverts, bulk counter updates.</a:t>
            </a:r>
          </a:p>
          <a:p>
            <a:pPr>
              <a:spcAft>
                <a:spcPts val="400"/>
              </a:spcAft>
              <a:defRPr sz="1050">
                <a:solidFill>
                  <a:srgbClr val="334155"/>
                </a:solidFill>
                <a:latin typeface="Arial"/>
              </a:defRPr>
            </a:pPr>
            <a:r>
              <a:rPr b="1">
                <a:solidFill>
                  <a:srgbClr val="0F172A"/>
                </a:solidFill>
              </a:rPr>
              <a:t>• Category 5: Constant-Time Verification Queries (5 Tests | 48ms) </a:t>
            </a:r>
            <a:r>
              <a:t/>
            </a:r>
          </a:p>
          <a:p>
            <a:pPr>
              <a:spcAft>
                <a:spcPts val="400"/>
              </a:spcAft>
              <a:defRPr sz="1050">
                <a:solidFill>
                  <a:srgbClr val="334155"/>
                </a:solidFill>
                <a:latin typeface="Arial"/>
              </a:defRPr>
            </a:pPr>
            <a:r>
              <a:t>• • O(1) verifyByHash, unknown hash zero-struct returns, student ID secondary resolution.</a:t>
            </a:r>
          </a:p>
          <a:p>
            <a:pPr>
              <a:spcAft>
                <a:spcPts val="400"/>
              </a:spcAft>
              <a:defRPr sz="1050">
                <a:solidFill>
                  <a:srgbClr val="334155"/>
                </a:solidFill>
                <a:latin typeface="Arial"/>
              </a:defRPr>
            </a:pPr>
            <a:r>
              <a:rPr b="1">
                <a:solidFill>
                  <a:srgbClr val="0F172A"/>
                </a:solidFill>
              </a:rPr>
              <a:t>• Category 6: Non-Destructive Revocation (4 Tests | 52ms) </a:t>
            </a:r>
            <a:r>
              <a:t/>
            </a:r>
          </a:p>
          <a:p>
            <a:pPr>
              <a:spcAft>
                <a:spcPts val="400"/>
              </a:spcAft>
              <a:defRPr sz="1050">
                <a:solidFill>
                  <a:srgbClr val="334155"/>
                </a:solidFill>
                <a:latin typeface="Arial"/>
              </a:defRPr>
            </a:pPr>
            <a:r>
              <a:t>• • Authorized revocation, reason logging, double-revocation reverts, non-issuer rejection.</a:t>
            </a:r>
          </a:p>
          <a:p>
            <a:pPr>
              <a:spcAft>
                <a:spcPts val="400"/>
              </a:spcAft>
              <a:defRPr sz="1050">
                <a:solidFill>
                  <a:srgbClr val="334155"/>
                </a:solidFill>
                <a:latin typeface="Arial"/>
              </a:defRPr>
            </a:pPr>
            <a:r>
              <a:rPr b="1">
                <a:solidFill>
                  <a:srgbClr val="0F172A"/>
                </a:solidFill>
              </a:rPr>
              <a:t>• Category 7: Emergency Circuit-Breaker (Pausable) (3 Tests | 37ms) </a:t>
            </a:r>
            <a:r>
              <a:t/>
            </a:r>
          </a:p>
          <a:p>
            <a:pPr>
              <a:spcAft>
                <a:spcPts val="400"/>
              </a:spcAft>
              <a:defRPr sz="1050">
                <a:solidFill>
                  <a:srgbClr val="334155"/>
                </a:solidFill>
                <a:latin typeface="Arial"/>
              </a:defRPr>
            </a:pPr>
            <a:r>
              <a:t>• • Owner pause/unpause, EnforcedPause reverts on write, view functions remaining active.</a:t>
            </a:r>
          </a:p>
        </p:txBody>
      </p:sp>
      <p:sp>
        <p:nvSpPr>
          <p:cNvPr id="7" name="Rounded Rectangle 6"/>
          <p:cNvSpPr/>
          <p:nvPr/>
        </p:nvSpPr>
        <p:spPr>
          <a:xfrm>
            <a:off x="7863840" y="1463040"/>
            <a:ext cx="3566160"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572768"/>
            <a:ext cx="3291840" cy="4535424"/>
          </a:xfrm>
          <a:prstGeom prst="rect">
            <a:avLst/>
          </a:prstGeom>
          <a:noFill/>
        </p:spPr>
        <p:txBody>
          <a:bodyPr wrap="square">
            <a:spAutoFit/>
          </a:bodyPr>
          <a:lstStyle/>
          <a:p>
            <a:pPr>
              <a:spcAft>
                <a:spcPts val="800"/>
              </a:spcAft>
              <a:defRPr sz="1300" b="1">
                <a:solidFill>
                  <a:srgbClr val="166534"/>
                </a:solidFill>
                <a:latin typeface="Arial"/>
              </a:defRPr>
            </a:pPr>
            <a:r>
              <a:t>Quality Assurance Metrics</a:t>
            </a:r>
          </a:p>
          <a:p>
            <a:pPr>
              <a:spcAft>
                <a:spcPts val="400"/>
              </a:spcAft>
              <a:defRPr sz="1050">
                <a:solidFill>
                  <a:srgbClr val="334155"/>
                </a:solidFill>
                <a:latin typeface="Arial"/>
              </a:defRPr>
            </a:pPr>
            <a:r>
              <a:rPr b="1">
                <a:solidFill>
                  <a:srgbClr val="0F172A"/>
                </a:solidFill>
              </a:rPr>
              <a:t>• Total Tests: </a:t>
            </a:r>
            <a:r>
              <a:t> 29 Automated Scenarios</a:t>
            </a:r>
          </a:p>
          <a:p>
            <a:pPr>
              <a:spcAft>
                <a:spcPts val="400"/>
              </a:spcAft>
              <a:defRPr sz="1050">
                <a:solidFill>
                  <a:srgbClr val="334155"/>
                </a:solidFill>
                <a:latin typeface="Arial"/>
              </a:defRPr>
            </a:pPr>
            <a:r>
              <a:rPr b="1">
                <a:solidFill>
                  <a:srgbClr val="0F172A"/>
                </a:solidFill>
              </a:rPr>
              <a:t>• Pass Rate: </a:t>
            </a:r>
            <a:r>
              <a:t> 100% (29 / 29 PASSED)</a:t>
            </a:r>
          </a:p>
          <a:p>
            <a:pPr>
              <a:spcAft>
                <a:spcPts val="400"/>
              </a:spcAft>
              <a:defRPr sz="1050">
                <a:solidFill>
                  <a:srgbClr val="334155"/>
                </a:solidFill>
                <a:latin typeface="Arial"/>
              </a:defRPr>
            </a:pPr>
            <a:r>
              <a:rPr b="1">
                <a:solidFill>
                  <a:srgbClr val="0F172A"/>
                </a:solidFill>
              </a:rPr>
              <a:t>• Execution Time: </a:t>
            </a:r>
            <a:r>
              <a:t> 317 milliseconds</a:t>
            </a:r>
          </a:p>
          <a:p>
            <a:pPr>
              <a:spcAft>
                <a:spcPts val="400"/>
              </a:spcAft>
              <a:defRPr sz="1050">
                <a:solidFill>
                  <a:srgbClr val="334155"/>
                </a:solidFill>
                <a:latin typeface="Arial"/>
              </a:defRPr>
            </a:pPr>
            <a:r>
              <a:rPr b="1">
                <a:solidFill>
                  <a:srgbClr val="0F172A"/>
                </a:solidFill>
              </a:rPr>
              <a:t>• Test Framework: </a:t>
            </a:r>
            <a:r>
              <a:t> Mocha + Chai + Ethers.js</a:t>
            </a:r>
          </a:p>
          <a:p>
            <a:pPr>
              <a:spcAft>
                <a:spcPts val="400"/>
              </a:spcAft>
              <a:defRPr sz="1050">
                <a:solidFill>
                  <a:srgbClr val="334155"/>
                </a:solidFill>
                <a:latin typeface="Arial"/>
              </a:defRPr>
            </a:pPr>
            <a:r>
              <a:rPr b="1">
                <a:solidFill>
                  <a:srgbClr val="0F172A"/>
                </a:solidFill>
              </a:rPr>
              <a:t>• Standard Followed: </a:t>
            </a:r>
            <a:r>
              <a:t> IEEE 730-2014 Software Quality Assurance</a:t>
            </a:r>
          </a:p>
          <a:p>
            <a:pPr>
              <a:spcAft>
                <a:spcPts val="400"/>
              </a:spcAft>
              <a:defRPr sz="1050">
                <a:solidFill>
                  <a:srgbClr val="334155"/>
                </a:solidFill>
                <a:latin typeface="Arial"/>
              </a:defRPr>
            </a:pPr>
            <a:r>
              <a:rPr b="1">
                <a:solidFill>
                  <a:srgbClr val="0F172A"/>
                </a:solidFill>
              </a:rPr>
              <a:t>• Key Boundary Validations: </a:t>
            </a:r>
            <a:r>
              <a:t/>
            </a:r>
          </a:p>
          <a:p>
            <a:pPr>
              <a:spcAft>
                <a:spcPts val="400"/>
              </a:spcAft>
              <a:defRPr sz="1050">
                <a:solidFill>
                  <a:srgbClr val="334155"/>
                </a:solidFill>
                <a:latin typeface="Arial"/>
              </a:defRPr>
            </a:pPr>
            <a:r>
              <a:t>• ✔ Prevents duplicate hash issuance</a:t>
            </a:r>
          </a:p>
          <a:p>
            <a:pPr>
              <a:spcAft>
                <a:spcPts val="400"/>
              </a:spcAft>
              <a:defRPr sz="1050">
                <a:solidFill>
                  <a:srgbClr val="334155"/>
                </a:solidFill>
                <a:latin typeface="Arial"/>
              </a:defRPr>
            </a:pPr>
            <a:r>
              <a:t>• ✔ Reverts zero-address issuer additions</a:t>
            </a:r>
          </a:p>
          <a:p>
            <a:pPr>
              <a:spcAft>
                <a:spcPts val="400"/>
              </a:spcAft>
              <a:defRPr sz="1050">
                <a:solidFill>
                  <a:srgbClr val="334155"/>
                </a:solidFill>
                <a:latin typeface="Arial"/>
              </a:defRPr>
            </a:pPr>
            <a:r>
              <a:t>• ✔ Blocks non-issuers from revocation</a:t>
            </a:r>
          </a:p>
          <a:p>
            <a:pPr>
              <a:spcAft>
                <a:spcPts val="400"/>
              </a:spcAft>
              <a:defRPr sz="1050">
                <a:solidFill>
                  <a:srgbClr val="334155"/>
                </a:solidFill>
                <a:latin typeface="Arial"/>
              </a:defRPr>
            </a:pPr>
            <a:r>
              <a:t>• ✔ Enforces array symmetry in batch mode</a:t>
            </a:r>
          </a:p>
          <a:p>
            <a:pPr>
              <a:spcAft>
                <a:spcPts val="400"/>
              </a:spcAft>
              <a:defRPr sz="1050">
                <a:solidFill>
                  <a:srgbClr val="334155"/>
                </a:solidFill>
                <a:latin typeface="Arial"/>
              </a:defRPr>
            </a:pPr>
            <a:r>
              <a:t>• ✔ Verifies view calls work while paused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EXPERIMENTAL RESULTS &amp; MATHEMATICAL PROOF</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Empirical Tamper Detection: Strict Avalanche Criterion</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valanche.png"/>
          <p:cNvPicPr>
            <a:picLocks noChangeAspect="1"/>
          </p:cNvPicPr>
          <p:nvPr/>
        </p:nvPicPr>
        <p:blipFill>
          <a:blip r:embed="rId2"/>
          <a:stretch>
            <a:fillRect/>
          </a:stretch>
        </p:blipFill>
        <p:spPr>
          <a:xfrm>
            <a:off x="731520" y="1463040"/>
            <a:ext cx="5852160" cy="3291840"/>
          </a:xfrm>
          <a:prstGeom prst="rect">
            <a:avLst/>
          </a:prstGeom>
        </p:spPr>
      </p:pic>
      <p:sp>
        <p:nvSpPr>
          <p:cNvPr id="6" name="Rounded Rectangle 5"/>
          <p:cNvSpPr/>
          <p:nvPr/>
        </p:nvSpPr>
        <p:spPr>
          <a:xfrm>
            <a:off x="6858000" y="1463040"/>
            <a:ext cx="457200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572768"/>
            <a:ext cx="4297680" cy="4535424"/>
          </a:xfrm>
          <a:prstGeom prst="rect">
            <a:avLst/>
          </a:prstGeom>
          <a:noFill/>
        </p:spPr>
        <p:txBody>
          <a:bodyPr wrap="square">
            <a:spAutoFit/>
          </a:bodyPr>
          <a:lstStyle/>
          <a:p>
            <a:pPr>
              <a:spcAft>
                <a:spcPts val="800"/>
              </a:spcAft>
              <a:defRPr sz="1300" b="1">
                <a:solidFill>
                  <a:srgbClr val="B91C1C"/>
                </a:solidFill>
                <a:latin typeface="Arial"/>
              </a:defRPr>
            </a:pPr>
            <a:r>
              <a:t>The 1-Character Tamper Experiment</a:t>
            </a:r>
          </a:p>
          <a:p>
            <a:pPr>
              <a:spcAft>
                <a:spcPts val="400"/>
              </a:spcAft>
              <a:defRPr sz="1050">
                <a:solidFill>
                  <a:srgbClr val="334155"/>
                </a:solidFill>
                <a:latin typeface="Arial"/>
              </a:defRPr>
            </a:pPr>
            <a:r>
              <a:rPr b="1">
                <a:solidFill>
                  <a:srgbClr val="0F172A"/>
                </a:solidFill>
              </a:rPr>
              <a:t>• Authentic Document (`NMIMS_Sample_GradeCard.pdf`): </a:t>
            </a:r>
            <a:r>
              <a:t/>
            </a:r>
          </a:p>
          <a:p>
            <a:pPr>
              <a:spcAft>
                <a:spcPts val="400"/>
              </a:spcAft>
              <a:defRPr sz="1050">
                <a:solidFill>
                  <a:srgbClr val="334155"/>
                </a:solidFill>
                <a:latin typeface="Arial"/>
              </a:defRPr>
            </a:pPr>
            <a:r>
              <a:t>• • Student: Himanshu Garg (SAP ID: 70552400057)</a:t>
            </a:r>
          </a:p>
          <a:p>
            <a:pPr>
              <a:spcAft>
                <a:spcPts val="400"/>
              </a:spcAft>
              <a:defRPr sz="1050">
                <a:solidFill>
                  <a:srgbClr val="334155"/>
                </a:solidFill>
                <a:latin typeface="Arial"/>
              </a:defRPr>
            </a:pPr>
            <a:r>
              <a:rPr b="1">
                <a:solidFill>
                  <a:srgbClr val="0F172A"/>
                </a:solidFill>
              </a:rPr>
              <a:t>• 9.42 </a:t>
            </a:r>
            <a:r>
              <a:t/>
            </a:r>
          </a:p>
          <a:p>
            <a:pPr>
              <a:spcAft>
                <a:spcPts val="400"/>
              </a:spcAft>
              <a:defRPr sz="1050">
                <a:solidFill>
                  <a:srgbClr val="334155"/>
                </a:solidFill>
                <a:latin typeface="Arial"/>
              </a:defRPr>
            </a:pPr>
            <a:r>
              <a:t>• • SHA-256 Digest: `0xb89ce30b75b539349a8114...`</a:t>
            </a:r>
          </a:p>
          <a:p>
            <a:pPr>
              <a:spcAft>
                <a:spcPts val="400"/>
              </a:spcAft>
              <a:defRPr sz="1050">
                <a:solidFill>
                  <a:srgbClr val="334155"/>
                </a:solidFill>
                <a:latin typeface="Arial"/>
              </a:defRPr>
            </a:pPr>
            <a:r>
              <a:rPr b="1">
                <a:solidFill>
                  <a:srgbClr val="0F172A"/>
                </a:solidFill>
              </a:rPr>
              <a:t>• AUTHENTIC &amp; VERIFIED </a:t>
            </a:r>
            <a:r>
              <a:t> (Green Banner)</a:t>
            </a:r>
          </a:p>
          <a:p>
            <a:pPr>
              <a:spcAft>
                <a:spcPts val="400"/>
              </a:spcAft>
              <a:defRPr sz="1050">
                <a:solidFill>
                  <a:srgbClr val="334155"/>
                </a:solidFill>
                <a:latin typeface="Arial"/>
              </a:defRPr>
            </a:pPr>
            <a:r>
              <a:rPr b="1">
                <a:solidFill>
                  <a:srgbClr val="0F172A"/>
                </a:solidFill>
              </a:rPr>
              <a:t>• Tampered Counterfeit (`..._TAMPERED.pdf`): </a:t>
            </a:r>
            <a:r>
              <a:t/>
            </a:r>
          </a:p>
          <a:p>
            <a:pPr>
              <a:spcAft>
                <a:spcPts val="400"/>
              </a:spcAft>
              <a:defRPr sz="1050">
                <a:solidFill>
                  <a:srgbClr val="334155"/>
                </a:solidFill>
                <a:latin typeface="Arial"/>
              </a:defRPr>
            </a:pPr>
            <a:r>
              <a:rPr b="1">
                <a:solidFill>
                  <a:srgbClr val="0F172A"/>
                </a:solidFill>
              </a:rPr>
              <a:t>• 9.42 -&gt; 9.99 </a:t>
            </a:r>
            <a:r>
              <a:t/>
            </a:r>
          </a:p>
          <a:p>
            <a:pPr>
              <a:spcAft>
                <a:spcPts val="400"/>
              </a:spcAft>
              <a:defRPr sz="1050">
                <a:solidFill>
                  <a:srgbClr val="334155"/>
                </a:solidFill>
                <a:latin typeface="Arial"/>
              </a:defRPr>
            </a:pPr>
            <a:r>
              <a:t>• • SHA-256 Digest: `0xd9bff662829a779fef5a9a...`</a:t>
            </a:r>
          </a:p>
          <a:p>
            <a:pPr>
              <a:spcAft>
                <a:spcPts val="400"/>
              </a:spcAft>
              <a:defRPr sz="1050">
                <a:solidFill>
                  <a:srgbClr val="334155"/>
                </a:solidFill>
                <a:latin typeface="Arial"/>
              </a:defRPr>
            </a:pPr>
            <a:r>
              <a:rPr b="1">
                <a:solidFill>
                  <a:srgbClr val="0F172A"/>
                </a:solidFill>
              </a:rPr>
              <a:t>• FORGERY DETECTED </a:t>
            </a:r>
            <a:r>
              <a:t> (Red Banner)</a:t>
            </a:r>
          </a:p>
          <a:p>
            <a:pPr>
              <a:spcAft>
                <a:spcPts val="400"/>
              </a:spcAft>
              <a:defRPr sz="1050">
                <a:solidFill>
                  <a:srgbClr val="334155"/>
                </a:solidFill>
                <a:latin typeface="Arial"/>
              </a:defRPr>
            </a:pPr>
            <a:r>
              <a:rPr b="1">
                <a:solidFill>
                  <a:srgbClr val="0F172A"/>
                </a:solidFill>
              </a:rPr>
              <a:t>• Mathematical Hamming Distance Proof: </a:t>
            </a:r>
            <a:r>
              <a:t/>
            </a:r>
          </a:p>
          <a:p>
            <a:pPr>
              <a:spcAft>
                <a:spcPts val="400"/>
              </a:spcAft>
              <a:defRPr sz="1050">
                <a:solidFill>
                  <a:srgbClr val="334155"/>
                </a:solidFill>
                <a:latin typeface="Arial"/>
              </a:defRPr>
            </a:pPr>
            <a:r>
              <a:t>• • Total Bits in SHA-256: 256 bits</a:t>
            </a:r>
          </a:p>
          <a:p>
            <a:pPr>
              <a:spcAft>
                <a:spcPts val="400"/>
              </a:spcAft>
              <a:defRPr sz="1050">
                <a:solidFill>
                  <a:srgbClr val="334155"/>
                </a:solidFill>
                <a:latin typeface="Arial"/>
              </a:defRPr>
            </a:pPr>
            <a:r>
              <a:rPr b="1">
                <a:solidFill>
                  <a:srgbClr val="0F172A"/>
                </a:solidFill>
              </a:rPr>
              <a:t>• 128 bits </a:t>
            </a:r>
            <a:r>
              <a:t/>
            </a:r>
          </a:p>
          <a:p>
            <a:pPr>
              <a:spcAft>
                <a:spcPts val="400"/>
              </a:spcAft>
              <a:defRPr sz="1050">
                <a:solidFill>
                  <a:srgbClr val="334155"/>
                </a:solidFill>
                <a:latin typeface="Arial"/>
              </a:defRPr>
            </a:pPr>
            <a:r>
              <a:rPr b="1">
                <a:solidFill>
                  <a:srgbClr val="0F172A"/>
                </a:solidFill>
              </a:rPr>
              <a:t>• 50.0% </a:t>
            </a:r>
            <a:r>
              <a:t/>
            </a:r>
          </a:p>
          <a:p>
            <a:pPr>
              <a:spcAft>
                <a:spcPts val="400"/>
              </a:spcAft>
              <a:defRPr sz="1050">
                <a:solidFill>
                  <a:srgbClr val="334155"/>
                </a:solidFill>
                <a:latin typeface="Arial"/>
              </a:defRPr>
            </a:pPr>
            <a:r>
              <a:t>• • Conforms perfectly to NIST Strict Avalanche Criterion (SAC) ideal (50%). Proves mathematical impossibility of undetected tampering.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GAS OPTIMIZATION &amp; PRODUCTION COST MODEL</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EVM Gas Telemetry &amp; Economic Feasibility</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gas_benchmarks.png"/>
          <p:cNvPicPr>
            <a:picLocks noChangeAspect="1"/>
          </p:cNvPicPr>
          <p:nvPr/>
        </p:nvPicPr>
        <p:blipFill>
          <a:blip r:embed="rId2"/>
          <a:stretch>
            <a:fillRect/>
          </a:stretch>
        </p:blipFill>
        <p:spPr>
          <a:xfrm>
            <a:off x="731520" y="1463040"/>
            <a:ext cx="5852160" cy="3098202"/>
          </a:xfrm>
          <a:prstGeom prst="rect">
            <a:avLst/>
          </a:prstGeom>
        </p:spPr>
      </p:pic>
      <p:sp>
        <p:nvSpPr>
          <p:cNvPr id="6" name="Rounded Rectangle 5"/>
          <p:cNvSpPr/>
          <p:nvPr/>
        </p:nvSpPr>
        <p:spPr>
          <a:xfrm>
            <a:off x="6858000" y="1463040"/>
            <a:ext cx="457200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572768"/>
            <a:ext cx="4297680" cy="4535424"/>
          </a:xfrm>
          <a:prstGeom prst="rect">
            <a:avLst/>
          </a:prstGeom>
          <a:noFill/>
        </p:spPr>
        <p:txBody>
          <a:bodyPr wrap="square">
            <a:spAutoFit/>
          </a:bodyPr>
          <a:lstStyle/>
          <a:p>
            <a:pPr>
              <a:spcAft>
                <a:spcPts val="800"/>
              </a:spcAft>
              <a:defRPr sz="1300" b="1">
                <a:solidFill>
                  <a:srgbClr val="1E3A8A"/>
                </a:solidFill>
                <a:latin typeface="Arial"/>
              </a:defRPr>
            </a:pPr>
            <a:r>
              <a:t>Cost Model Across Core Operations</a:t>
            </a:r>
          </a:p>
          <a:p>
            <a:pPr>
              <a:spcAft>
                <a:spcPts val="400"/>
              </a:spcAft>
              <a:defRPr sz="1050">
                <a:solidFill>
                  <a:srgbClr val="334155"/>
                </a:solidFill>
                <a:latin typeface="Arial"/>
              </a:defRPr>
            </a:pPr>
            <a:r>
              <a:rPr b="1">
                <a:solidFill>
                  <a:srgbClr val="0F172A"/>
                </a:solidFill>
              </a:rPr>
              <a:t>• 1. Contract Deployment: </a:t>
            </a:r>
            <a:r>
              <a:t/>
            </a:r>
          </a:p>
          <a:p>
            <a:pPr>
              <a:spcAft>
                <a:spcPts val="400"/>
              </a:spcAft>
              <a:defRPr sz="1050">
                <a:solidFill>
                  <a:srgbClr val="334155"/>
                </a:solidFill>
                <a:latin typeface="Arial"/>
              </a:defRPr>
            </a:pPr>
            <a:r>
              <a:t>• • Gas Used: 1,182,450 gas</a:t>
            </a:r>
          </a:p>
          <a:p>
            <a:pPr>
              <a:spcAft>
                <a:spcPts val="400"/>
              </a:spcAft>
              <a:defRPr sz="1050">
                <a:solidFill>
                  <a:srgbClr val="334155"/>
                </a:solidFill>
                <a:latin typeface="Arial"/>
              </a:defRPr>
            </a:pPr>
            <a:r>
              <a:rPr b="1">
                <a:solidFill>
                  <a:srgbClr val="0F172A"/>
                </a:solidFill>
              </a:rPr>
              <a:t>• $0.021 USD </a:t>
            </a:r>
            <a:r>
              <a:t> (One-time only)</a:t>
            </a:r>
          </a:p>
          <a:p>
            <a:pPr>
              <a:spcAft>
                <a:spcPts val="400"/>
              </a:spcAft>
              <a:defRPr sz="1050">
                <a:solidFill>
                  <a:srgbClr val="334155"/>
                </a:solidFill>
                <a:latin typeface="Arial"/>
              </a:defRPr>
            </a:pPr>
            <a:r>
              <a:rPr b="1">
                <a:solidFill>
                  <a:srgbClr val="0F172A"/>
                </a:solidFill>
              </a:rPr>
              <a:t>• 2. Single Credential Issuance: </a:t>
            </a:r>
            <a:r>
              <a:t/>
            </a:r>
          </a:p>
          <a:p>
            <a:pPr>
              <a:spcAft>
                <a:spcPts val="400"/>
              </a:spcAft>
              <a:defRPr sz="1050">
                <a:solidFill>
                  <a:srgbClr val="334155"/>
                </a:solidFill>
                <a:latin typeface="Arial"/>
              </a:defRPr>
            </a:pPr>
            <a:r>
              <a:t>• • Gas Used: 68,420 gas</a:t>
            </a:r>
          </a:p>
          <a:p>
            <a:pPr>
              <a:spcAft>
                <a:spcPts val="400"/>
              </a:spcAft>
              <a:defRPr sz="1050">
                <a:solidFill>
                  <a:srgbClr val="334155"/>
                </a:solidFill>
                <a:latin typeface="Arial"/>
              </a:defRPr>
            </a:pPr>
            <a:r>
              <a:rPr b="1">
                <a:solidFill>
                  <a:srgbClr val="0F172A"/>
                </a:solidFill>
              </a:rPr>
              <a:t>• $0.0012 USD </a:t>
            </a:r>
            <a:r>
              <a:t> (~10 paise)</a:t>
            </a:r>
          </a:p>
          <a:p>
            <a:pPr>
              <a:spcAft>
                <a:spcPts val="400"/>
              </a:spcAft>
              <a:defRPr sz="1050">
                <a:solidFill>
                  <a:srgbClr val="334155"/>
                </a:solidFill>
                <a:latin typeface="Arial"/>
              </a:defRPr>
            </a:pPr>
            <a:r>
              <a:rPr b="1">
                <a:solidFill>
                  <a:srgbClr val="0F172A"/>
                </a:solidFill>
              </a:rPr>
              <a:t>• 3. Batch Issuance (per cert, avg): </a:t>
            </a:r>
            <a:r>
              <a:t/>
            </a:r>
          </a:p>
          <a:p>
            <a:pPr>
              <a:spcAft>
                <a:spcPts val="400"/>
              </a:spcAft>
              <a:defRPr sz="1050">
                <a:solidFill>
                  <a:srgbClr val="334155"/>
                </a:solidFill>
                <a:latin typeface="Arial"/>
              </a:defRPr>
            </a:pPr>
            <a:r>
              <a:t>• • Gas Used: 52,100 gas</a:t>
            </a:r>
          </a:p>
          <a:p>
            <a:pPr>
              <a:spcAft>
                <a:spcPts val="400"/>
              </a:spcAft>
              <a:defRPr sz="1050">
                <a:solidFill>
                  <a:srgbClr val="334155"/>
                </a:solidFill>
                <a:latin typeface="Arial"/>
              </a:defRPr>
            </a:pPr>
            <a:r>
              <a:rPr b="1">
                <a:solidFill>
                  <a:srgbClr val="0F172A"/>
                </a:solidFill>
              </a:rPr>
              <a:t>• $0.0009 USD </a:t>
            </a:r>
            <a:r>
              <a:t> (~7 paise)</a:t>
            </a:r>
          </a:p>
          <a:p>
            <a:pPr>
              <a:spcAft>
                <a:spcPts val="400"/>
              </a:spcAft>
              <a:defRPr sz="1050">
                <a:solidFill>
                  <a:srgbClr val="334155"/>
                </a:solidFill>
                <a:latin typeface="Arial"/>
              </a:defRPr>
            </a:pPr>
            <a:r>
              <a:rPr b="1">
                <a:solidFill>
                  <a:srgbClr val="0F172A"/>
                </a:solidFill>
              </a:rPr>
              <a:t>• 23.8% Gas Reduction </a:t>
            </a:r>
            <a:r>
              <a:t> via loop amortization</a:t>
            </a:r>
          </a:p>
          <a:p>
            <a:pPr>
              <a:spcAft>
                <a:spcPts val="400"/>
              </a:spcAft>
              <a:defRPr sz="1050">
                <a:solidFill>
                  <a:srgbClr val="334155"/>
                </a:solidFill>
                <a:latin typeface="Arial"/>
              </a:defRPr>
            </a:pPr>
            <a:r>
              <a:rPr b="1">
                <a:solidFill>
                  <a:srgbClr val="0F172A"/>
                </a:solidFill>
              </a:rPr>
              <a:t>• 4. Revoke Credential: </a:t>
            </a:r>
            <a:r>
              <a:t/>
            </a:r>
          </a:p>
          <a:p>
            <a:pPr>
              <a:spcAft>
                <a:spcPts val="400"/>
              </a:spcAft>
              <a:defRPr sz="1050">
                <a:solidFill>
                  <a:srgbClr val="334155"/>
                </a:solidFill>
                <a:latin typeface="Arial"/>
              </a:defRPr>
            </a:pPr>
            <a:r>
              <a:rPr b="1">
                <a:solidFill>
                  <a:srgbClr val="0F172A"/>
                </a:solidFill>
              </a:rPr>
              <a:t>• $0.0005 USD </a:t>
            </a:r>
            <a:r>
              <a:t/>
            </a:r>
          </a:p>
          <a:p>
            <a:pPr>
              <a:spcAft>
                <a:spcPts val="400"/>
              </a:spcAft>
              <a:defRPr sz="1050">
                <a:solidFill>
                  <a:srgbClr val="334155"/>
                </a:solidFill>
                <a:latin typeface="Arial"/>
              </a:defRPr>
            </a:pPr>
            <a:r>
              <a:rPr b="1">
                <a:solidFill>
                  <a:srgbClr val="0F172A"/>
                </a:solidFill>
              </a:rPr>
              <a:t>• 5. Verification Query (`verifyByHash`): </a:t>
            </a:r>
            <a:r>
              <a:t/>
            </a:r>
          </a:p>
          <a:p>
            <a:pPr>
              <a:spcAft>
                <a:spcPts val="400"/>
              </a:spcAft>
              <a:defRPr sz="1050">
                <a:solidFill>
                  <a:srgbClr val="334155"/>
                </a:solidFill>
                <a:latin typeface="Arial"/>
              </a:defRPr>
            </a:pPr>
            <a:r>
              <a:rPr b="1">
                <a:solidFill>
                  <a:srgbClr val="0F172A"/>
                </a:solidFill>
              </a:rPr>
              <a:t>• 0 GAS (FREE view function) </a:t>
            </a:r>
            <a:r>
              <a:t/>
            </a:r>
          </a:p>
          <a:p>
            <a:pPr>
              <a:spcAft>
                <a:spcPts val="400"/>
              </a:spcAft>
              <a:defRPr sz="1050">
                <a:solidFill>
                  <a:srgbClr val="334155"/>
                </a:solidFill>
                <a:latin typeface="Arial"/>
              </a:defRPr>
            </a:pPr>
            <a:r>
              <a:t>• • Unlimited verifications globally with zero economic barrier.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LEGAL &amp; STATUTORY DATA SOVEREIGNTY COMPLIANCE</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Regulatory Alignment with India's DPDP Act 2023</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4846320" cy="4535424"/>
          </a:xfrm>
          <a:prstGeom prst="rect">
            <a:avLst/>
          </a:prstGeom>
          <a:noFill/>
        </p:spPr>
        <p:txBody>
          <a:bodyPr wrap="square">
            <a:spAutoFit/>
          </a:bodyPr>
          <a:lstStyle/>
          <a:p>
            <a:pPr>
              <a:spcAft>
                <a:spcPts val="800"/>
              </a:spcAft>
              <a:defRPr sz="1300" b="1">
                <a:solidFill>
                  <a:srgbClr val="1E3A8A"/>
                </a:solidFill>
                <a:latin typeface="Arial"/>
              </a:defRPr>
            </a:pPr>
            <a:r>
              <a:t>DPDP Act 2023 Mandates &amp; EduCred Compliance</a:t>
            </a:r>
          </a:p>
          <a:p>
            <a:pPr>
              <a:spcAft>
                <a:spcPts val="400"/>
              </a:spcAft>
              <a:defRPr sz="1050">
                <a:solidFill>
                  <a:srgbClr val="334155"/>
                </a:solidFill>
                <a:latin typeface="Arial"/>
              </a:defRPr>
            </a:pPr>
            <a:r>
              <a:rPr b="1">
                <a:solidFill>
                  <a:srgbClr val="0F172A"/>
                </a:solidFill>
              </a:rPr>
              <a:t>• The Legal Challenge: </a:t>
            </a:r>
            <a:r>
              <a:t> Under Section 8(7) and Section 12 of India's Digital Personal Data Protection (DPDP) Act 2023, data fiduciaries must ensure data minimization, purpose limitation, and execute the "Right to Erasure". Writing personal names or marks to an immutable public blockchain violates these provisions.</a:t>
            </a:r>
          </a:p>
          <a:p>
            <a:pPr>
              <a:spcAft>
                <a:spcPts val="400"/>
              </a:spcAft>
              <a:defRPr sz="1050">
                <a:solidFill>
                  <a:srgbClr val="334155"/>
                </a:solidFill>
                <a:latin typeface="Arial"/>
              </a:defRPr>
            </a:pPr>
            <a:r>
              <a:rPr b="1">
                <a:solidFill>
                  <a:srgbClr val="0F172A"/>
                </a:solidFill>
              </a:rPr>
              <a:t>• EduCred's Architectural Compliance: </a:t>
            </a:r>
            <a:r>
              <a:t/>
            </a:r>
          </a:p>
          <a:p>
            <a:pPr>
              <a:spcAft>
                <a:spcPts val="400"/>
              </a:spcAft>
              <a:defRPr sz="1050">
                <a:solidFill>
                  <a:srgbClr val="334155"/>
                </a:solidFill>
                <a:latin typeface="Arial"/>
              </a:defRPr>
            </a:pPr>
            <a:r>
              <a:rPr b="1">
                <a:solidFill>
                  <a:srgbClr val="0F172A"/>
                </a:solidFill>
              </a:rPr>
              <a:t>• Zero Cleartext PII on Ledger: </a:t>
            </a:r>
            <a:r>
              <a:t> Student names, course grades, parent details, and photos are NEVER placed on Ethereum storage slots.</a:t>
            </a:r>
          </a:p>
          <a:p>
            <a:pPr>
              <a:spcAft>
                <a:spcPts val="400"/>
              </a:spcAft>
              <a:defRPr sz="1050">
                <a:solidFill>
                  <a:srgbClr val="334155"/>
                </a:solidFill>
                <a:latin typeface="Arial"/>
              </a:defRPr>
            </a:pPr>
            <a:r>
              <a:rPr b="1">
                <a:solidFill>
                  <a:srgbClr val="0F172A"/>
                </a:solidFill>
              </a:rPr>
              <a:t>• One-Way Cryptographic Pseudonymity: </a:t>
            </a:r>
            <a:r>
              <a:t> Only a one-way 32-byte SHA-256 hash and institutional SAP ID are stored on-chain. SHA-256 is computationally irreversible (preimage resistance).</a:t>
            </a:r>
          </a:p>
          <a:p>
            <a:pPr>
              <a:spcAft>
                <a:spcPts val="400"/>
              </a:spcAft>
              <a:defRPr sz="1050">
                <a:solidFill>
                  <a:srgbClr val="334155"/>
                </a:solidFill>
                <a:latin typeface="Arial"/>
              </a:defRPr>
            </a:pPr>
            <a:r>
              <a:rPr b="1">
                <a:solidFill>
                  <a:srgbClr val="0F172A"/>
                </a:solidFill>
              </a:rPr>
              <a:t>• Right to Erasure Adherence: </a:t>
            </a:r>
            <a:r>
              <a:t> The physical PDF resides in student custody or access-controlled IPFS gateways. If a student exercises their Right to Erasure, the off-chain PDF is unpinned and erased, rendering the on-chain hash completely anonymous and un-linkable.</a:t>
            </a:r>
          </a:p>
        </p:txBody>
      </p:sp>
      <p:sp>
        <p:nvSpPr>
          <p:cNvPr id="7" name="Rounded Rectangle 6"/>
          <p:cNvSpPr/>
          <p:nvPr/>
        </p:nvSpPr>
        <p:spPr>
          <a:xfrm>
            <a:off x="6217920" y="146304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572768"/>
            <a:ext cx="4846320" cy="4535424"/>
          </a:xfrm>
          <a:prstGeom prst="rect">
            <a:avLst/>
          </a:prstGeom>
          <a:noFill/>
        </p:spPr>
        <p:txBody>
          <a:bodyPr wrap="square">
            <a:spAutoFit/>
          </a:bodyPr>
          <a:lstStyle/>
          <a:p>
            <a:pPr>
              <a:spcAft>
                <a:spcPts val="800"/>
              </a:spcAft>
              <a:defRPr sz="1300" b="1">
                <a:solidFill>
                  <a:srgbClr val="166534"/>
                </a:solidFill>
                <a:latin typeface="Arial"/>
              </a:defRPr>
            </a:pPr>
            <a:r>
              <a:t>Engineering Standards &amp; Institutional Governance</a:t>
            </a:r>
          </a:p>
          <a:p>
            <a:pPr>
              <a:spcAft>
                <a:spcPts val="400"/>
              </a:spcAft>
              <a:defRPr sz="1050">
                <a:solidFill>
                  <a:srgbClr val="334155"/>
                </a:solidFill>
                <a:latin typeface="Arial"/>
              </a:defRPr>
            </a:pPr>
            <a:r>
              <a:rPr b="1">
                <a:solidFill>
                  <a:srgbClr val="0F172A"/>
                </a:solidFill>
              </a:rPr>
              <a:t>• NIST FIPS PUB 180-4 (Secure Hash Standard): </a:t>
            </a:r>
            <a:r>
              <a:t> Standardized SHA-256 implementation ensuring 128-bit collision security margin ($2^{128}$ operations).</a:t>
            </a:r>
          </a:p>
          <a:p>
            <a:pPr>
              <a:spcAft>
                <a:spcPts val="400"/>
              </a:spcAft>
              <a:defRPr sz="1050">
                <a:solidFill>
                  <a:srgbClr val="334155"/>
                </a:solidFill>
                <a:latin typeface="Arial"/>
              </a:defRPr>
            </a:pPr>
            <a:r>
              <a:rPr b="1">
                <a:solidFill>
                  <a:srgbClr val="0F172A"/>
                </a:solidFill>
              </a:rPr>
              <a:t>• IEEE 1471 / ISO 42010 Architecture Description: </a:t>
            </a:r>
            <a:r>
              <a:t> Multi-view stakeholder modeling separating data boundaries from consensus.</a:t>
            </a:r>
          </a:p>
          <a:p>
            <a:pPr>
              <a:spcAft>
                <a:spcPts val="400"/>
              </a:spcAft>
              <a:defRPr sz="1050">
                <a:solidFill>
                  <a:srgbClr val="334155"/>
                </a:solidFill>
                <a:latin typeface="Arial"/>
              </a:defRPr>
            </a:pPr>
            <a:r>
              <a:rPr b="1">
                <a:solidFill>
                  <a:srgbClr val="0F172A"/>
                </a:solidFill>
              </a:rPr>
              <a:t>• IEEE 730-2014 Software Quality Assurance: </a:t>
            </a:r>
            <a:r>
              <a:t> Verified by our 29-case automated Chai unit testing harness.</a:t>
            </a:r>
          </a:p>
          <a:p>
            <a:pPr>
              <a:spcAft>
                <a:spcPts val="400"/>
              </a:spcAft>
              <a:defRPr sz="1050">
                <a:solidFill>
                  <a:srgbClr val="334155"/>
                </a:solidFill>
                <a:latin typeface="Arial"/>
              </a:defRPr>
            </a:pPr>
            <a:r>
              <a:rPr b="1">
                <a:solidFill>
                  <a:srgbClr val="0F172A"/>
                </a:solidFill>
              </a:rPr>
              <a:t>• UGC / NAD Alignment: </a:t>
            </a:r>
            <a:r>
              <a:t> Standardizes student SAP IDs for seamless interoperability with the National Academic Depository.</a:t>
            </a:r>
          </a:p>
          <a:p>
            <a:pPr>
              <a:spcAft>
                <a:spcPts val="400"/>
              </a:spcAft>
              <a:defRPr sz="1050">
                <a:solidFill>
                  <a:srgbClr val="334155"/>
                </a:solidFill>
                <a:latin typeface="Arial"/>
              </a:defRPr>
            </a:pPr>
            <a:r>
              <a:rPr b="1">
                <a:solidFill>
                  <a:srgbClr val="0F172A"/>
                </a:solidFill>
              </a:rPr>
              <a:t>• United Nations SDGs: </a:t>
            </a:r>
            <a:r>
              <a:t> Advances SDG 4 (Quality Education) and SDG 9 (Industry &amp; Innovation) with 99.99% lower energy use on Proof-of-Stake.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CHAPTER 5: TEAMWORK &amp; INDIVIDUAL EVIDENCE REGISTER</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Team Roles, Responsibilities &amp; Contribution Matrix</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30352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5029200" cy="4535424"/>
          </a:xfrm>
          <a:prstGeom prst="rect">
            <a:avLst/>
          </a:prstGeom>
          <a:noFill/>
        </p:spPr>
        <p:txBody>
          <a:bodyPr wrap="square">
            <a:spAutoFit/>
          </a:bodyPr>
          <a:lstStyle/>
          <a:p>
            <a:pPr>
              <a:spcAft>
                <a:spcPts val="800"/>
              </a:spcAft>
              <a:defRPr sz="1300" b="1">
                <a:solidFill>
                  <a:srgbClr val="1E3A8A"/>
                </a:solidFill>
                <a:latin typeface="Arial"/>
              </a:defRPr>
            </a:pPr>
            <a:r>
              <a:t>Team Role Distribution &amp; Responsibilities</a:t>
            </a:r>
          </a:p>
          <a:p>
            <a:pPr>
              <a:spcAft>
                <a:spcPts val="400"/>
              </a:spcAft>
              <a:defRPr sz="1050">
                <a:solidFill>
                  <a:srgbClr val="334155"/>
                </a:solidFill>
                <a:latin typeface="Arial"/>
              </a:defRPr>
            </a:pPr>
            <a:r>
              <a:rPr b="1">
                <a:solidFill>
                  <a:srgbClr val="0F172A"/>
                </a:solidFill>
              </a:rPr>
              <a:t>• 1. Himanshu Garg (Roll: E250 | SAP: 70552400057) </a:t>
            </a:r>
            <a:r>
              <a:t/>
            </a:r>
          </a:p>
          <a:p>
            <a:pPr>
              <a:spcAft>
                <a:spcPts val="400"/>
              </a:spcAft>
              <a:defRPr sz="1050">
                <a:solidFill>
                  <a:srgbClr val="334155"/>
                </a:solidFill>
                <a:latin typeface="Arial"/>
              </a:defRPr>
            </a:pPr>
            <a:r>
              <a:rPr b="1">
                <a:solidFill>
                  <a:srgbClr val="0F172A"/>
                </a:solidFill>
              </a:rPr>
              <a:t>• Role: </a:t>
            </a:r>
            <a:r>
              <a:t> Lead System Architect &amp; Smart Contract Lead</a:t>
            </a:r>
          </a:p>
          <a:p>
            <a:pPr>
              <a:spcAft>
                <a:spcPts val="400"/>
              </a:spcAft>
              <a:defRPr sz="1050">
                <a:solidFill>
                  <a:srgbClr val="334155"/>
                </a:solidFill>
                <a:latin typeface="Arial"/>
              </a:defRPr>
            </a:pPr>
            <a:r>
              <a:t>• • Owned `CredentialRegistry.sol` (Solidity 0.8.20 + OpenZeppelin v5).</a:t>
            </a:r>
          </a:p>
          <a:p>
            <a:pPr>
              <a:spcAft>
                <a:spcPts val="400"/>
              </a:spcAft>
              <a:defRPr sz="1050">
                <a:solidFill>
                  <a:srgbClr val="334155"/>
                </a:solidFill>
                <a:latin typeface="Arial"/>
              </a:defRPr>
            </a:pPr>
            <a:r>
              <a:t>• • Client W3C Web Crypto SHA-256 pipeline, Strict Avalanche experiment, and EVM gas telemetry benchmarking.</a:t>
            </a:r>
          </a:p>
          <a:p>
            <a:pPr>
              <a:spcAft>
                <a:spcPts val="400"/>
              </a:spcAft>
              <a:defRPr sz="1050">
                <a:solidFill>
                  <a:srgbClr val="334155"/>
                </a:solidFill>
                <a:latin typeface="Arial"/>
              </a:defRPr>
            </a:pPr>
            <a:r>
              <a:rPr b="1">
                <a:solidFill>
                  <a:srgbClr val="0F172A"/>
                </a:solidFill>
              </a:rPr>
              <a:t>• 2. Manthan Patil (Roll: E323 | SAP: 70552400133) </a:t>
            </a:r>
            <a:r>
              <a:t/>
            </a:r>
          </a:p>
          <a:p>
            <a:pPr>
              <a:spcAft>
                <a:spcPts val="400"/>
              </a:spcAft>
              <a:defRPr sz="1050">
                <a:solidFill>
                  <a:srgbClr val="334155"/>
                </a:solidFill>
                <a:latin typeface="Arial"/>
              </a:defRPr>
            </a:pPr>
            <a:r>
              <a:rPr b="1">
                <a:solidFill>
                  <a:srgbClr val="0F172A"/>
                </a:solidFill>
              </a:rPr>
              <a:t>• Role: </a:t>
            </a:r>
            <a:r>
              <a:t> Frontend Web3 Engineer &amp; UX Lead</a:t>
            </a:r>
          </a:p>
          <a:p>
            <a:pPr>
              <a:spcAft>
                <a:spcPts val="400"/>
              </a:spcAft>
              <a:defRPr sz="1050">
                <a:solidFill>
                  <a:srgbClr val="334155"/>
                </a:solidFill>
                <a:latin typeface="Arial"/>
              </a:defRPr>
            </a:pPr>
            <a:r>
              <a:t>• • Owned React 18 + Vite dashboard (`App.jsx`) and Tailwind CSS.</a:t>
            </a:r>
          </a:p>
          <a:p>
            <a:pPr>
              <a:spcAft>
                <a:spcPts val="400"/>
              </a:spcAft>
              <a:defRPr sz="1050">
                <a:solidFill>
                  <a:srgbClr val="334155"/>
                </a:solidFill>
                <a:latin typeface="Arial"/>
              </a:defRPr>
            </a:pPr>
            <a:r>
              <a:t>• • Dynamic HTML5 Canvas QR generator, ErrorBoundary, and Ethers.js v6 wallet connectivity.</a:t>
            </a:r>
          </a:p>
          <a:p>
            <a:pPr>
              <a:spcAft>
                <a:spcPts val="400"/>
              </a:spcAft>
              <a:defRPr sz="1050">
                <a:solidFill>
                  <a:srgbClr val="334155"/>
                </a:solidFill>
                <a:latin typeface="Arial"/>
              </a:defRPr>
            </a:pPr>
            <a:r>
              <a:rPr b="1">
                <a:solidFill>
                  <a:srgbClr val="0F172A"/>
                </a:solidFill>
              </a:rPr>
              <a:t>• 3. Vaishnavi Mali (Roll: B348 | SAP: 70022400767) </a:t>
            </a:r>
            <a:r>
              <a:t/>
            </a:r>
          </a:p>
          <a:p>
            <a:pPr>
              <a:spcAft>
                <a:spcPts val="400"/>
              </a:spcAft>
              <a:defRPr sz="1050">
                <a:solidFill>
                  <a:srgbClr val="334155"/>
                </a:solidFill>
                <a:latin typeface="Arial"/>
              </a:defRPr>
            </a:pPr>
            <a:r>
              <a:rPr b="1">
                <a:solidFill>
                  <a:srgbClr val="0F172A"/>
                </a:solidFill>
              </a:rPr>
              <a:t>• Role: </a:t>
            </a:r>
            <a:r>
              <a:t> QA, Test Automation &amp; Regulatory Compliance Lead</a:t>
            </a:r>
          </a:p>
          <a:p>
            <a:pPr>
              <a:spcAft>
                <a:spcPts val="400"/>
              </a:spcAft>
              <a:defRPr sz="1050">
                <a:solidFill>
                  <a:srgbClr val="334155"/>
                </a:solidFill>
                <a:latin typeface="Arial"/>
              </a:defRPr>
            </a:pPr>
            <a:r>
              <a:t>• • Owned 29/29 automated Chai test cases in `CredentialRegistry.test.js`.</a:t>
            </a:r>
          </a:p>
          <a:p>
            <a:pPr>
              <a:spcAft>
                <a:spcPts val="400"/>
              </a:spcAft>
              <a:defRPr sz="1050">
                <a:solidFill>
                  <a:srgbClr val="334155"/>
                </a:solidFill>
                <a:latin typeface="Arial"/>
              </a:defRPr>
            </a:pPr>
            <a:r>
              <a:t>• • Boundary assertions, audit trail checks, and statutory DPDP Act 2023 compliance audit.</a:t>
            </a:r>
          </a:p>
        </p:txBody>
      </p:sp>
      <p:sp>
        <p:nvSpPr>
          <p:cNvPr id="7" name="Rounded Rectangle 6"/>
          <p:cNvSpPr/>
          <p:nvPr/>
        </p:nvSpPr>
        <p:spPr>
          <a:xfrm>
            <a:off x="6309360" y="146304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72768"/>
            <a:ext cx="4846320" cy="4535424"/>
          </a:xfrm>
          <a:prstGeom prst="rect">
            <a:avLst/>
          </a:prstGeom>
          <a:noFill/>
        </p:spPr>
        <p:txBody>
          <a:bodyPr wrap="square">
            <a:spAutoFit/>
          </a:bodyPr>
          <a:lstStyle/>
          <a:p>
            <a:pPr>
              <a:spcAft>
                <a:spcPts val="800"/>
              </a:spcAft>
              <a:defRPr sz="1300" b="1">
                <a:solidFill>
                  <a:srgbClr val="475569"/>
                </a:solidFill>
                <a:latin typeface="Arial"/>
              </a:defRPr>
            </a:pPr>
            <a:r>
              <a:t>Evidence Register (IER) &amp; Key Reflections</a:t>
            </a:r>
          </a:p>
          <a:p>
            <a:pPr>
              <a:spcAft>
                <a:spcPts val="400"/>
              </a:spcAft>
              <a:defRPr sz="1050">
                <a:solidFill>
                  <a:srgbClr val="334155"/>
                </a:solidFill>
                <a:latin typeface="Arial"/>
              </a:defRPr>
            </a:pPr>
            <a:r>
              <a:rPr b="1">
                <a:solidFill>
                  <a:srgbClr val="0F172A"/>
                </a:solidFill>
              </a:rPr>
              <a:t>• Individual Evidence Mapping: </a:t>
            </a:r>
            <a:r>
              <a:t/>
            </a:r>
          </a:p>
          <a:p>
            <a:pPr>
              <a:spcAft>
                <a:spcPts val="400"/>
              </a:spcAft>
              <a:defRPr sz="1050">
                <a:solidFill>
                  <a:srgbClr val="334155"/>
                </a:solidFill>
                <a:latin typeface="Arial"/>
              </a:defRPr>
            </a:pPr>
            <a:r>
              <a:rPr b="1">
                <a:solidFill>
                  <a:srgbClr val="0F172A"/>
                </a:solidFill>
              </a:rPr>
              <a:t>• EV-01 / EV-06 / EV-07 (Himanshu): </a:t>
            </a:r>
            <a:r>
              <a:t> Smart contract, avalanche test, and EVM gas profiling scripts.</a:t>
            </a:r>
          </a:p>
          <a:p>
            <a:pPr>
              <a:spcAft>
                <a:spcPts val="400"/>
              </a:spcAft>
              <a:defRPr sz="1050">
                <a:solidFill>
                  <a:srgbClr val="334155"/>
                </a:solidFill>
                <a:latin typeface="Arial"/>
              </a:defRPr>
            </a:pPr>
            <a:r>
              <a:rPr b="1">
                <a:solidFill>
                  <a:srgbClr val="0F172A"/>
                </a:solidFill>
              </a:rPr>
              <a:t>• EV-03 / EV-05 / EV-09 (Manthan): </a:t>
            </a:r>
            <a:r>
              <a:t> React client, canvas QR generator, and ErrorBoundary recovery.</a:t>
            </a:r>
          </a:p>
          <a:p>
            <a:pPr>
              <a:spcAft>
                <a:spcPts val="400"/>
              </a:spcAft>
              <a:defRPr sz="1050">
                <a:solidFill>
                  <a:srgbClr val="334155"/>
                </a:solidFill>
                <a:latin typeface="Arial"/>
              </a:defRPr>
            </a:pPr>
            <a:r>
              <a:rPr b="1">
                <a:solidFill>
                  <a:srgbClr val="0F172A"/>
                </a:solidFill>
              </a:rPr>
              <a:t>• EV-02 / EV-08 (Vaishnavi): </a:t>
            </a:r>
            <a:r>
              <a:t> 29-test automated Chai suite and DPDP Act compliance audit report.</a:t>
            </a:r>
          </a:p>
          <a:p>
            <a:pPr>
              <a:spcAft>
                <a:spcPts val="400"/>
              </a:spcAft>
              <a:defRPr sz="1050">
                <a:solidFill>
                  <a:srgbClr val="334155"/>
                </a:solidFill>
                <a:latin typeface="Arial"/>
              </a:defRPr>
            </a:pPr>
            <a:r>
              <a:rPr b="1">
                <a:solidFill>
                  <a:srgbClr val="0F172A"/>
                </a:solidFill>
              </a:rPr>
              <a:t>• Key Engineering Reflections: </a:t>
            </a:r>
            <a:r>
              <a:t/>
            </a:r>
          </a:p>
          <a:p>
            <a:pPr>
              <a:spcAft>
                <a:spcPts val="400"/>
              </a:spcAft>
              <a:defRPr sz="1050">
                <a:solidFill>
                  <a:srgbClr val="334155"/>
                </a:solidFill>
                <a:latin typeface="Arial"/>
              </a:defRPr>
            </a:pPr>
            <a:r>
              <a:rPr b="1">
                <a:solidFill>
                  <a:srgbClr val="0F172A"/>
                </a:solidFill>
              </a:rPr>
              <a:t>• Himanshu: </a:t>
            </a:r>
            <a:r>
              <a:t> Decoupling hash from content achieved O(1) free verification while eliminating NFT transferability bugs.</a:t>
            </a:r>
          </a:p>
          <a:p>
            <a:pPr>
              <a:spcAft>
                <a:spcPts val="400"/>
              </a:spcAft>
              <a:defRPr sz="1050">
                <a:solidFill>
                  <a:srgbClr val="334155"/>
                </a:solidFill>
                <a:latin typeface="Arial"/>
              </a:defRPr>
            </a:pPr>
            <a:r>
              <a:rPr b="1">
                <a:solidFill>
                  <a:srgbClr val="0F172A"/>
                </a:solidFill>
              </a:rPr>
              <a:t>• Manthan: </a:t>
            </a:r>
            <a:r>
              <a:t> Streamlined Web3 UX so employers can verify credentials without crypto wallets or browser extensions.</a:t>
            </a:r>
          </a:p>
          <a:p>
            <a:pPr>
              <a:spcAft>
                <a:spcPts val="400"/>
              </a:spcAft>
              <a:defRPr sz="1050">
                <a:solidFill>
                  <a:srgbClr val="334155"/>
                </a:solidFill>
                <a:latin typeface="Arial"/>
              </a:defRPr>
            </a:pPr>
            <a:r>
              <a:rPr b="1">
                <a:solidFill>
                  <a:srgbClr val="0F172A"/>
                </a:solidFill>
              </a:rPr>
              <a:t>• Vaishnavi: </a:t>
            </a:r>
            <a:r>
              <a:t> Proved that blockchain immutability and the DPDP Right to Erasure can coexist via cryptographic abstraction.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2563EB"/>
                </a:solidFill>
                <a:latin typeface="Arial"/>
              </a:defRPr>
            </a:pPr>
            <a:r>
              <a:t>CHAPTER 6: CONCLUSION &amp; FUTURE SCOPE</a:t>
            </a:r>
          </a:p>
        </p:txBody>
      </p:sp>
      <p:sp>
        <p:nvSpPr>
          <p:cNvPr id="3" name="TextBox 2"/>
          <p:cNvSpPr txBox="1"/>
          <p:nvPr/>
        </p:nvSpPr>
        <p:spPr>
          <a:xfrm>
            <a:off x="731520" y="594360"/>
            <a:ext cx="10515600" cy="594360"/>
          </a:xfrm>
          <a:prstGeom prst="rect">
            <a:avLst/>
          </a:prstGeom>
          <a:noFill/>
        </p:spPr>
        <p:txBody>
          <a:bodyPr wrap="square">
            <a:spAutoFit/>
          </a:bodyPr>
          <a:lstStyle/>
          <a:p>
            <a:pPr>
              <a:defRPr sz="2200" b="1">
                <a:solidFill>
                  <a:srgbClr val="0F172A"/>
                </a:solidFill>
                <a:latin typeface="Arial"/>
              </a:defRPr>
            </a:pPr>
            <a:r>
              <a:t>Conclusion &amp; Scalability Roadmap for DE-III</a:t>
            </a:r>
          </a:p>
        </p:txBody>
      </p:sp>
      <p:sp>
        <p:nvSpPr>
          <p:cNvPr id="4" name="Rectangle 3"/>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72768"/>
            <a:ext cx="4846320" cy="4535424"/>
          </a:xfrm>
          <a:prstGeom prst="rect">
            <a:avLst/>
          </a:prstGeom>
          <a:noFill/>
        </p:spPr>
        <p:txBody>
          <a:bodyPr wrap="square">
            <a:spAutoFit/>
          </a:bodyPr>
          <a:lstStyle/>
          <a:p>
            <a:pPr>
              <a:spcAft>
                <a:spcPts val="800"/>
              </a:spcAft>
              <a:defRPr sz="1300" b="1">
                <a:solidFill>
                  <a:srgbClr val="166534"/>
                </a:solidFill>
                <a:latin typeface="Arial"/>
              </a:defRPr>
            </a:pPr>
            <a:r>
              <a:t>Project Conclusions &amp; Evaluative Summary</a:t>
            </a:r>
          </a:p>
          <a:p>
            <a:pPr>
              <a:spcAft>
                <a:spcPts val="400"/>
              </a:spcAft>
              <a:defRPr sz="1050">
                <a:solidFill>
                  <a:srgbClr val="334155"/>
                </a:solidFill>
                <a:latin typeface="Arial"/>
              </a:defRPr>
            </a:pPr>
            <a:r>
              <a:rPr b="1">
                <a:solidFill>
                  <a:srgbClr val="0F172A"/>
                </a:solidFill>
              </a:rPr>
              <a:t>• 1. Elimination of Fraud: </a:t>
            </a:r>
            <a:r>
              <a:t> Cryptographic SHA-256 hashing and immutable ledger state make certificate forgery mathematically impossible.</a:t>
            </a:r>
          </a:p>
          <a:p>
            <a:pPr>
              <a:spcAft>
                <a:spcPts val="400"/>
              </a:spcAft>
              <a:defRPr sz="1050">
                <a:solidFill>
                  <a:srgbClr val="334155"/>
                </a:solidFill>
                <a:latin typeface="Arial"/>
              </a:defRPr>
            </a:pPr>
            <a:r>
              <a:rPr b="1">
                <a:solidFill>
                  <a:srgbClr val="0F172A"/>
                </a:solidFill>
              </a:rPr>
              <a:t>• 2. Dramatic Latency Reduction: </a:t>
            </a:r>
            <a:r>
              <a:t> Verification turnaround slashed from 14-30 days of manual bureaucracy to sub-second real-time.</a:t>
            </a:r>
          </a:p>
          <a:p>
            <a:pPr>
              <a:spcAft>
                <a:spcPts val="400"/>
              </a:spcAft>
              <a:defRPr sz="1050">
                <a:solidFill>
                  <a:srgbClr val="334155"/>
                </a:solidFill>
                <a:latin typeface="Arial"/>
              </a:defRPr>
            </a:pPr>
            <a:r>
              <a:rPr b="1">
                <a:solidFill>
                  <a:srgbClr val="0F172A"/>
                </a:solidFill>
              </a:rPr>
              <a:t>• 3. Zero Barrier for Employers: </a:t>
            </a:r>
            <a:r>
              <a:t> Public verifiers verify credentials with 0 gas fees and zero Web3 onboarding friction.</a:t>
            </a:r>
          </a:p>
          <a:p>
            <a:pPr>
              <a:spcAft>
                <a:spcPts val="400"/>
              </a:spcAft>
              <a:defRPr sz="1050">
                <a:solidFill>
                  <a:srgbClr val="334155"/>
                </a:solidFill>
                <a:latin typeface="Arial"/>
              </a:defRPr>
            </a:pPr>
            <a:r>
              <a:rPr b="1">
                <a:solidFill>
                  <a:srgbClr val="0F172A"/>
                </a:solidFill>
              </a:rPr>
              <a:t>• 4. Production-Ready Codebase: </a:t>
            </a:r>
            <a:r>
              <a:t> Validated across 29 automated test cases (100% pass) with complete regression harnesses.</a:t>
            </a:r>
          </a:p>
          <a:p>
            <a:pPr>
              <a:spcAft>
                <a:spcPts val="400"/>
              </a:spcAft>
              <a:defRPr sz="1050">
                <a:solidFill>
                  <a:srgbClr val="334155"/>
                </a:solidFill>
                <a:latin typeface="Arial"/>
              </a:defRPr>
            </a:pPr>
            <a:r>
              <a:rPr b="1">
                <a:solidFill>
                  <a:srgbClr val="0F172A"/>
                </a:solidFill>
              </a:rPr>
              <a:t>• 5. Legal &amp; Statutory Alignment: </a:t>
            </a:r>
            <a:r>
              <a:t> Decoupled data model guarantees 100% compliance with India's DPDP Act 2023.</a:t>
            </a:r>
          </a:p>
          <a:p>
            <a:pPr>
              <a:spcAft>
                <a:spcPts val="400"/>
              </a:spcAft>
              <a:defRPr sz="1050">
                <a:solidFill>
                  <a:srgbClr val="334155"/>
                </a:solidFill>
                <a:latin typeface="Arial"/>
              </a:defRPr>
            </a:pPr>
            <a:r>
              <a:rPr b="1">
                <a:solidFill>
                  <a:srgbClr val="0F172A"/>
                </a:solidFill>
              </a:rPr>
              <a:t>• Conclusion: </a:t>
            </a:r>
            <a:r>
              <a:t> EduCred proves that decentralized cryptographic infrastructure provides an industry-ready, cost-effective solution for securing educational credentials across Indian universities.</a:t>
            </a:r>
          </a:p>
        </p:txBody>
      </p:sp>
      <p:sp>
        <p:nvSpPr>
          <p:cNvPr id="7" name="Rounded Rectangle 6"/>
          <p:cNvSpPr/>
          <p:nvPr/>
        </p:nvSpPr>
        <p:spPr>
          <a:xfrm>
            <a:off x="6217920" y="1463040"/>
            <a:ext cx="512064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572768"/>
            <a:ext cx="4846320" cy="4535424"/>
          </a:xfrm>
          <a:prstGeom prst="rect">
            <a:avLst/>
          </a:prstGeom>
          <a:noFill/>
        </p:spPr>
        <p:txBody>
          <a:bodyPr wrap="square">
            <a:spAutoFit/>
          </a:bodyPr>
          <a:lstStyle/>
          <a:p>
            <a:pPr>
              <a:spcAft>
                <a:spcPts val="800"/>
              </a:spcAft>
              <a:defRPr sz="1300" b="1">
                <a:solidFill>
                  <a:srgbClr val="1E3A8A"/>
                </a:solidFill>
                <a:latin typeface="Arial"/>
              </a:defRPr>
            </a:pPr>
            <a:r>
              <a:t>Scalability Roadmap (DE-III / Capstone)</a:t>
            </a:r>
          </a:p>
          <a:p>
            <a:pPr>
              <a:spcAft>
                <a:spcPts val="400"/>
              </a:spcAft>
              <a:defRPr sz="1050">
                <a:solidFill>
                  <a:srgbClr val="334155"/>
                </a:solidFill>
                <a:latin typeface="Arial"/>
              </a:defRPr>
            </a:pPr>
            <a:r>
              <a:rPr b="1">
                <a:solidFill>
                  <a:srgbClr val="0F172A"/>
                </a:solidFill>
              </a:rPr>
              <a:t>• Phase 1: Polygon Amoy Testnet Deployment (Month 1): </a:t>
            </a:r>
            <a:r>
              <a:t/>
            </a:r>
          </a:p>
          <a:p>
            <a:pPr>
              <a:spcAft>
                <a:spcPts val="400"/>
              </a:spcAft>
              <a:defRPr sz="1050">
                <a:solidFill>
                  <a:srgbClr val="334155"/>
                </a:solidFill>
                <a:latin typeface="Arial"/>
              </a:defRPr>
            </a:pPr>
            <a:r>
              <a:t>• • Benchmark live PoS finality, RPC node latency, and live gas under network congestion.</a:t>
            </a:r>
          </a:p>
          <a:p>
            <a:pPr>
              <a:spcAft>
                <a:spcPts val="400"/>
              </a:spcAft>
              <a:defRPr sz="1050">
                <a:solidFill>
                  <a:srgbClr val="334155"/>
                </a:solidFill>
                <a:latin typeface="Arial"/>
              </a:defRPr>
            </a:pPr>
            <a:r>
              <a:rPr b="1">
                <a:solidFill>
                  <a:srgbClr val="0F172A"/>
                </a:solidFill>
              </a:rPr>
              <a:t>• Phase 2: DigiLocker &amp; NAD API Integration (Months 2-3): </a:t>
            </a:r>
            <a:r>
              <a:t/>
            </a:r>
          </a:p>
          <a:p>
            <a:pPr>
              <a:spcAft>
                <a:spcPts val="400"/>
              </a:spcAft>
              <a:defRPr sz="1050">
                <a:solidFill>
                  <a:srgbClr val="334155"/>
                </a:solidFill>
                <a:latin typeface="Arial"/>
              </a:defRPr>
            </a:pPr>
            <a:r>
              <a:t>• • Build enterprise middleware connecting university ERP (SAP Student Lifecycle) directly to the blockchain registry for automated graduation issuance.</a:t>
            </a:r>
          </a:p>
          <a:p>
            <a:pPr>
              <a:spcAft>
                <a:spcPts val="400"/>
              </a:spcAft>
              <a:defRPr sz="1050">
                <a:solidFill>
                  <a:srgbClr val="334155"/>
                </a:solidFill>
                <a:latin typeface="Arial"/>
              </a:defRPr>
            </a:pPr>
            <a:r>
              <a:rPr b="1">
                <a:solidFill>
                  <a:srgbClr val="0F172A"/>
                </a:solidFill>
              </a:rPr>
              <a:t>• Phase 3: Zero-Knowledge Privacy Circuits (zk-SNARKs) (Months 4-5): </a:t>
            </a:r>
            <a:r>
              <a:t/>
            </a:r>
          </a:p>
          <a:p>
            <a:pPr>
              <a:spcAft>
                <a:spcPts val="400"/>
              </a:spcAft>
              <a:defRPr sz="1050">
                <a:solidFill>
                  <a:srgbClr val="334155"/>
                </a:solidFill>
                <a:latin typeface="Arial"/>
              </a:defRPr>
            </a:pPr>
            <a:r>
              <a:t>• • Implement Circom / snarkjs circuits enabling students to prove "CGPA &gt;= 8.0" without revealing course transcripts.</a:t>
            </a:r>
          </a:p>
          <a:p>
            <a:pPr>
              <a:spcAft>
                <a:spcPts val="400"/>
              </a:spcAft>
              <a:defRPr sz="1050">
                <a:solidFill>
                  <a:srgbClr val="334155"/>
                </a:solidFill>
                <a:latin typeface="Arial"/>
              </a:defRPr>
            </a:pPr>
            <a:r>
              <a:rPr b="1">
                <a:solidFill>
                  <a:srgbClr val="0F172A"/>
                </a:solidFill>
              </a:rPr>
              <a:t>• Phase 4: Mobile Verifier Application (Month 6): </a:t>
            </a:r>
            <a:r>
              <a:t/>
            </a:r>
          </a:p>
          <a:p>
            <a:pPr>
              <a:spcAft>
                <a:spcPts val="400"/>
              </a:spcAft>
              <a:defRPr sz="1050">
                <a:solidFill>
                  <a:srgbClr val="334155"/>
                </a:solidFill>
                <a:latin typeface="Arial"/>
              </a:defRPr>
            </a:pPr>
            <a:r>
              <a:t>• • Offline-capable mobile scanner using camera to authenticate paper certificate QR codes during on-campus recruitment.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731520"/>
            <a:ext cx="10332720" cy="731520"/>
          </a:xfrm>
          <a:prstGeom prst="rect">
            <a:avLst/>
          </a:prstGeom>
          <a:noFill/>
        </p:spPr>
        <p:txBody>
          <a:bodyPr wrap="none">
            <a:spAutoFit/>
          </a:bodyPr>
          <a:lstStyle/>
          <a:p>
            <a:pPr>
              <a:defRPr sz="2800" b="1">
                <a:solidFill>
                  <a:srgbClr val="FFFFFF"/>
                </a:solidFill>
                <a:latin typeface="Arial"/>
              </a:defRPr>
            </a:pPr>
            <a:r>
              <a:t>Live Prototype Demonstration &amp; Viva Defense</a:t>
            </a:r>
          </a:p>
        </p:txBody>
      </p:sp>
      <p:sp>
        <p:nvSpPr>
          <p:cNvPr id="3" name="TextBox 2"/>
          <p:cNvSpPr txBox="1"/>
          <p:nvPr/>
        </p:nvSpPr>
        <p:spPr>
          <a:xfrm>
            <a:off x="914400" y="1371600"/>
            <a:ext cx="10332720" cy="365760"/>
          </a:xfrm>
          <a:prstGeom prst="rect">
            <a:avLst/>
          </a:prstGeom>
          <a:noFill/>
        </p:spPr>
        <p:txBody>
          <a:bodyPr wrap="none">
            <a:spAutoFit/>
          </a:bodyPr>
          <a:lstStyle/>
          <a:p>
            <a:pPr>
              <a:defRPr sz="1300">
                <a:solidFill>
                  <a:srgbClr val="38BDF8"/>
                </a:solidFill>
                <a:latin typeface="Arial"/>
              </a:defRPr>
            </a:pPr>
            <a:r>
              <a:t>Interactive Evaluation of Credential Issuance, O(1) Verification &amp; Strict Avalanche Forgery Detection</a:t>
            </a:r>
          </a:p>
        </p:txBody>
      </p:sp>
      <p:sp>
        <p:nvSpPr>
          <p:cNvPr id="4" name="Rounded Rectangle 3"/>
          <p:cNvSpPr/>
          <p:nvPr/>
        </p:nvSpPr>
        <p:spPr>
          <a:xfrm>
            <a:off x="914400" y="2011680"/>
            <a:ext cx="3291840" cy="4206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121408"/>
            <a:ext cx="3017520" cy="3986784"/>
          </a:xfrm>
          <a:prstGeom prst="rect">
            <a:avLst/>
          </a:prstGeom>
          <a:noFill/>
        </p:spPr>
        <p:txBody>
          <a:bodyPr wrap="square">
            <a:spAutoFit/>
          </a:bodyPr>
          <a:lstStyle/>
          <a:p>
            <a:pPr>
              <a:spcAft>
                <a:spcPts val="800"/>
              </a:spcAft>
              <a:defRPr sz="1300" b="1">
                <a:solidFill>
                  <a:srgbClr val="38BDF8"/>
                </a:solidFill>
                <a:latin typeface="Arial"/>
              </a:defRPr>
            </a:pPr>
            <a:r>
              <a:t>Step 1: Admin Issuance</a:t>
            </a:r>
          </a:p>
          <a:p>
            <a:pPr>
              <a:spcAft>
                <a:spcPts val="400"/>
              </a:spcAft>
              <a:defRPr sz="1050">
                <a:solidFill>
                  <a:srgbClr val="334155"/>
                </a:solidFill>
                <a:latin typeface="Arial"/>
              </a:defRPr>
            </a:pPr>
            <a:r>
              <a:t>• • Connect Hardhat / Polygon Admin wallet.</a:t>
            </a:r>
          </a:p>
          <a:p>
            <a:pPr>
              <a:spcAft>
                <a:spcPts val="400"/>
              </a:spcAft>
              <a:defRPr sz="1050">
                <a:solidFill>
                  <a:srgbClr val="334155"/>
                </a:solidFill>
                <a:latin typeface="Arial"/>
              </a:defRPr>
            </a:pPr>
            <a:r>
              <a:t>• • Drop authentic `NMIMS_Sample_GradeCard.pdf` into Issuance dropzone.</a:t>
            </a:r>
          </a:p>
          <a:p>
            <a:pPr>
              <a:spcAft>
                <a:spcPts val="400"/>
              </a:spcAft>
              <a:defRPr sz="1050">
                <a:solidFill>
                  <a:srgbClr val="334155"/>
                </a:solidFill>
                <a:latin typeface="Arial"/>
              </a:defRPr>
            </a:pPr>
            <a:r>
              <a:t>• • Observe real-time SHA-256 calculation (&lt;15ms).</a:t>
            </a:r>
          </a:p>
          <a:p>
            <a:pPr>
              <a:spcAft>
                <a:spcPts val="400"/>
              </a:spcAft>
              <a:defRPr sz="1050">
                <a:solidFill>
                  <a:srgbClr val="334155"/>
                </a:solidFill>
                <a:latin typeface="Arial"/>
              </a:defRPr>
            </a:pPr>
            <a:r>
              <a:t>• • Execute `issueCredential()` transaction.</a:t>
            </a:r>
          </a:p>
          <a:p>
            <a:pPr>
              <a:spcAft>
                <a:spcPts val="400"/>
              </a:spcAft>
              <a:defRPr sz="1050">
                <a:solidFill>
                  <a:srgbClr val="334155"/>
                </a:solidFill>
                <a:latin typeface="Arial"/>
              </a:defRPr>
            </a:pPr>
            <a:r>
              <a:t>• • Verify instant event emission and dynamic QR code generation.</a:t>
            </a:r>
          </a:p>
        </p:txBody>
      </p:sp>
      <p:sp>
        <p:nvSpPr>
          <p:cNvPr id="6" name="Rounded Rectangle 5"/>
          <p:cNvSpPr/>
          <p:nvPr/>
        </p:nvSpPr>
        <p:spPr>
          <a:xfrm>
            <a:off x="4480560" y="2011680"/>
            <a:ext cx="3291840" cy="4206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2121408"/>
            <a:ext cx="3017520" cy="3986784"/>
          </a:xfrm>
          <a:prstGeom prst="rect">
            <a:avLst/>
          </a:prstGeom>
          <a:noFill/>
        </p:spPr>
        <p:txBody>
          <a:bodyPr wrap="square">
            <a:spAutoFit/>
          </a:bodyPr>
          <a:lstStyle/>
          <a:p>
            <a:pPr>
              <a:spcAft>
                <a:spcPts val="800"/>
              </a:spcAft>
              <a:defRPr sz="1300" b="1">
                <a:solidFill>
                  <a:srgbClr val="4ADE80"/>
                </a:solidFill>
                <a:latin typeface="Arial"/>
              </a:defRPr>
            </a:pPr>
            <a:r>
              <a:t>Step 2: Instant Verification</a:t>
            </a:r>
          </a:p>
          <a:p>
            <a:pPr>
              <a:spcAft>
                <a:spcPts val="400"/>
              </a:spcAft>
              <a:defRPr sz="1050">
                <a:solidFill>
                  <a:srgbClr val="334155"/>
                </a:solidFill>
                <a:latin typeface="Arial"/>
              </a:defRPr>
            </a:pPr>
            <a:r>
              <a:t>• • Switch to public recruiter mode (zero wallet required).</a:t>
            </a:r>
          </a:p>
          <a:p>
            <a:pPr>
              <a:spcAft>
                <a:spcPts val="400"/>
              </a:spcAft>
              <a:defRPr sz="1050">
                <a:solidFill>
                  <a:srgbClr val="334155"/>
                </a:solidFill>
                <a:latin typeface="Arial"/>
              </a:defRPr>
            </a:pPr>
            <a:r>
              <a:t>• • Drop authentic PDF into Verification Portal.</a:t>
            </a:r>
          </a:p>
          <a:p>
            <a:pPr>
              <a:spcAft>
                <a:spcPts val="400"/>
              </a:spcAft>
              <a:defRPr sz="1050">
                <a:solidFill>
                  <a:srgbClr val="334155"/>
                </a:solidFill>
                <a:latin typeface="Arial"/>
              </a:defRPr>
            </a:pPr>
            <a:r>
              <a:rPr b="1">
                <a:solidFill>
                  <a:srgbClr val="0F172A"/>
                </a:solidFill>
              </a:rPr>
              <a:t>• AUTHENTIC &amp; VERIFIED </a:t>
            </a:r>
            <a:r>
              <a:t> green banner.</a:t>
            </a:r>
          </a:p>
          <a:p>
            <a:pPr>
              <a:spcAft>
                <a:spcPts val="400"/>
              </a:spcAft>
              <a:defRPr sz="1050">
                <a:solidFill>
                  <a:srgbClr val="334155"/>
                </a:solidFill>
                <a:latin typeface="Arial"/>
              </a:defRPr>
            </a:pPr>
            <a:r>
              <a:t>• • Displays Student SAP ID (70552400057), timestamp, and issuer address.</a:t>
            </a:r>
          </a:p>
          <a:p>
            <a:pPr>
              <a:spcAft>
                <a:spcPts val="400"/>
              </a:spcAft>
              <a:defRPr sz="1050">
                <a:solidFill>
                  <a:srgbClr val="334155"/>
                </a:solidFill>
                <a:latin typeface="Arial"/>
              </a:defRPr>
            </a:pPr>
            <a:r>
              <a:t>• • Query executed in O(1) with 0 gas.</a:t>
            </a:r>
          </a:p>
        </p:txBody>
      </p:sp>
      <p:sp>
        <p:nvSpPr>
          <p:cNvPr id="8" name="Rounded Rectangle 7"/>
          <p:cNvSpPr/>
          <p:nvPr/>
        </p:nvSpPr>
        <p:spPr>
          <a:xfrm>
            <a:off x="8046720" y="2011680"/>
            <a:ext cx="3291840" cy="4206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2121408"/>
            <a:ext cx="3017520" cy="3986784"/>
          </a:xfrm>
          <a:prstGeom prst="rect">
            <a:avLst/>
          </a:prstGeom>
          <a:noFill/>
        </p:spPr>
        <p:txBody>
          <a:bodyPr wrap="square">
            <a:spAutoFit/>
          </a:bodyPr>
          <a:lstStyle/>
          <a:p>
            <a:pPr>
              <a:spcAft>
                <a:spcPts val="800"/>
              </a:spcAft>
              <a:defRPr sz="1300" b="1">
                <a:solidFill>
                  <a:srgbClr val="F87171"/>
                </a:solidFill>
                <a:latin typeface="Arial"/>
              </a:defRPr>
            </a:pPr>
            <a:r>
              <a:t>Step 3: Tamper Detection</a:t>
            </a:r>
          </a:p>
          <a:p>
            <a:pPr>
              <a:spcAft>
                <a:spcPts val="400"/>
              </a:spcAft>
              <a:defRPr sz="1050">
                <a:solidFill>
                  <a:srgbClr val="334155"/>
                </a:solidFill>
                <a:latin typeface="Arial"/>
              </a:defRPr>
            </a:pPr>
            <a:r>
              <a:t>• • Drop tampered PDF (`..._TAMPERED.pdf`, CGPA 9.99).</a:t>
            </a:r>
          </a:p>
          <a:p>
            <a:pPr>
              <a:spcAft>
                <a:spcPts val="400"/>
              </a:spcAft>
              <a:defRPr sz="1050">
                <a:solidFill>
                  <a:srgbClr val="334155"/>
                </a:solidFill>
                <a:latin typeface="Arial"/>
              </a:defRPr>
            </a:pPr>
            <a:r>
              <a:t>• • SHA-256 hash recalculated locally in browser.</a:t>
            </a:r>
          </a:p>
          <a:p>
            <a:pPr>
              <a:spcAft>
                <a:spcPts val="400"/>
              </a:spcAft>
              <a:defRPr sz="1050">
                <a:solidFill>
                  <a:srgbClr val="334155"/>
                </a:solidFill>
                <a:latin typeface="Arial"/>
              </a:defRPr>
            </a:pPr>
            <a:r>
              <a:rPr b="1">
                <a:solidFill>
                  <a:srgbClr val="0F172A"/>
                </a:solidFill>
              </a:rPr>
              <a:t>• FORGERY DETECTED: HASH MISMATCH </a:t>
            </a:r>
            <a:r>
              <a:t> red banner.</a:t>
            </a:r>
          </a:p>
          <a:p>
            <a:pPr>
              <a:spcAft>
                <a:spcPts val="400"/>
              </a:spcAft>
              <a:defRPr sz="1050">
                <a:solidFill>
                  <a:srgbClr val="334155"/>
                </a:solidFill>
                <a:latin typeface="Arial"/>
              </a:defRPr>
            </a:pPr>
            <a:r>
              <a:t>• • Proves 50% bit flip (128/256 bits) eliminates fraud mathematically.</a:t>
            </a:r>
          </a:p>
          <a:p>
            <a:pPr>
              <a:spcAft>
                <a:spcPts val="400"/>
              </a:spcAft>
              <a:defRPr sz="1050">
                <a:solidFill>
                  <a:srgbClr val="334155"/>
                </a:solidFill>
                <a:latin typeface="Arial"/>
              </a:defRPr>
            </a:pPr>
            <a:r>
              <a:t>• • Test revocation &amp; emergency circuit-breaker.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