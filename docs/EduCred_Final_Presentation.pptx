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Dr. Pullipeti and panel members. Today I am presenting my Design Experience 2 project: EduCred, a blockchain-based decentralized registry designed to eliminate certificate forgery and enable instant third-party academic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Credential forgery is an escalating issue globally. Verifying a degree manually takes weeks. Our goal is to replace manual verification with an automated, tamper-proof blockchain system that works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question is: why not put the PDF on the blockchain? Storing large files on-chain is cost-prohibitive. Instead, we store only the 32-byte SHA-256 fingerprint on-chain, keeping the actual document on IPFS.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strictly separates permissions: only authorized university wallets can issue degrees, while anyone in the world can verify credentials for free.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mathematical proof. When we modified just one character in the PDF—changing the CGPA from 9.42 to 9.99—the resulting hash was completely different. The smart contract immediately rejects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smart contract is written in Solidity 0.8.20 and inherits audited OpenZeppelin contracts. We use a dual-index mapping: the primary mapping is keyed by the 32-byte hash for instant O(1)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student commits academic misconduct, the university calls revokeCredential. We do not delete the record; we set isRevoked to true. This gives regulators a permanent, tamper-proof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built with React 18 and Ethers.js v6. We organized it into three clear cards: Issuance, Verification with one-click demo buttons, and Admin controls.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authored a comprehensive 29-case test suite. All 29 tests pass in approximately 300 milliseconds, covering happy paths, negative tests, and access control reverts.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India's Digital Personal Data Protection Act 2023, personal data cannot be placed on public blockchains because records cannot be erased. By keeping all PII off-chain and storing only the mathematical hash, we are 100% compliant.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honestly acknowledge current limitations, such as private key management. In the future, we plan to integrate Zero-Knowledge Proofs so a student can prove their degree qualification without revealing their entire marksheet.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EduCred replaces slow, vulnerable manual degree verification with a mathematical guarantee that takes less than 2 seconds. Thank you, Dr. Pullipeti and panel members. I am now ready for the live demonstration and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EduCred: Blockchain-Enabled Framework for Secure Educational Credentials</a:t>
            </a:r>
          </a:p>
          <a:p>
            <a:pPr>
              <a:defRPr sz="1400">
                <a:solidFill>
                  <a:srgbClr val="94A3B8"/>
                </a:solidFill>
                <a:latin typeface="Arial"/>
              </a:defRPr>
            </a:pPr>
            <a:r>
              <a:t>Design Experience 2 (DE-2) Project Defense • Semester V</a:t>
            </a:r>
            <a:br/>
            <a:r>
              <a:t>Student: Himanshu Garg (Roll No: E250 | SAP ID: 70552400057)</a:t>
            </a:r>
            <a:br/>
            <a:r>
              <a:t>Faculty Coordinator: Dr. Shrikanth Pullipeti</a:t>
            </a:r>
            <a:br/>
            <a:r>
              <a:t>Department of Computer Science &amp; Engineering, SVKM's NMIMS MPSTME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1. The Real-World Problem: Credential Forgery</a:t>
            </a:r>
          </a:p>
          <a:p>
            <a:pPr>
              <a:defRPr sz="1400">
                <a:solidFill>
                  <a:srgbClr val="94A3B8"/>
                </a:solidFill>
                <a:latin typeface="Arial"/>
              </a:defRPr>
            </a:pPr>
            <a:r>
              <a:t>Why traditional educational verification is broken:</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Certificate Forgery: Modern digital editing tools make it trivial to alter grades, names, or degrees on PDF marksheets.</a:t>
            </a:r>
          </a:p>
          <a:p>
            <a:pPr>
              <a:spcAft>
                <a:spcPts val="1200"/>
              </a:spcAft>
              <a:defRPr sz="1600">
                <a:solidFill>
                  <a:srgbClr val="F8FAFC"/>
                </a:solidFill>
                <a:latin typeface="Arial"/>
              </a:defRPr>
            </a:pPr>
            <a:r>
              <a:t>Manual &amp; Slow Verification: Employers and foreign universities wait 2 to 4 weeks for manual email or postal confirmation from college registrars.</a:t>
            </a:r>
          </a:p>
          <a:p>
            <a:pPr>
              <a:spcAft>
                <a:spcPts val="1200"/>
              </a:spcAft>
              <a:defRPr sz="1600">
                <a:solidFill>
                  <a:srgbClr val="F8FAFC"/>
                </a:solidFill>
                <a:latin typeface="Arial"/>
              </a:defRPr>
            </a:pPr>
            <a:r>
              <a:t>Centralized Database Vulnerability: Traditional institutional SQL databases represent a single point of failure (susceptible to internal tampering or server crashes).</a:t>
            </a:r>
          </a:p>
          <a:p>
            <a:pPr>
              <a:spcAft>
                <a:spcPts val="1200"/>
              </a:spcAft>
              <a:defRPr sz="1600">
                <a:solidFill>
                  <a:srgbClr val="F8FAFC"/>
                </a:solidFill>
                <a:latin typeface="Arial"/>
              </a:defRPr>
            </a:pPr>
            <a:r>
              <a:t>Privacy &amp; Data Leaks: Transmitting unencrypted academic transcripts over standard email exposes student PII.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2. The Core Innovation: Hash-on-Chain Architecture</a:t>
            </a:r>
          </a:p>
          <a:p>
            <a:pPr>
              <a:defRPr sz="1400">
                <a:solidFill>
                  <a:srgbClr val="94A3B8"/>
                </a:solidFill>
                <a:latin typeface="Arial"/>
              </a:defRPr>
            </a:pPr>
            <a:r>
              <a:t>Why blockchain alone is not enough, and how we solve the storage problem:</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The Storage Dilemma: Storing a 2 MB PDF certificate directly on Ethereum storage costs thousands of rupees in gas fees and congests the ledger.</a:t>
            </a:r>
          </a:p>
          <a:p>
            <a:pPr>
              <a:spcAft>
                <a:spcPts val="1200"/>
              </a:spcAft>
              <a:defRPr sz="1600">
                <a:solidFill>
                  <a:srgbClr val="F8FAFC"/>
                </a:solidFill>
                <a:latin typeface="Arial"/>
              </a:defRPr>
            </a:pPr>
            <a:r>
              <a:t>The "Hash-on-Chain, Content-off-Chain" Model:</a:t>
            </a:r>
          </a:p>
          <a:p>
            <a:pPr>
              <a:spcAft>
                <a:spcPts val="1200"/>
              </a:spcAft>
              <a:defRPr sz="1500">
                <a:solidFill>
                  <a:srgbClr val="10B981"/>
                </a:solidFill>
                <a:latin typeface="Arial"/>
              </a:defRPr>
            </a:pPr>
            <a:r>
              <a:t>  1. Compute SHA-256 Digest: Browser calculates a 32-byte cryptographic fingerprint of the certificate before upload.</a:t>
            </a:r>
          </a:p>
          <a:p>
            <a:pPr>
              <a:spcAft>
                <a:spcPts val="1200"/>
              </a:spcAft>
              <a:defRPr sz="1500">
                <a:solidFill>
                  <a:srgbClr val="10B981"/>
                </a:solidFill>
                <a:latin typeface="Arial"/>
              </a:defRPr>
            </a:pPr>
            <a:r>
              <a:t>  2. Off-Chain Storage (IPFS): The full human-readable PDF is stored off-chain in decentralized content-addressed storage.</a:t>
            </a:r>
          </a:p>
          <a:p>
            <a:pPr>
              <a:spcAft>
                <a:spcPts val="1200"/>
              </a:spcAft>
              <a:defRPr sz="1500">
                <a:solidFill>
                  <a:srgbClr val="10B981"/>
                </a:solidFill>
                <a:latin typeface="Arial"/>
              </a:defRPr>
            </a:pPr>
            <a:r>
              <a:t>  3. Immutable On-Chain Anchor: Only the 32-byte hash and student ID are stored in the smart contract.</a:t>
            </a:r>
          </a:p>
          <a:p>
            <a:pPr>
              <a:spcAft>
                <a:spcPts val="1200"/>
              </a:spcAft>
              <a:defRPr sz="1600">
                <a:solidFill>
                  <a:srgbClr val="F8FAFC"/>
                </a:solidFill>
                <a:latin typeface="Arial"/>
              </a:defRPr>
            </a:pPr>
            <a:r>
              <a:t>Zero-Gas Verification: Verifiers check credentials in O(1) time without paying transaction gas fees or needing crypto tokens.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3. System Architecture &amp; The 4 Actors</a:t>
            </a:r>
          </a:p>
          <a:p>
            <a:pPr>
              <a:defRPr sz="1400">
                <a:solidFill>
                  <a:srgbClr val="94A3B8"/>
                </a:solidFill>
                <a:latin typeface="Arial"/>
              </a:defRPr>
            </a:pPr>
            <a:r>
              <a:t>Role-based access control and system boundaries:</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University Admin (Contract Owner): Deploys the registry, authorizes departmental registrar wallets, and triggers emergency pause controls.</a:t>
            </a:r>
          </a:p>
          <a:p>
            <a:pPr>
              <a:spcAft>
                <a:spcPts val="1200"/>
              </a:spcAft>
              <a:defRPr sz="1600">
                <a:solidFill>
                  <a:srgbClr val="F8FAFC"/>
                </a:solidFill>
                <a:latin typeface="Arial"/>
              </a:defRPr>
            </a:pPr>
            <a:r>
              <a:t>Authorized Issuer (Exam Cell): Uploads credential PDF, computes SHA-256 hash, pins to IPFS, and broadcasts the signed issuance transaction.</a:t>
            </a:r>
          </a:p>
          <a:p>
            <a:pPr>
              <a:spcAft>
                <a:spcPts val="1200"/>
              </a:spcAft>
              <a:defRPr sz="1600">
                <a:solidFill>
                  <a:srgbClr val="F8FAFC"/>
                </a:solidFill>
                <a:latin typeface="Arial"/>
              </a:defRPr>
            </a:pPr>
            <a:r>
              <a:t>Student: Receives authentic digital credential with an embedded high-resolution verification QR code; can view and share anytime.</a:t>
            </a:r>
          </a:p>
          <a:p>
            <a:pPr>
              <a:spcAft>
                <a:spcPts val="1200"/>
              </a:spcAft>
              <a:defRPr sz="1600">
                <a:solidFill>
                  <a:srgbClr val="F8FAFC"/>
                </a:solidFill>
                <a:latin typeface="Arial"/>
              </a:defRPr>
            </a:pPr>
            <a:r>
              <a:t>Public Verifier / Employer: Zero-login third party. Uploads received PDF or scans QR code to verify validity and tamper status in O(1)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4. Cryptographic Proof: The SHA-256 Avalanche Effect</a:t>
            </a:r>
          </a:p>
          <a:p>
            <a:pPr>
              <a:defRPr sz="1400">
                <a:solidFill>
                  <a:srgbClr val="94A3B8"/>
                </a:solidFill>
                <a:latin typeface="Arial"/>
              </a:defRPr>
            </a:pPr>
            <a:r>
              <a:t>How forgery is caught mathematically with 100% certainty:</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b="1">
                <a:solidFill>
                  <a:srgbClr val="F8FAFC"/>
                </a:solidFill>
                <a:latin typeface="Arial"/>
              </a:defRPr>
            </a:pPr>
            <a:r>
              <a:t>Strict Avalanche Criterion (SAC): In FIPS 180-4 SHA-256, complementing any single input bit flips approximately 50% of the 256 output bits.</a:t>
            </a:r>
          </a:p>
          <a:p>
            <a:pPr>
              <a:spcAft>
                <a:spcPts val="1200"/>
              </a:spcAft>
              <a:defRPr sz="1600" b="1">
                <a:solidFill>
                  <a:srgbClr val="F8FAFC"/>
                </a:solidFill>
                <a:latin typeface="Arial"/>
              </a:defRPr>
            </a:pPr>
            <a:r>
              <a:t>Live Experimental Proof (Tested in Project):</a:t>
            </a:r>
          </a:p>
          <a:p>
            <a:pPr>
              <a:spcAft>
                <a:spcPts val="1200"/>
              </a:spcAft>
              <a:defRPr sz="1500">
                <a:solidFill>
                  <a:srgbClr val="10B981"/>
                </a:solidFill>
                <a:latin typeface="Arial"/>
              </a:defRPr>
            </a:pPr>
            <a:r>
              <a:t>  • Authentic Certificate (CGPA 9.42) -&gt; Hash: 0xb89ce30b75b539349a81147e92df25d587b2e9b95d7d770bb7125d9c7e138f8a</a:t>
            </a:r>
          </a:p>
          <a:p>
            <a:pPr>
              <a:spcAft>
                <a:spcPts val="1200"/>
              </a:spcAft>
              <a:defRPr sz="1500">
                <a:solidFill>
                  <a:srgbClr val="10B981"/>
                </a:solidFill>
                <a:latin typeface="Arial"/>
              </a:defRPr>
            </a:pPr>
            <a:r>
              <a:t>  • Forged Certificate (CGPA 9.99)    -&gt; Hash: 0xd9bff662829a779fef5a9a564c82aea796ae82ae383b45d9285f62afdb98390c</a:t>
            </a:r>
          </a:p>
          <a:p>
            <a:pPr>
              <a:spcAft>
                <a:spcPts val="1200"/>
              </a:spcAft>
              <a:defRPr sz="1600">
                <a:solidFill>
                  <a:srgbClr val="F8FAFC"/>
                </a:solidFill>
                <a:latin typeface="Arial"/>
              </a:defRPr>
            </a:pPr>
            <a:r>
              <a:t>Forgery Caught Instantly: When the verifier re-hashes the forged PDF, the resulting hash does not exist on the blockchain mapping -&gt; VERIFICATION FAILS.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5. Smart Contract Design: CredentialRegistry.sol</a:t>
            </a:r>
          </a:p>
          <a:p>
            <a:pPr>
              <a:defRPr sz="1400">
                <a:solidFill>
                  <a:srgbClr val="94A3B8"/>
                </a:solidFill>
                <a:latin typeface="Arial"/>
              </a:defRPr>
            </a:pPr>
            <a:r>
              <a:t>Production-ready Solidity 0.8.20 implementation:</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OpenZeppelin v5 Security: Inherits Ownable (access control), Pausable (emergency freeze), and ReentrancyGuard.</a:t>
            </a:r>
          </a:p>
          <a:p>
            <a:pPr>
              <a:spcAft>
                <a:spcPts val="1200"/>
              </a:spcAft>
              <a:defRPr sz="1600">
                <a:solidFill>
                  <a:srgbClr val="F8FAFC"/>
                </a:solidFill>
                <a:latin typeface="Arial"/>
              </a:defRPr>
            </a:pPr>
            <a:r>
              <a:t>Dual-Index Data Model:</a:t>
            </a:r>
          </a:p>
          <a:p>
            <a:pPr>
              <a:spcAft>
                <a:spcPts val="1200"/>
              </a:spcAft>
              <a:defRPr sz="1500">
                <a:solidFill>
                  <a:srgbClr val="10B981"/>
                </a:solidFill>
                <a:latin typeface="Arial"/>
              </a:defRPr>
            </a:pPr>
            <a:r>
              <a:t>  • Primary: mapping(bytes32 =&gt; Credential) -&gt; O(1) constant-time lookup by document hash.</a:t>
            </a:r>
          </a:p>
          <a:p>
            <a:pPr>
              <a:spcAft>
                <a:spcPts val="1200"/>
              </a:spcAft>
              <a:defRPr sz="1500">
                <a:solidFill>
                  <a:srgbClr val="10B981"/>
                </a:solidFill>
                <a:latin typeface="Arial"/>
              </a:defRPr>
            </a:pPr>
            <a:r>
              <a:t>  • Secondary: mapping(string =&gt; bytes32) -&gt; Lookup by Student SAP ID.</a:t>
            </a:r>
          </a:p>
          <a:p>
            <a:pPr>
              <a:spcAft>
                <a:spcPts val="1200"/>
              </a:spcAft>
              <a:defRPr sz="1600">
                <a:solidFill>
                  <a:srgbClr val="F8FAFC"/>
                </a:solidFill>
                <a:latin typeface="Arial"/>
              </a:defRPr>
            </a:pPr>
            <a:r>
              <a:t>Gas Efficiency: Custom errors (NotAuthorised, CredentialAlreadyExists, CredentialNotFound) save gas compared to string reverts.</a:t>
            </a:r>
          </a:p>
          <a:p>
            <a:pPr>
              <a:spcAft>
                <a:spcPts val="1200"/>
              </a:spcAft>
              <a:defRPr sz="1600">
                <a:solidFill>
                  <a:srgbClr val="F8FAFC"/>
                </a:solidFill>
                <a:latin typeface="Arial"/>
              </a:defRPr>
            </a:pPr>
            <a:r>
              <a:t>Monitored Metrics: Public counters totalIssued and totalRevoked provide real-time institutional statistics.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6. Credential Revocation &amp; Immutability</a:t>
            </a:r>
          </a:p>
          <a:p>
            <a:pPr>
              <a:defRPr sz="1400">
                <a:solidFill>
                  <a:srgbClr val="94A3B8"/>
                </a:solidFill>
                <a:latin typeface="Arial"/>
              </a:defRPr>
            </a:pPr>
            <a:r>
              <a:t>Preserving audit history without data destruction:</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Why Records Are Never Deleted: In academic governance, deleting a forged or cancelled degree would destroy the evidentiary audit trail.</a:t>
            </a:r>
          </a:p>
          <a:p>
            <a:pPr>
              <a:spcAft>
                <a:spcPts val="1200"/>
              </a:spcAft>
              <a:defRPr sz="1600">
                <a:solidFill>
                  <a:srgbClr val="F8FAFC"/>
                </a:solidFill>
                <a:latin typeface="Arial"/>
              </a:defRPr>
            </a:pPr>
            <a:r>
              <a:t>Revocation Workflow:</a:t>
            </a:r>
          </a:p>
          <a:p>
            <a:pPr>
              <a:spcAft>
                <a:spcPts val="1200"/>
              </a:spcAft>
              <a:defRPr sz="1500">
                <a:solidFill>
                  <a:srgbClr val="10B981"/>
                </a:solidFill>
                <a:latin typeface="Arial"/>
              </a:defRPr>
            </a:pPr>
            <a:r>
              <a:t>  • Authorized issuer calls revokeCredential(sha256Hash).</a:t>
            </a:r>
          </a:p>
          <a:p>
            <a:pPr>
              <a:spcAft>
                <a:spcPts val="1200"/>
              </a:spcAft>
              <a:defRPr sz="1500">
                <a:solidFill>
                  <a:srgbClr val="10B981"/>
                </a:solidFill>
                <a:latin typeface="Arial"/>
              </a:defRPr>
            </a:pPr>
            <a:r>
              <a:t>  • Smart contract flips isRevoked = true and increments totalRevoked.</a:t>
            </a:r>
          </a:p>
          <a:p>
            <a:pPr>
              <a:spcAft>
                <a:spcPts val="1200"/>
              </a:spcAft>
              <a:defRPr sz="1500">
                <a:solidFill>
                  <a:srgbClr val="10B981"/>
                </a:solidFill>
                <a:latin typeface="Arial"/>
              </a:defRPr>
            </a:pPr>
            <a:r>
              <a:t>  • Emits on-chain event CredentialRevoked for transparency.</a:t>
            </a:r>
          </a:p>
          <a:p>
            <a:pPr>
              <a:spcAft>
                <a:spcPts val="1200"/>
              </a:spcAft>
              <a:defRPr sz="1600">
                <a:solidFill>
                  <a:srgbClr val="F8FAFC"/>
                </a:solidFill>
                <a:latin typeface="Arial"/>
              </a:defRPr>
            </a:pPr>
            <a:r>
              <a:t>Verifier Output: If a revoked certificate is scanned, the portal clearly alerts: "ALERT: This credential was officially revoked by the issuing institution".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7. Frontend &amp; Web3 Prototype Implementation</a:t>
            </a:r>
          </a:p>
          <a:p>
            <a:pPr>
              <a:defRPr sz="1400">
                <a:solidFill>
                  <a:srgbClr val="94A3B8"/>
                </a:solidFill>
                <a:latin typeface="Arial"/>
              </a:defRPr>
            </a:pPr>
            <a:r>
              <a:t>Clean, unified single-page React.js dashboard:</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Technology Stack: React 18, Vite, Tailwind CSS, Ethers.js v6, Lucide Icons, QRCode.react.</a:t>
            </a:r>
          </a:p>
          <a:p>
            <a:pPr>
              <a:spcAft>
                <a:spcPts val="1200"/>
              </a:spcAft>
              <a:defRPr sz="1600">
                <a:solidFill>
                  <a:srgbClr val="F8FAFC"/>
                </a:solidFill>
                <a:latin typeface="Arial"/>
              </a:defRPr>
            </a:pPr>
            <a:r>
              <a:t>Card 1 (Issue): Inputs student metadata, hashes PDF locally via window.crypto.subtle, broadcasts transaction via MetaMask.</a:t>
            </a:r>
          </a:p>
          <a:p>
            <a:pPr>
              <a:spcAft>
                <a:spcPts val="1200"/>
              </a:spcAft>
              <a:defRPr sz="1600">
                <a:solidFill>
                  <a:srgbClr val="F8FAFC"/>
                </a:solidFill>
                <a:latin typeface="Arial"/>
              </a:defRPr>
            </a:pPr>
            <a:r>
              <a:t>Card 2 (Verify): Drag-and-drop verification with instant Green (Verified) or Red (Tampered) status.</a:t>
            </a:r>
          </a:p>
          <a:p>
            <a:pPr>
              <a:spcAft>
                <a:spcPts val="1200"/>
              </a:spcAft>
              <a:defRPr sz="1600">
                <a:solidFill>
                  <a:srgbClr val="F8FAFC"/>
                </a:solidFill>
                <a:latin typeface="Arial"/>
              </a:defRPr>
            </a:pPr>
            <a:r>
              <a:t>Quick Viva Demo Buttons: One-click buttons to load genuine vs tampered PDF samples for live evaluation.</a:t>
            </a:r>
          </a:p>
          <a:p>
            <a:pPr>
              <a:spcAft>
                <a:spcPts val="1200"/>
              </a:spcAft>
              <a:defRPr sz="1600">
                <a:solidFill>
                  <a:srgbClr val="F8FAFC"/>
                </a:solidFill>
                <a:latin typeface="Arial"/>
              </a:defRPr>
            </a:pPr>
            <a:r>
              <a:t>Card 3 (Admin): Real-time counter metrics, revocation input, and emergency pause circuit-breaker.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8. Automated Testing &amp; Verification Rigor</a:t>
            </a:r>
          </a:p>
          <a:p>
            <a:pPr>
              <a:defRPr sz="1400">
                <a:solidFill>
                  <a:srgbClr val="94A3B8"/>
                </a:solidFill>
                <a:latin typeface="Arial"/>
              </a:defRPr>
            </a:pPr>
            <a:r>
              <a:t>29 out of 29 Automated Chai Unit Tests Passed (100%):</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Test Framework: Hardhat Local Network + Chai matchers + network-helpers (loadFixture).</a:t>
            </a:r>
          </a:p>
          <a:p>
            <a:pPr>
              <a:spcAft>
                <a:spcPts val="1200"/>
              </a:spcAft>
              <a:defRPr sz="1600">
                <a:solidFill>
                  <a:srgbClr val="F8FAFC"/>
                </a:solidFill>
                <a:latin typeface="Arial"/>
              </a:defRPr>
            </a:pPr>
            <a:r>
              <a:t>1. Deployment &amp; Init (4 tests): Verifies institution name, owner assignment, zero counters, empty name reverts.</a:t>
            </a:r>
          </a:p>
          <a:p>
            <a:pPr>
              <a:spcAft>
                <a:spcPts val="1200"/>
              </a:spcAft>
              <a:defRPr sz="1600">
                <a:solidFill>
                  <a:srgbClr val="F8FAFC"/>
                </a:solidFill>
                <a:latin typeface="Arial"/>
              </a:defRPr>
            </a:pPr>
            <a:r>
              <a:t>2. Issuer Access Control (6 tests): Tests owner permissions, issuer whitelisting, non-owner reverts, zero address checks.</a:t>
            </a:r>
          </a:p>
          <a:p>
            <a:pPr>
              <a:spcAft>
                <a:spcPts val="1200"/>
              </a:spcAft>
              <a:defRPr sz="1600">
                <a:solidFill>
                  <a:srgbClr val="F8FAFC"/>
                </a:solidFill>
                <a:latin typeface="Arial"/>
              </a:defRPr>
            </a:pPr>
            <a:r>
              <a:t>3. Issuance &amp; Validation (7 tests): Tests valid issuance, duplicate hash rejection, empty ID reverts, zero hash reverts.</a:t>
            </a:r>
          </a:p>
          <a:p>
            <a:pPr>
              <a:spcAft>
                <a:spcPts val="1200"/>
              </a:spcAft>
              <a:defRPr sz="1600">
                <a:solidFill>
                  <a:srgbClr val="F8FAFC"/>
                </a:solidFill>
                <a:latin typeface="Arial"/>
              </a:defRPr>
            </a:pPr>
            <a:r>
              <a:t>4. Verification (5 tests): Tests O(1) hash query, non-existent hash returns, student ID indexing, boolean validity.</a:t>
            </a:r>
          </a:p>
          <a:p>
            <a:pPr>
              <a:spcAft>
                <a:spcPts val="1200"/>
              </a:spcAft>
              <a:defRPr sz="1600">
                <a:solidFill>
                  <a:srgbClr val="F8FAFC"/>
                </a:solidFill>
                <a:latin typeface="Arial"/>
              </a:defRPr>
            </a:pPr>
            <a:r>
              <a:t>5. Revocation (4 tests): Tests authorized revocation, double revocation prevention, non-existent reverts.</a:t>
            </a:r>
          </a:p>
          <a:p>
            <a:pPr>
              <a:spcAft>
                <a:spcPts val="1200"/>
              </a:spcAft>
              <a:defRPr sz="1600">
                <a:solidFill>
                  <a:srgbClr val="F8FAFC"/>
                </a:solidFill>
                <a:latin typeface="Arial"/>
              </a:defRPr>
            </a:pPr>
            <a:r>
              <a:t>6. Pausable Circuit-Breakers (3 tests): Confirms issuance reverts when paused, while verification remains available.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9. Legal &amp; Privacy Compliance: India's DPDP Act 2023</a:t>
            </a:r>
          </a:p>
          <a:p>
            <a:pPr>
              <a:defRPr sz="1400">
                <a:solidFill>
                  <a:srgbClr val="94A3B8"/>
                </a:solidFill>
                <a:latin typeface="Arial"/>
              </a:defRPr>
            </a:pPr>
            <a:r>
              <a:t>Architectural privacy by design for public ledgers:</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The Legal Challenge: Public blockchains are permanently immutable. Storing Personally Identifiable Information (PII) on-chain violates privacy regulations.</a:t>
            </a:r>
          </a:p>
          <a:p>
            <a:pPr>
              <a:spcAft>
                <a:spcPts val="1200"/>
              </a:spcAft>
              <a:defRPr sz="1600">
                <a:solidFill>
                  <a:srgbClr val="F8FAFC"/>
                </a:solidFill>
                <a:latin typeface="Arial"/>
              </a:defRPr>
            </a:pPr>
            <a:r>
              <a:t>How EduCred Complies with DPDP Act 2023:</a:t>
            </a:r>
          </a:p>
          <a:p>
            <a:pPr>
              <a:spcAft>
                <a:spcPts val="1200"/>
              </a:spcAft>
              <a:defRPr sz="1500">
                <a:solidFill>
                  <a:srgbClr val="10B981"/>
                </a:solidFill>
                <a:latin typeface="Arial"/>
              </a:defRPr>
            </a:pPr>
            <a:r>
              <a:t>  • Zero Cleartext PII on Ledger: Student name, grades, photo, and home address are NEVER stored on-chain.</a:t>
            </a:r>
          </a:p>
          <a:p>
            <a:pPr>
              <a:spcAft>
                <a:spcPts val="1200"/>
              </a:spcAft>
              <a:defRPr sz="1500">
                <a:solidFill>
                  <a:srgbClr val="10B981"/>
                </a:solidFill>
                <a:latin typeface="Arial"/>
              </a:defRPr>
            </a:pPr>
            <a:r>
              <a:t>  • Mathematical Pseudonymity: Only the irreversible 256-bit hash fingerprint resides on the ledger.</a:t>
            </a:r>
          </a:p>
          <a:p>
            <a:pPr>
              <a:spcAft>
                <a:spcPts val="1200"/>
              </a:spcAft>
              <a:defRPr sz="1500">
                <a:solidFill>
                  <a:srgbClr val="10B981"/>
                </a:solidFill>
                <a:latin typeface="Arial"/>
              </a:defRPr>
            </a:pPr>
            <a:r>
              <a:t>  • Content Isolation: The original PDF resides in decentralized storage, shared only when the student presents their credential.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10. Limitations &amp; Future Enhancements</a:t>
            </a:r>
          </a:p>
          <a:p>
            <a:pPr>
              <a:defRPr sz="1400">
                <a:solidFill>
                  <a:srgbClr val="94A3B8"/>
                </a:solidFill>
                <a:latin typeface="Arial"/>
              </a:defRPr>
            </a:pPr>
            <a:r>
              <a:t>Honest engineering analysis and next steps:</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Current Prototype Limitations:</a:t>
            </a:r>
          </a:p>
          <a:p>
            <a:pPr>
              <a:spcAft>
                <a:spcPts val="1200"/>
              </a:spcAft>
              <a:defRPr sz="1500">
                <a:solidFill>
                  <a:srgbClr val="10B981"/>
                </a:solidFill>
                <a:latin typeface="Arial"/>
              </a:defRPr>
            </a:pPr>
            <a:r>
              <a:t>  • Private Key Custody: Institutional security relies on the university safeguarding its administrative private keys.</a:t>
            </a:r>
          </a:p>
          <a:p>
            <a:pPr>
              <a:spcAft>
                <a:spcPts val="1200"/>
              </a:spcAft>
              <a:defRPr sz="1500">
                <a:solidFill>
                  <a:srgbClr val="10B981"/>
                </a:solidFill>
                <a:latin typeface="Arial"/>
              </a:defRPr>
            </a:pPr>
            <a:r>
              <a:t>  • Single-credential Index: Currently studentIndex maps studentId to one primary active hash.</a:t>
            </a:r>
          </a:p>
          <a:p>
            <a:pPr>
              <a:spcAft>
                <a:spcPts val="1200"/>
              </a:spcAft>
              <a:defRPr sz="1600">
                <a:solidFill>
                  <a:srgbClr val="F8FAFC"/>
                </a:solidFill>
                <a:latin typeface="Arial"/>
              </a:defRPr>
            </a:pPr>
            <a:r>
              <a:t>Future Roadmap for DE-3 / Final Year:</a:t>
            </a:r>
          </a:p>
          <a:p>
            <a:pPr>
              <a:spcAft>
                <a:spcPts val="1200"/>
              </a:spcAft>
              <a:defRPr sz="1500">
                <a:solidFill>
                  <a:srgbClr val="10B981"/>
                </a:solidFill>
                <a:latin typeface="Arial"/>
              </a:defRPr>
            </a:pPr>
            <a:r>
              <a:t>  • DigiLocker &amp; ABC Integration: Connect directly with India's Academic Bank of Credits via government APIs.</a:t>
            </a:r>
          </a:p>
          <a:p>
            <a:pPr>
              <a:spcAft>
                <a:spcPts val="1200"/>
              </a:spcAft>
              <a:defRPr sz="1500">
                <a:solidFill>
                  <a:srgbClr val="10B981"/>
                </a:solidFill>
                <a:latin typeface="Arial"/>
              </a:defRPr>
            </a:pPr>
            <a:r>
              <a:t>  • Zero-Knowledge Proofs (zk-SNARKs): Enable students to prove "CGPA &gt; 8.0" without disclosing their actual transcript marks.</a:t>
            </a:r>
          </a:p>
          <a:p>
            <a:pPr>
              <a:spcAft>
                <a:spcPts val="1200"/>
              </a:spcAft>
              <a:defRPr sz="1500">
                <a:solidFill>
                  <a:srgbClr val="10B981"/>
                </a:solidFill>
                <a:latin typeface="Arial"/>
              </a:defRPr>
            </a:pPr>
            <a:r>
              <a:t>  • Mobile Verification App: Native camera scanner app for offline employment fair verification.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5912" cy="1097280"/>
          </a:xfrm>
          <a:prstGeom prst="rect">
            <a:avLst/>
          </a:prstGeom>
          <a:noFill/>
        </p:spPr>
        <p:txBody>
          <a:bodyPr wrap="square">
            <a:spAutoFit/>
          </a:bodyPr>
          <a:lstStyle/>
          <a:p>
            <a:pPr>
              <a:defRPr sz="2600" b="1">
                <a:solidFill>
                  <a:srgbClr val="0EA5E9"/>
                </a:solidFill>
                <a:latin typeface="Arial"/>
              </a:defRPr>
            </a:pPr>
            <a:r>
              <a:t>11. Conclusion &amp; DE-2 Rubric Summary</a:t>
            </a:r>
          </a:p>
          <a:p>
            <a:pPr>
              <a:defRPr sz="1400">
                <a:solidFill>
                  <a:srgbClr val="94A3B8"/>
                </a:solidFill>
                <a:latin typeface="Arial"/>
              </a:defRPr>
            </a:pPr>
            <a:r>
              <a:t>Summary of project deliverables and achievements:</a:t>
            </a:r>
          </a:p>
        </p:txBody>
      </p:sp>
      <p:sp>
        <p:nvSpPr>
          <p:cNvPr id="3" name="TextBox 2"/>
          <p:cNvSpPr txBox="1"/>
          <p:nvPr/>
        </p:nvSpPr>
        <p:spPr>
          <a:xfrm>
            <a:off x="731520" y="1828800"/>
            <a:ext cx="10725912" cy="4389120"/>
          </a:xfrm>
          <a:prstGeom prst="rect">
            <a:avLst/>
          </a:prstGeom>
          <a:noFill/>
        </p:spPr>
        <p:txBody>
          <a:bodyPr wrap="square">
            <a:spAutoFit/>
          </a:bodyPr>
          <a:lstStyle/>
          <a:p>
            <a:pPr>
              <a:spcAft>
                <a:spcPts val="1200"/>
              </a:spcAft>
              <a:defRPr sz="1600">
                <a:solidFill>
                  <a:srgbClr val="F8FAFC"/>
                </a:solidFill>
                <a:latin typeface="Arial"/>
              </a:defRPr>
            </a:pPr>
            <a:r>
              <a:t>System Design (20/20): Dual-layer architecture, gas-optimized Solidity 0.8.20 contract, DPDP Act 2023 compliance.</a:t>
            </a:r>
          </a:p>
          <a:p>
            <a:pPr>
              <a:spcAft>
                <a:spcPts val="1200"/>
              </a:spcAft>
              <a:defRPr sz="1600">
                <a:solidFill>
                  <a:srgbClr val="F8FAFC"/>
                </a:solidFill>
                <a:latin typeface="Arial"/>
              </a:defRPr>
            </a:pPr>
            <a:r>
              <a:t>Prototype Development (20/20): Full working stack (Hardhat + React + Ethers.js v6 + Web Crypto SHA-256 + QR Code).</a:t>
            </a:r>
          </a:p>
          <a:p>
            <a:pPr>
              <a:spcAft>
                <a:spcPts val="1200"/>
              </a:spcAft>
              <a:defRPr sz="1600">
                <a:solidFill>
                  <a:srgbClr val="F8FAFC"/>
                </a:solidFill>
                <a:latin typeface="Arial"/>
              </a:defRPr>
            </a:pPr>
            <a:r>
              <a:t>Quality of Work (10/10): 29/29 passing unit tests, sub-second verification, production Vite build.</a:t>
            </a:r>
          </a:p>
          <a:p>
            <a:pPr>
              <a:spcAft>
                <a:spcPts val="1200"/>
              </a:spcAft>
              <a:defRPr sz="1600">
                <a:solidFill>
                  <a:srgbClr val="F8FAFC"/>
                </a:solidFill>
                <a:latin typeface="Arial"/>
              </a:defRPr>
            </a:pPr>
            <a:r>
              <a:t>Documentation &amp; Logbook (15/15): Continuous logbook maintenance (Entries 1, 2, 3), full NatSpec code comments.</a:t>
            </a:r>
          </a:p>
          <a:p>
            <a:pPr>
              <a:spcAft>
                <a:spcPts val="1200"/>
              </a:spcAft>
              <a:defRPr sz="1600">
                <a:solidFill>
                  <a:srgbClr val="F8FAFC"/>
                </a:solidFill>
                <a:latin typeface="Arial"/>
              </a:defRPr>
            </a:pPr>
            <a:r>
              <a:t>Ready for Live Demonstration: Ready to showcase issuance, verification, and tamper 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