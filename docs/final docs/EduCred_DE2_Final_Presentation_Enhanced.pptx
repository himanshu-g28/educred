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23"/>
    <p:sldId id="273" r:id="rId24"/>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7d4489d-0b0c-d3c0-1a42-33b0954af354}">
          <p14:sldIdLst>
            <p14:sldId id="256"/>
          </p14:sldIdLst>
        </p14:section>
        <p14:section name="Problem &amp; Approach" id="{9db9c92e-b198-73b0-4916-df1434c53d64}">
          <p14:sldIdLst>
            <p14:sldId id="257"/>
            <p14:sldId id="258"/>
            <p14:sldId id="259"/>
          </p14:sldIdLst>
        </p14:section>
        <p14:section name="Literature &amp; Design" id="{114016dd-5331-2dc3-ac0a-6546b867d834}">
          <p14:sldIdLst>
            <p14:sldId id="260"/>
            <p14:sldId id="261"/>
            <p14:sldId id="262"/>
            <p14:sldId id="263"/>
          </p14:sldIdLst>
        </p14:section>
        <p14:section name="Evaluation" id="{39277894-5ba2-635c-047e-e91d91dea676}">
          <p14:sldIdLst>
            <p14:sldId id="264"/>
            <p14:sldId id="265"/>
            <p14:sldId id="266"/>
          </p14:sldIdLst>
        </p14:section>
        <p14:section name="Compliance &amp; Team" id="{49b9d9f7-c213-ac7c-3935-b60f3ccddf0b}">
          <p14:sldIdLst>
            <p14:sldId id="267"/>
            <p14:sldId id="268"/>
          </p14:sldIdLst>
        </p14:section>
        <p14:section name="Conclusion" id="{eabb92cd-f502-5e3e-0274-806e91e190dc}">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B3A"/>
                </a:solidFill>
                <a:latin typeface="+mn-lt"/>
              </a:defRPr>
            </a:pPr>
            <a:r>
              <a:rPr sz="1400" b="0" i="0" u="none" strike="noStrike">
                <a:solidFill>
                  <a:srgbClr val="0B1B3A"/>
                </a:solidFill>
                <a:latin typeface="+mn-lt"/>
              </a:rPr>
              <a:t>Bits flipped by a 1-character grade edit (%)</a:t>
            </a:r>
          </a:p>
        </c:rich>
      </c:tx>
      <c:layout/>
      <c:overlay val="0"/>
    </c:title>
    <c:autoTitleDeleted val="0"/>
    <c:plotArea>
      <c:layout/>
      <c:barChart>
        <c:barDir val="col"/>
        <c:grouping val="clustered"/>
        <c:varyColors val="0"/>
        <c:ser>
          <c:idx val="0"/>
          <c:order val="0"/>
          <c:tx>
            <c:strRef>
              <c:f>Sheet1!$B$1</c:f>
              <c:strCache>
                <c:ptCount val="1"/>
                <c:pt idx="0">
                  <c:v>Bits flipped (%)</c:v>
                </c:pt>
              </c:strCache>
            </c:strRef>
          </c:tx>
          <c:spPr>
            <a:solidFill>
              <a:srgbClr val="0F766E"/>
            </a:solidFill>
            <a:effectLst/>
          </c:spPr>
          <c:invertIfNegative val="0"/>
          <c:dLbls>
            <c:numFmt formatCode="0.0&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Bytes 0-7</c:v>
                  </c:pt>
                  <c:pt idx="1">
                    <c:v>Bytes 8-15</c:v>
                  </c:pt>
                  <c:pt idx="2">
                    <c:v>Bytes 16-23</c:v>
                  </c:pt>
                  <c:pt idx="3">
                    <c:v>Bytes 24-31</c:v>
                  </c:pt>
                  <c:pt idx="4">
                    <c:v>Total hash</c:v>
                  </c:pt>
                </c:lvl>
              </c:multiLvlStrCache>
            </c:multiLvlStrRef>
          </c:cat>
          <c:val>
            <c:numRef>
              <c:f>Sheet1!$B$2:$B$6</c:f>
              <c:numCache>
                <c:formatCode>General</c:formatCode>
                <c:ptCount val="5"/>
                <c:pt idx="0">
                  <c:v>48.4</c:v>
                </c:pt>
                <c:pt idx="1">
                  <c:v>51.6</c:v>
                </c:pt>
                <c:pt idx="2">
                  <c:v>53.1</c:v>
                </c:pt>
                <c:pt idx="3">
                  <c:v>46.9</c:v>
                </c:pt>
                <c:pt idx="4">
                  <c:v>50</c:v>
                </c:pt>
              </c:numCache>
            </c:numRef>
          </c:val>
        </c:ser>
        <c:dLbls>
          <c:numFmt formatCode="0.0&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55"/>
        <c:overlap val="0"/>
        <c:axId val="2094734554"/>
        <c:axId val="2094734552"/>
        <c:axId val="2094734556"/>
      </c:barChart>
      <c:lineChart>
        <c:varyColors val="0"/>
        <c:ser>
          <c:idx val="1"/>
          <c:order val="1"/>
          <c:tx>
            <c:strRef>
              <c:f>Sheet1!$C$1</c:f>
              <c:strCache>
                <c:ptCount val="1"/>
                <c:pt idx="0">
                  <c:v>Strict Avalanche ideal (50%)</c:v>
                </c:pt>
              </c:strCache>
            </c:strRef>
          </c:tx>
          <c:spPr>
            <a:solidFill>
              <a:srgbClr val="DC2626"/>
            </a:solidFill>
            <a:ln w="25400" cap="flat">
              <a:solidFill>
                <a:srgbClr val="DC26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C2626"/>
              </a:solidFill>
              <a:ln w="9525" cap="flat">
                <a:solidFill>
                  <a:srgbClr val="DC2626"/>
                </a:solidFill>
                <a:prstDash val="solid"/>
                <a:round/>
              </a:ln>
              <a:effectLst/>
            </c:spPr>
          </c:marker>
          <c:cat>
            <c:multiLvlStrRef>
              <c:f>Sheet1!$A$2:$A$6</c:f>
              <c:multiLvlStrCache>
                <c:ptCount val="5"/>
                <c:lvl>
                  <c:pt idx="0">
                    <c:v>Bytes 0-7</c:v>
                  </c:pt>
                  <c:pt idx="1">
                    <c:v>Bytes 8-15</c:v>
                  </c:pt>
                  <c:pt idx="2">
                    <c:v>Bytes 16-23</c:v>
                  </c:pt>
                  <c:pt idx="3">
                    <c:v>Bytes 24-31</c:v>
                  </c:pt>
                  <c:pt idx="4">
                    <c:v>Total hash</c:v>
                  </c:pt>
                </c:lvl>
              </c:multiLvlStrCache>
            </c:multiLvlStrRef>
          </c:cat>
          <c:val>
            <c:numRef>
              <c:f>Sheet1!$C$2:$C$6</c:f>
              <c:numCache>
                <c:formatCode>General</c:formatCode>
                <c:ptCount val="5"/>
                <c:pt idx="0">
                  <c:v>50</c:v>
                </c:pt>
                <c:pt idx="1">
                  <c:v>50</c:v>
                </c:pt>
                <c:pt idx="2">
                  <c:v>50</c:v>
                </c:pt>
                <c:pt idx="3">
                  <c:v>50</c:v>
                </c:pt>
                <c:pt idx="4">
                  <c:v>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64748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B3A"/>
                </a:solidFill>
                <a:latin typeface="+mn-lt"/>
              </a:defRPr>
            </a:pPr>
            <a:r>
              <a:rPr sz="1400" b="0" i="0" u="none" strike="noStrike">
                <a:solidFill>
                  <a:srgbClr val="0B1B3A"/>
                </a:solidFill>
                <a:latin typeface="+mn-lt"/>
              </a:rPr>
              <a:t>Gas used per operation</a:t>
            </a:r>
          </a:p>
        </c:rich>
      </c:tx>
      <c:layout/>
      <c:overlay val="0"/>
    </c:title>
    <c:autoTitleDeleted val="0"/>
    <c:plotArea>
      <c:layout/>
      <c:barChart>
        <c:barDir val="col"/>
        <c:grouping val="clustered"/>
        <c:varyColors val="0"/>
        <c:ser>
          <c:idx val="0"/>
          <c:order val="0"/>
          <c:tx>
            <c:strRef>
              <c:f>Sheet1!$B$1</c:f>
              <c:strCache>
                <c:ptCount val="1"/>
                <c:pt idx="0">
                  <c:v>Gas used</c:v>
                </c:pt>
              </c:strCache>
            </c:strRef>
          </c:tx>
          <c:spPr>
            <a:solidFill>
              <a:srgbClr val="0F766E"/>
            </a:solidFill>
            <a:effectLst/>
          </c:spPr>
          <c:invertIfNegative val="0"/>
          <c:dLbls>
            <c:numFmt formatCode="#,##0" sourceLinked="0"/>
            <c:txPr>
              <a:bodyPr/>
              <a:lstStyle/>
              <a:p>
                <a:pPr>
                  <a:defRPr b="0" i="0" strike="noStrike" sz="1300" u="none">
                    <a:solidFill>
                      <a:srgbClr val="0B1B3A"/>
                    </a:solidFill>
                    <a:latin typeface="+mn-lt"/>
                  </a:defRPr>
                </a:pPr>
              </a:p>
            </c:txPr>
            <c:showLegendKey val="0"/>
            <c:showVal val="1"/>
            <c:showCatName val="0"/>
            <c:showSerName val="0"/>
            <c:showPercent val="0"/>
            <c:showBubbleSize val="0"/>
            <c:showLeaderLines val="0"/>
          </c:dLbls>
          <c:dPt>
            <c:idx val="0"/>
            <c:invertIfNegative val="0"/>
            <c:bubble3D val="0"/>
            <c:spPr>
              <a:solidFill>
                <a:srgbClr val="0F766E"/>
              </a:solidFill>
              <a:effectLst/>
            </c:spPr>
          </c:dPt>
          <c:dPt>
            <c:idx val="1"/>
            <c:invertIfNegative val="0"/>
            <c:bubble3D val="0"/>
            <c:spPr>
              <a:solidFill>
                <a:srgbClr val="16A34A"/>
              </a:solidFill>
              <a:effectLst/>
            </c:spPr>
          </c:dPt>
          <c:dPt>
            <c:idx val="2"/>
            <c:invertIfNegative val="0"/>
            <c:bubble3D val="0"/>
            <c:spPr>
              <a:solidFill>
                <a:srgbClr val="64748B"/>
              </a:solidFill>
              <a:effectLst/>
            </c:spPr>
          </c:dPt>
          <c:cat>
            <c:multiLvlStrRef>
              <c:f>Sheet1!$A$2:$A$4</c:f>
              <c:multiLvlStrCache>
                <c:ptCount val="3"/>
                <c:lvl>
                  <c:pt idx="0">
                    <c:v>Single issuance</c:v>
                  </c:pt>
                  <c:pt idx="1">
                    <c:v>Batch issuance (per cert)</c:v>
                  </c:pt>
                  <c:pt idx="2">
                    <c:v>Revoke credential</c:v>
                  </c:pt>
                </c:lvl>
              </c:multiLvlStrCache>
            </c:multiLvlStrRef>
          </c:cat>
          <c:val>
            <c:numRef>
              <c:f>Sheet1!$B$2:$B$4</c:f>
              <c:numCache>
                <c:formatCode>General</c:formatCode>
                <c:ptCount val="3"/>
                <c:pt idx="0">
                  <c:v>68420</c:v>
                </c:pt>
                <c:pt idx="1">
                  <c:v>52100</c:v>
                </c:pt>
                <c:pt idx="2">
                  <c:v>31250</c:v>
                </c:pt>
              </c:numCache>
            </c:numRef>
          </c:val>
        </c:ser>
        <c:dLbls>
          <c:numFmt formatCode="#,##0" sourceLinked="0"/>
          <c:txPr>
            <a:bodyPr/>
            <a:lstStyle/>
            <a:p>
              <a:pPr>
                <a:defRPr b="0" i="0" strike="noStrike" sz="1300" u="none">
                  <a:solidFill>
                    <a:srgbClr val="0B1B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80000"/>
          <c:min val="0"/>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200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faculty coordinator Dr. Srikanth Pullipeti and evaluators. We are the student engineering team for Design Experience II: Himanshu Garg (E250), Manthan Patil (E323), and Vaishnavi Mali (B348). Today we are presenting our final project: EduCred: Blockchain-Enabled Framework for Secure Educational Credentials in India. This project presents a production-grade, decentralized credential issuance and instant verification framework that eliminates certificate forgery while adhering strictly to India's DPDP Act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Chapter 1, we establish the real-world crisis: over 40 million students are enrolled in Indian higher education. Yet, background screening audits indicate that 14% of job applications feature manipulated degrees. Verification today requires 14 to 30 days of manual back-and-forth between employers and registrar exam desks. Centralized databases present single points of failure, while emailing unencrypted transcripts violates India's new DPDP Act 2023. EduCred solves this complete problem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breaks the traditional blockchain paradox. If you store complete PDFs on Ethereum, transaction fees exceed $80 per certificate. EduCred solves this through a dual-layer hybrid architecture: Hash-on-Chain and Content-off-Chain. Only a 32-byte cryptographic SHA-256 fingerprint is recorded on-chain, while the document resides off-chain in IPFS. This guarantees sub-second O(1) verification, zero gas fees for verifiers, and complete compliance with the DPDP Act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breaks the traditional blockchain paradox. If you store complete PDFs on Ethereum, transaction fees exceed $80 per certificate. EduCred solves this through a dual-layer hybrid architecture: Hash-on-Chain and Content-off-Chain. Only a 32-byte cryptographic SHA-256 fingerprint is recorded on-chain, while the document resides off-chain in IPFS. This guarantees sub-second O(1) verification, zero gas fees for verifiers, and complete compliance with the DPDP Act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synthesizes eight existing frameworks across the literature. While DigiLocker is a great step forward, it relies on centralized institutional APIs and centralized PKI. Academic projects like Roy &amp; Mahindru stored raw student names and marks on Ethereum, which leaked sensitive personal data and cost over $80 per transaction. EduCred achieves the highest composite score by eliminating on-chain PII, providing free instant verification, and preserving permanent revocation audit trails.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our end-to-end data flow. When the university exam cell issues a certificate, the browser computes the SHA-256 hash locally in 15 milliseconds using the W3C Web Crypto API. The PDF is stored off-chain on IPFS, and only the 32-byte hash and student SAP ID are written to the smart contract. When a recruiter receives a PDF, they simply drop it into the portal. The browser hashes it locally and calls verifyByHash. The EVM returns the exact issuance record in O(1) constant time with zero 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smart contract design. CredentialRegistry.sol is written in Solidity 0.8.20 and inherits OpenZeppelin v5 contracts: Ownable, Pausable, and ReentrancyGuard. Our data model centers around a primary mapping from bytes32 to Credential, which gives us O(1) constant-time lookups. Notice our state machine: credentials transition from Draft to Active. If a credential must be revoked, we flip isRevoked to true instead of deleting the storage slot. This ensures an immutable forensic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frontend, we engineered a clean, single-page Web3 dashboard using React 18, Vite, and Tailwind CSS. The interface is divided into three intuitive panels: Issuance, Verification, and Admin. For employers, verification requires zero Web3 knowledge—no wallet, no crypto, and no browser extension needed. They simply drop any received PDF into the portal, and the system verifies it against the blockchain in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satisfy IEEE 730 software quality standards, we constructed a comprehensive automated unit test suite containing 29 test scenarios in Mocha and Chai. Every single test passed in just 317 milliseconds. The suite thoroughly tests state initialization, role-based access control, duplicate hash reverts, batch array boundary checks, double-revocation prevention, and emergency pause circuit-breakers.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provides empirical proof of our tamper detection. We conducted an experiment using two actual PDF grade cards: an authentic card with a CGPA of 9.42, and a counterfeit where we changed just one character to 9.99. Looking at our bit-by-bit Hamming distance analysis, altering that single character flipped exactly 128 out of 256 bits—precisely 50.0%. This matches the theoretical ideal of the Strict Avalanche Criterion, proving that any grade alteration is mathematically caught on-chain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 feasibility is critical for university adoption. We profiled the gas consumption across every function. Deploying the contract takes 1.18 million gas—on Polygon, that costs only 2 cents. Issuing a single certificate takes 68,420 gas, which costs about 10 Indian paise ($0.0012). With batch issuance, we reduced this to 52,100 gas—a 23.8% cost savings. Most importantly, verifying a degree consumes 0 gas, meaning employers verify credentials completely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critical differentiator of our project is strict compliance with India's DPDP Act 2023. Other academic papers made the fatal mistake of storing student names and marks on the public blockchain, violating the Right to Erasure. EduCred stores zero personal data on-chain—only a 32-byte irreversible hash. If a student exercises their right to erasure, the off-chain PDF can be deleted, leaving the on-chain hash an orphan that cannot be reverse-engineered.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Chapter 5, we present our team structure and the Individual Evidence Register (IER). Himanshu led the decentralized architecture and smart contract; Manthan engineered the React Web3 frontend and dynamic QR code generation; and Vaishnavi led our 29-case automated testing and DPDP Act legal compliance audit. This clear division of responsibilities ensured rigorous engineering across all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EduCred demonstrates that blockchain and client-side cryptographic hashing can completely eliminate credential forgery while slashing verification turnaround from weeks to seconds with zero cost to employers. For Design Experience III, our roadmap expands to live deployment on Polygon Amoy, building an automated middleware bridge to DigiLocker and university SAP ERPs, and integrating Zero-Knowledge zk-SNARK circuits so students can prove their eligibility without revealing their full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EduCred demonstrates that blockchain and client-side cryptographic hashing can completely eliminate credential forgery while slashing verification turnaround from weeks to seconds with zero cost to employers. For Design Experience III, our roadmap expands to live deployment on Polygon Amoy, building an automated middleware bridge to DigiLocker and university SAP ERPs, and integrating Zero-Knowledge zk-SNARK circuits so students can prove their eligibility without revealing their full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respected evaluators. I am now ready to conduct the live prototype demonstration showing the three steps: issuing an authentic grade card, verifying it instantly with zero gas, and testing our 1-character tampered grade card to demonstrate instant Strict Avalanche forgery detection. I welcome your questions for the viva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56032"/>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EduCred  |  DE-II Final Project Defense  |  MPSTME, NMIMS Shirpur</a:t>
            </a:r>
            <a:endParaRPr lang="en-US" sz="1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body" hasCustomPrompt="1"/>
          </p:nvPr>
        </p:nvSpPr>
        <p:spPr>
          <a:xfrm>
            <a:off x="548640" y="292608"/>
            <a:ext cx="11094415" cy="256032"/>
          </a:xfrm>
          <a:prstGeom prst="rect">
            <a:avLst/>
          </a:prstGeom>
          <a:noFill/>
          <a:ln/>
        </p:spPr>
        <p:txBody>
          <a:bodyPr wrap="square" rtlCol="0"/>
          <a:lstStyle>
            <a:lvl1pPr algn="l" indent="0" marL="0">
              <a:buNone/>
              <a:defRPr lang="en-US" sz="1200" b="1" spc="200" kern="0" dirty="0">
                <a:solidFill>
                  <a:schemeClr val="accent5"/>
                </a:solidFill>
              </a:defRPr>
            </a:lvl1pPr>
          </a:lstStyle>
          <a:p>
            <a:pPr algn="l" indent="0" marL="0">
              <a:buNone/>
            </a:pPr>
            <a:endParaRPr lang="en-US" sz="1200" dirty="0"/>
          </a:p>
        </p:txBody>
      </p:sp>
      <p:sp>
        <p:nvSpPr>
          <p:cNvPr id="4" name="Text 1"/>
          <p:cNvSpPr/>
          <p:nvPr>
            <p:ph idx="102" type="title" hasCustomPrompt="1"/>
          </p:nvPr>
        </p:nvSpPr>
        <p:spPr>
          <a:xfrm>
            <a:off x="548640" y="566928"/>
            <a:ext cx="11094415"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5" name="Text 1"/>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EduCred  |  DE-II Final Project Defense  |  MPSTME, NMIMS Shirpur</a:t>
            </a:r>
            <a:endParaRPr lang="en-US" sz="1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body" hasCustomPrompt="1"/>
          </p:nvPr>
        </p:nvSpPr>
        <p:spPr>
          <a:xfrm>
            <a:off x="548640" y="548640"/>
            <a:ext cx="10058400" cy="274320"/>
          </a:xfrm>
          <a:prstGeom prst="rect">
            <a:avLst/>
          </a:prstGeom>
          <a:noFill/>
          <a:ln/>
        </p:spPr>
        <p:txBody>
          <a:bodyPr wrap="square" rtlCol="0"/>
          <a:lstStyle>
            <a:lvl1pPr algn="l" indent="0" marL="0">
              <a:buNone/>
              <a:defRPr lang="en-US" sz="1200" b="1" spc="300" kern="0" dirty="0">
                <a:solidFill>
                  <a:schemeClr val="accent5"/>
                </a:solidFill>
              </a:defRPr>
            </a:lvl1pPr>
          </a:lstStyle>
          <a:p>
            <a:pPr algn="l" indent="0" marL="0">
              <a:buNone/>
            </a:pPr>
            <a:endParaRPr lang="en-US" sz="1200" dirty="0"/>
          </a:p>
        </p:txBody>
      </p:sp>
      <p:sp>
        <p:nvSpPr>
          <p:cNvPr id="4" name="Text 1"/>
          <p:cNvSpPr/>
          <p:nvPr>
            <p:ph idx="102" type="title" hasCustomPrompt="1"/>
          </p:nvPr>
        </p:nvSpPr>
        <p:spPr>
          <a:xfrm>
            <a:off x="548640" y="1097280"/>
            <a:ext cx="8046720" cy="21945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5" name="Text 1"/>
          <p:cNvSpPr/>
          <p:nvPr>
            <p:ph idx="103" type="body" hasCustomPrompt="1"/>
          </p:nvPr>
        </p:nvSpPr>
        <p:spPr>
          <a:xfrm>
            <a:off x="548640" y="3429000"/>
            <a:ext cx="8046720" cy="73152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 Id="rId7"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 Id="rId8"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txBox="1"/>
          <p:nvPr>
            <p:ph idx="101" type="body" hasCustomPrompt="1"/>
          </p:nvPr>
        </p:nvSpPr>
        <p:spPr>
          <a:xfrm>
            <a:off x="548640" y="548640"/>
            <a:ext cx="10058400" cy="274320"/>
          </a:xfrm>
          <a:prstGeom prst="rect">
            <a:avLst/>
          </a:prstGeom>
          <a:noFill/>
          <a:ln/>
        </p:spPr>
        <p:txBody>
          <a:bodyPr wrap="square" lIns="0" tIns="0" rIns="0" bIns="0" rtlCol="0" anchor="t"/>
          <a:lstStyle/>
          <a:p>
            <a:pPr algn="l" indent="0" marL="0">
              <a:buNone/>
            </a:pPr>
            <a:r>
              <a:rPr lang="en-US" sz="1200" b="1" spc="300" kern="0" dirty="0">
                <a:solidFill>
                  <a:schemeClr val="accent5"/>
                </a:solidFill>
              </a:rPr>
              <a:t>DESIGN EXPERIENCE II (DE-2)  |  FINAL PROJECT DEFENSE  |  AY 2026-27</a:t>
            </a:r>
            <a:endParaRPr lang="en-US" sz="1200" dirty="0"/>
          </a:p>
        </p:txBody>
      </p:sp>
      <p:sp>
        <p:nvSpPr>
          <p:cNvPr id="3" name="Text 1"/>
          <p:cNvSpPr/>
          <p:nvPr>
            <p:ph idx="102" type="title" hasCustomPrompt="1"/>
          </p:nvPr>
        </p:nvSpPr>
        <p:spPr>
          <a:xfrm>
            <a:off x="548640" y="1097280"/>
            <a:ext cx="8046720" cy="2194560"/>
          </a:xfrm>
          <a:prstGeom prst="rect">
            <a:avLst/>
          </a:prstGeom>
          <a:noFill/>
          <a:ln/>
        </p:spPr>
        <p:txBody>
          <a:bodyPr wrap="square" lIns="0" tIns="0" rIns="0" bIns="0" rtlCol="0" anchor="t"/>
          <a:lstStyle/>
          <a:p>
            <a:pPr algn="l" indent="0" marL="0">
              <a:buNone/>
            </a:pPr>
            <a:r>
              <a:rPr lang="en-US" sz="5600" b="1" dirty="0">
                <a:solidFill>
                  <a:schemeClr val="accent5"/>
                </a:solidFill>
              </a:rPr>
              <a:t>EduCred</a:t>
            </a:r>
            <a:endParaRPr lang="en-US" sz="3000" dirty="0"/>
          </a:p>
          <a:p>
            <a:pPr algn="l" indent="0" marL="0">
              <a:buNone/>
            </a:pPr>
            <a:r>
              <a:rPr lang="en-US" sz="3000" b="1" dirty="0">
                <a:solidFill>
                  <a:schemeClr val="bg1"/>
                </a:solidFill>
              </a:rPr>
              <a:t>Blockchain-Enabled Framework for Secure Educational Credentials in India</a:t>
            </a:r>
            <a:endParaRPr lang="en-US" sz="3000" dirty="0"/>
          </a:p>
        </p:txBody>
      </p:sp>
      <p:sp>
        <p:nvSpPr>
          <p:cNvPr id="4" name="Text 1"/>
          <p:cNvSpPr txBox="1"/>
          <p:nvPr>
            <p:ph idx="103" type="body" hasCustomPrompt="1"/>
          </p:nvPr>
        </p:nvSpPr>
        <p:spPr>
          <a:xfrm>
            <a:off x="548640" y="3429000"/>
            <a:ext cx="8046720" cy="731520"/>
          </a:xfrm>
          <a:prstGeom prst="rect">
            <a:avLst/>
          </a:prstGeom>
          <a:noFill/>
          <a:ln/>
        </p:spPr>
        <p:txBody>
          <a:bodyPr wrap="square" lIns="0" tIns="0" rIns="0" bIns="0" rtlCol="0" anchor="t"/>
          <a:lstStyle/>
          <a:p>
            <a:pPr algn="l" indent="0" marL="0">
              <a:buNone/>
            </a:pPr>
            <a:r>
              <a:rPr lang="en-US" sz="1600" dirty="0">
                <a:solidFill>
                  <a:schemeClr val="bg2"/>
                </a:solidFill>
              </a:rPr>
              <a:t>A dual-layer hybrid architecture (hash-on-chain, content-off-chain) with instant O(1) verification and DPDP Act 2023 compliance</a:t>
            </a:r>
            <a:endParaRPr lang="en-US" sz="1600" dirty="0"/>
          </a:p>
        </p:txBody>
      </p:sp>
      <p:sp>
        <p:nvSpPr>
          <p:cNvPr id="5" name="Program line"/>
          <p:cNvSpPr txBox="1"/>
          <p:nvPr/>
        </p:nvSpPr>
        <p:spPr>
          <a:xfrm>
            <a:off x="548640" y="4114800"/>
            <a:ext cx="8046720" cy="274320"/>
          </a:xfrm>
          <a:prstGeom prst="rect">
            <a:avLst/>
          </a:prstGeom>
          <a:noFill/>
          <a:ln/>
        </p:spPr>
        <p:txBody>
          <a:bodyPr wrap="square" lIns="0" tIns="0" rIns="0" bIns="0" rtlCol="0" anchor="t"/>
          <a:lstStyle/>
          <a:p>
            <a:pPr algn="l" indent="0" marL="0">
              <a:buNone/>
            </a:pPr>
            <a:r>
              <a:rPr lang="en-US" sz="1400" b="1" dirty="0">
                <a:solidFill>
                  <a:schemeClr val="accent5"/>
                </a:solidFill>
              </a:rPr>
              <a:t>Third Year B.Tech (Semester V)   |   Vertical: Industry Research</a:t>
            </a:r>
            <a:endParaRPr lang="en-US" sz="1400" dirty="0"/>
          </a:p>
        </p:txBody>
      </p:sp>
      <p:sp>
        <p:nvSpPr>
          <p:cNvPr id="6" name="Ring outer"/>
          <p:cNvSpPr/>
          <p:nvPr/>
        </p:nvSpPr>
        <p:spPr>
          <a:xfrm>
            <a:off x="9281160" y="1097280"/>
            <a:ext cx="2286000" cy="2286000"/>
          </a:xfrm>
          <a:prstGeom prst="ellipse">
            <a:avLst/>
          </a:prstGeom>
          <a:solidFill>
            <a:schemeClr val="accent1"/>
          </a:solidFill>
          <a:ln/>
        </p:spPr>
      </p:sp>
      <p:sp>
        <p:nvSpPr>
          <p:cNvPr id="7" name="Ring inner"/>
          <p:cNvSpPr/>
          <p:nvPr/>
        </p:nvSpPr>
        <p:spPr>
          <a:xfrm>
            <a:off x="9509760" y="1325880"/>
            <a:ext cx="1828800" cy="1828800"/>
          </a:xfrm>
          <a:prstGeom prst="ellipse">
            <a:avLst/>
          </a:prstGeom>
          <a:solidFill>
            <a:schemeClr val="tx2"/>
          </a:solidFill>
          <a:ln/>
        </p:spPr>
      </p:sp>
      <p:pic>
        <p:nvPicPr>
          <p:cNvPr id="8" name="Shield icon" descr="Shield icon">    </p:cNvPr>
          <p:cNvPicPr>
            <a:picLocks noChangeAspect="1"/>
          </p:cNvPicPr>
          <p:nvPr/>
        </p:nvPicPr>
        <p:blipFill>
          <a:blip r:embed="rId1"/>
          <a:stretch>
            <a:fillRect/>
          </a:stretch>
        </p:blipFill>
        <p:spPr>
          <a:xfrm>
            <a:off x="9921240" y="1737360"/>
            <a:ext cx="1005840" cy="1005840"/>
          </a:xfrm>
          <a:prstGeom prst="rect">
            <a:avLst/>
          </a:prstGeom>
        </p:spPr>
      </p:pic>
      <p:sp>
        <p:nvSpPr>
          <p:cNvPr id="9" name="Hash caption"/>
          <p:cNvSpPr txBox="1"/>
          <p:nvPr/>
        </p:nvSpPr>
        <p:spPr>
          <a:xfrm>
            <a:off x="8915400" y="3429000"/>
            <a:ext cx="3017520" cy="274320"/>
          </a:xfrm>
          <a:prstGeom prst="rect">
            <a:avLst/>
          </a:prstGeom>
          <a:noFill/>
          <a:ln/>
        </p:spPr>
        <p:txBody>
          <a:bodyPr wrap="square" lIns="0" tIns="0" rIns="0" bIns="0" rtlCol="0" anchor="t"/>
          <a:lstStyle/>
          <a:p>
            <a:pPr algn="ctr" indent="0" marL="0">
              <a:buNone/>
            </a:pPr>
            <a:r>
              <a:rPr lang="en-US" sz="1200" dirty="0">
                <a:solidFill>
                  <a:schemeClr val="accent5"/>
                </a:solidFill>
                <a:latin typeface="Courier New" pitchFamily="34" charset="0"/>
                <a:ea typeface="Courier New" pitchFamily="34" charset="-122"/>
                <a:cs typeface="Courier New" pitchFamily="34" charset="-120"/>
              </a:rPr>
              <a:t>SHA-256  0xb89ce30b75b5...</a:t>
            </a:r>
            <a:endParaRPr lang="en-US" sz="1200" dirty="0"/>
          </a:p>
        </p:txBody>
      </p:sp>
      <p:sp>
        <p:nvSpPr>
          <p:cNvPr id="10" name="Team card"/>
          <p:cNvSpPr/>
          <p:nvPr/>
        </p:nvSpPr>
        <p:spPr>
          <a:xfrm>
            <a:off x="548640" y="4572000"/>
            <a:ext cx="6675120" cy="1783080"/>
          </a:xfrm>
          <a:prstGeom prst="roundRect">
            <a:avLst>
              <a:gd name="adj" fmla="val 5128"/>
            </a:avLst>
          </a:prstGeom>
          <a:solidFill>
            <a:schemeClr val="bg1">
              <a:alpha val="8000"/>
            </a:schemeClr>
          </a:solidFill>
          <a:ln/>
        </p:spPr>
      </p:sp>
      <p:sp>
        <p:nvSpPr>
          <p:cNvPr id="11" name="Team heading"/>
          <p:cNvSpPr txBox="1"/>
          <p:nvPr/>
        </p:nvSpPr>
        <p:spPr>
          <a:xfrm>
            <a:off x="822960" y="4709160"/>
            <a:ext cx="612648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STUDENT ENGINEERING TEAM</a:t>
            </a:r>
            <a:endParaRPr lang="en-US" sz="1200" dirty="0"/>
          </a:p>
        </p:txBody>
      </p:sp>
      <p:sp>
        <p:nvSpPr>
          <p:cNvPr id="12" name="Member 1"/>
          <p:cNvSpPr txBox="1"/>
          <p:nvPr/>
        </p:nvSpPr>
        <p:spPr>
          <a:xfrm>
            <a:off x="822960" y="5074920"/>
            <a:ext cx="6217920" cy="310896"/>
          </a:xfrm>
          <a:prstGeom prst="rect">
            <a:avLst/>
          </a:prstGeom>
          <a:noFill/>
          <a:ln/>
        </p:spPr>
        <p:txBody>
          <a:bodyPr wrap="square" lIns="0" tIns="0" rIns="0" bIns="0" rtlCol="0" anchor="ctr"/>
          <a:lstStyle/>
          <a:p>
            <a:pPr algn="l" indent="0" marL="0">
              <a:buNone/>
            </a:pPr>
            <a:r>
              <a:rPr lang="en-US" sz="1500" b="1" dirty="0">
                <a:solidFill>
                  <a:schemeClr val="bg1"/>
                </a:solidFill>
              </a:rPr>
              <a:t>Himanshu Garg   </a:t>
            </a:r>
            <a:pPr algn="l" indent="0" marL="0">
              <a:buNone/>
            </a:pPr>
            <a:r>
              <a:rPr lang="en-US" sz="1300" dirty="0">
                <a:solidFill>
                  <a:schemeClr val="bg2"/>
                </a:solidFill>
              </a:rPr>
              <a:t>Roll E250  |  SAP 70552400057  |  CS Div B</a:t>
            </a:r>
            <a:endParaRPr lang="en-US" sz="1500" dirty="0"/>
          </a:p>
        </p:txBody>
      </p:sp>
      <p:sp>
        <p:nvSpPr>
          <p:cNvPr id="13" name="Member 2"/>
          <p:cNvSpPr txBox="1"/>
          <p:nvPr/>
        </p:nvSpPr>
        <p:spPr>
          <a:xfrm>
            <a:off x="822960" y="5440680"/>
            <a:ext cx="6217920" cy="310896"/>
          </a:xfrm>
          <a:prstGeom prst="rect">
            <a:avLst/>
          </a:prstGeom>
          <a:noFill/>
          <a:ln/>
        </p:spPr>
        <p:txBody>
          <a:bodyPr wrap="square" lIns="0" tIns="0" rIns="0" bIns="0" rtlCol="0" anchor="ctr"/>
          <a:lstStyle/>
          <a:p>
            <a:pPr algn="l" indent="0" marL="0">
              <a:buNone/>
            </a:pPr>
            <a:r>
              <a:rPr lang="en-US" sz="1500" b="1" dirty="0">
                <a:solidFill>
                  <a:schemeClr val="bg1"/>
                </a:solidFill>
              </a:rPr>
              <a:t>Manthan Patil   </a:t>
            </a:r>
            <a:pPr algn="l" indent="0" marL="0">
              <a:buNone/>
            </a:pPr>
            <a:r>
              <a:rPr lang="en-US" sz="1300" dirty="0">
                <a:solidFill>
                  <a:schemeClr val="bg2"/>
                </a:solidFill>
              </a:rPr>
              <a:t>Roll E323  |  SAP 70552400133  |  CS Div B</a:t>
            </a:r>
            <a:endParaRPr lang="en-US" sz="1500" dirty="0"/>
          </a:p>
        </p:txBody>
      </p:sp>
      <p:sp>
        <p:nvSpPr>
          <p:cNvPr id="14" name="Member 3"/>
          <p:cNvSpPr txBox="1"/>
          <p:nvPr/>
        </p:nvSpPr>
        <p:spPr>
          <a:xfrm>
            <a:off x="822960" y="5806440"/>
            <a:ext cx="6217920" cy="310896"/>
          </a:xfrm>
          <a:prstGeom prst="rect">
            <a:avLst/>
          </a:prstGeom>
          <a:noFill/>
          <a:ln/>
        </p:spPr>
        <p:txBody>
          <a:bodyPr wrap="square" lIns="0" tIns="0" rIns="0" bIns="0" rtlCol="0" anchor="ctr"/>
          <a:lstStyle/>
          <a:p>
            <a:pPr algn="l" indent="0" marL="0">
              <a:buNone/>
            </a:pPr>
            <a:r>
              <a:rPr lang="en-US" sz="1500" b="1" dirty="0">
                <a:solidFill>
                  <a:schemeClr val="bg1"/>
                </a:solidFill>
              </a:rPr>
              <a:t>Vaishnavi Mali   </a:t>
            </a:r>
            <a:pPr algn="l" indent="0" marL="0">
              <a:buNone/>
            </a:pPr>
            <a:r>
              <a:rPr lang="en-US" sz="1300" dirty="0">
                <a:solidFill>
                  <a:schemeClr val="bg2"/>
                </a:solidFill>
              </a:rPr>
              <a:t>Roll B348  |  SAP 70022400767  |  CE Div B</a:t>
            </a:r>
            <a:endParaRPr lang="en-US" sz="1500" dirty="0"/>
          </a:p>
        </p:txBody>
      </p:sp>
      <p:sp>
        <p:nvSpPr>
          <p:cNvPr id="15" name="Faculty card"/>
          <p:cNvSpPr/>
          <p:nvPr/>
        </p:nvSpPr>
        <p:spPr>
          <a:xfrm>
            <a:off x="7498080" y="4572000"/>
            <a:ext cx="4142232" cy="1783080"/>
          </a:xfrm>
          <a:prstGeom prst="roundRect">
            <a:avLst>
              <a:gd name="adj" fmla="val 5128"/>
            </a:avLst>
          </a:prstGeom>
          <a:solidFill>
            <a:schemeClr val="bg1">
              <a:alpha val="8000"/>
            </a:schemeClr>
          </a:solidFill>
          <a:ln/>
        </p:spPr>
      </p:sp>
      <p:sp>
        <p:nvSpPr>
          <p:cNvPr id="16" name="Faculty heading"/>
          <p:cNvSpPr txBox="1"/>
          <p:nvPr/>
        </p:nvSpPr>
        <p:spPr>
          <a:xfrm>
            <a:off x="7772400" y="4709160"/>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FACULTY &amp; INSTITUTION</a:t>
            </a:r>
            <a:endParaRPr lang="en-US" sz="1200" dirty="0"/>
          </a:p>
        </p:txBody>
      </p:sp>
      <p:sp>
        <p:nvSpPr>
          <p:cNvPr id="17" name="Faculty details"/>
          <p:cNvSpPr txBox="1"/>
          <p:nvPr/>
        </p:nvSpPr>
        <p:spPr>
          <a:xfrm>
            <a:off x="7772400" y="5047488"/>
            <a:ext cx="3657600" cy="1234440"/>
          </a:xfrm>
          <a:prstGeom prst="rect">
            <a:avLst/>
          </a:prstGeom>
          <a:noFill/>
          <a:ln/>
        </p:spPr>
        <p:txBody>
          <a:bodyPr wrap="square" lIns="0" tIns="0" rIns="0" bIns="0" rtlCol="0" anchor="t"/>
          <a:lstStyle/>
          <a:p>
            <a:pPr algn="l" indent="0" marL="0">
              <a:spcAft>
                <a:spcPts val="200"/>
              </a:spcAft>
              <a:buNone/>
            </a:pPr>
            <a:r>
              <a:rPr lang="en-US" sz="1300" b="1" dirty="0">
                <a:solidFill>
                  <a:schemeClr val="bg1"/>
                </a:solidFill>
              </a:rPr>
              <a:t>Mentor: </a:t>
            </a:r>
            <a:pPr algn="l" indent="0" marL="0">
              <a:spcAft>
                <a:spcPts val="200"/>
              </a:spcAft>
              <a:buNone/>
            </a:pPr>
            <a:r>
              <a:rPr lang="en-US" sz="1300" dirty="0">
                <a:solidFill>
                  <a:schemeClr val="bg2"/>
                </a:solidFill>
              </a:rPr>
              <a:t>Dr. Srikanth Pullipeti, Associate Professor</a:t>
            </a:r>
            <a:endParaRPr lang="en-US" sz="1300" dirty="0"/>
          </a:p>
          <a:p>
            <a:pPr algn="l" indent="0" marL="0">
              <a:spcAft>
                <a:spcPts val="200"/>
              </a:spcAft>
              <a:buNone/>
            </a:pPr>
            <a:r>
              <a:rPr lang="en-US" sz="1300" dirty="0">
                <a:solidFill>
                  <a:schemeClr val="bg2"/>
                </a:solidFill>
              </a:rPr>
              <a:t>Dept. of Computer Science &amp; Engineering</a:t>
            </a:r>
            <a:endParaRPr lang="en-US" sz="1300" dirty="0"/>
          </a:p>
          <a:p>
            <a:pPr algn="l" indent="0" marL="0">
              <a:spcAft>
                <a:spcPts val="200"/>
              </a:spcAft>
              <a:buNone/>
            </a:pPr>
            <a:r>
              <a:rPr lang="en-US" sz="1300" dirty="0">
                <a:solidFill>
                  <a:schemeClr val="bg2"/>
                </a:solidFill>
              </a:rPr>
              <a:t>MPSTME, SVKM’s NMIMS, Shirpur Campus</a:t>
            </a:r>
            <a:endParaRPr lang="en-US" sz="1300" dirty="0"/>
          </a:p>
          <a:p>
            <a:pPr algn="l" indent="0" marL="0">
              <a:spcAft>
                <a:spcPts val="200"/>
              </a:spcAft>
              <a:buNone/>
            </a:pPr>
            <a:r>
              <a:rPr lang="en-US" sz="1300" b="1" dirty="0">
                <a:solidFill>
                  <a:schemeClr val="bg1"/>
                </a:solidFill>
              </a:rPr>
              <a:t>Defense: </a:t>
            </a:r>
            <a:pPr algn="l" indent="0" marL="0">
              <a:spcAft>
                <a:spcPts val="200"/>
              </a:spcAft>
              <a:buNone/>
            </a:pPr>
            <a:r>
              <a:rPr lang="en-US" sz="1300" dirty="0">
                <a:solidFill>
                  <a:schemeClr val="bg2"/>
                </a:solidFill>
              </a:rPr>
              <a:t>Wed, 28 October 2026</a:t>
            </a:r>
            <a:endParaRPr lang="en-US" sz="1300" dirty="0"/>
          </a:p>
        </p:txBody>
      </p:sp>
      <p:pic>
        <p:nvPicPr>
          <p:cNvPr id="18" name="Picture 17" descr="College logo.png"/>
          <p:cNvPicPr>
            <a:picLocks noChangeAspect="1"/>
          </p:cNvPicPr>
          <p:nvPr/>
        </p:nvPicPr>
        <p:blipFill>
          <a:blip r:embed="rId4"/>
          <a:stretch>
            <a:fillRect/>
          </a:stretch>
        </p:blipFill>
        <p:spPr>
          <a:xfrm>
            <a:off x="9784080" y="160020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1  |  INTRODUCTION &amp; PROBLEM DEFINITION</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The Crisis of Educational Credential Fraud</a:t>
            </a:r>
            <a:endParaRPr lang="en-US" sz="3200" dirty="0"/>
          </a:p>
        </p:txBody>
      </p:sp>
      <p:sp>
        <p:nvSpPr>
          <p:cNvPr id="4" name="Problem card 1"/>
          <p:cNvSpPr/>
          <p:nvPr/>
        </p:nvSpPr>
        <p:spPr>
          <a:xfrm>
            <a:off x="548640" y="1463040"/>
            <a:ext cx="3520440" cy="4800600"/>
          </a:xfrm>
          <a:prstGeom prst="roundRect">
            <a:avLst>
              <a:gd name="adj" fmla="val 2597"/>
            </a:avLst>
          </a:prstGeom>
          <a:solidFill>
            <a:schemeClr val="bg2"/>
          </a:solidFill>
          <a:ln/>
        </p:spPr>
      </p:sp>
      <p:sp>
        <p:nvSpPr>
          <p:cNvPr id="5" name="Problem icon 1 circle"/>
          <p:cNvSpPr/>
          <p:nvPr/>
        </p:nvSpPr>
        <p:spPr>
          <a:xfrm>
            <a:off x="3200400" y="1737360"/>
            <a:ext cx="594360" cy="594360"/>
          </a:xfrm>
          <a:prstGeom prst="ellipse">
            <a:avLst/>
          </a:prstGeom>
          <a:solidFill>
            <a:schemeClr val="accent3"/>
          </a:solidFill>
          <a:ln/>
        </p:spPr>
      </p:sp>
      <p:pic>
        <p:nvPicPr>
          <p:cNvPr id="6" name="Problem icon 1" descr="Problem icon 1">    </p:cNvPr>
          <p:cNvPicPr>
            <a:picLocks noChangeAspect="1"/>
          </p:cNvPicPr>
          <p:nvPr/>
        </p:nvPicPr>
        <p:blipFill>
          <a:blip r:embed="rId1"/>
          <a:stretch>
            <a:fillRect/>
          </a:stretch>
        </p:blipFill>
        <p:spPr>
          <a:xfrm>
            <a:off x="3354934" y="1891894"/>
            <a:ext cx="285293" cy="285293"/>
          </a:xfrm>
          <a:prstGeom prst="rect">
            <a:avLst/>
          </a:prstGeom>
        </p:spPr>
      </p:pic>
      <p:sp>
        <p:nvSpPr>
          <p:cNvPr id="7" name="Problem stat 1"/>
          <p:cNvSpPr txBox="1"/>
          <p:nvPr/>
        </p:nvSpPr>
        <p:spPr>
          <a:xfrm>
            <a:off x="822960" y="1783080"/>
            <a:ext cx="2560320" cy="5943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14%</a:t>
            </a:r>
            <a:endParaRPr lang="en-US" sz="3600" dirty="0"/>
          </a:p>
        </p:txBody>
      </p:sp>
      <p:sp>
        <p:nvSpPr>
          <p:cNvPr id="8" name="Problem label 1"/>
          <p:cNvSpPr txBox="1"/>
          <p:nvPr/>
        </p:nvSpPr>
        <p:spPr>
          <a:xfrm>
            <a:off x="822960" y="2514600"/>
            <a:ext cx="2971800" cy="594360"/>
          </a:xfrm>
          <a:prstGeom prst="rect">
            <a:avLst/>
          </a:prstGeom>
          <a:noFill/>
          <a:ln/>
        </p:spPr>
        <p:txBody>
          <a:bodyPr wrap="square" lIns="0" tIns="0" rIns="0" bIns="0" rtlCol="0" anchor="t"/>
          <a:lstStyle/>
          <a:p>
            <a:pPr algn="l" indent="0" marL="0">
              <a:buNone/>
            </a:pPr>
            <a:r>
              <a:rPr lang="en-US" sz="1400" dirty="0">
                <a:solidFill>
                  <a:schemeClr val="accent6"/>
                </a:solidFill>
              </a:rPr>
              <a:t>of academic resumes show altered degrees or fake marksheets</a:t>
            </a:r>
            <a:endParaRPr lang="en-US" sz="1400" dirty="0"/>
          </a:p>
        </p:txBody>
      </p:sp>
      <p:sp>
        <p:nvSpPr>
          <p:cNvPr id="9" name="Problem heading 1"/>
          <p:cNvSpPr txBox="1"/>
          <p:nvPr/>
        </p:nvSpPr>
        <p:spPr>
          <a:xfrm>
            <a:off x="822960" y="3246120"/>
            <a:ext cx="2971800" cy="320040"/>
          </a:xfrm>
          <a:prstGeom prst="rect">
            <a:avLst/>
          </a:prstGeom>
          <a:noFill/>
          <a:ln/>
        </p:spPr>
        <p:txBody>
          <a:bodyPr wrap="square" lIns="0" tIns="0" rIns="0" bIns="0" rtlCol="0" anchor="t"/>
          <a:lstStyle/>
          <a:p>
            <a:pPr algn="l" indent="0" marL="0">
              <a:buNone/>
            </a:pPr>
            <a:r>
              <a:rPr lang="en-US" sz="1800" b="1" dirty="0">
                <a:solidFill>
                  <a:schemeClr val="accent1"/>
                </a:solidFill>
              </a:rPr>
              <a:t>Rampant Certificate Forgery</a:t>
            </a:r>
            <a:endParaRPr lang="en-US" sz="1800" dirty="0"/>
          </a:p>
        </p:txBody>
      </p:sp>
      <p:sp>
        <p:nvSpPr>
          <p:cNvPr id="10" name="Problem bullets 1"/>
          <p:cNvSpPr txBox="1"/>
          <p:nvPr/>
        </p:nvSpPr>
        <p:spPr>
          <a:xfrm>
            <a:off x="822960" y="3749040"/>
            <a:ext cx="2971800" cy="237744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chemeClr val="tx1"/>
                </a:solidFill>
              </a:rPr>
              <a:t>AI and PDF editors alter CGPA, roll numbers and names flawlessly in minutes</a:t>
            </a:r>
            <a:endParaRPr lang="en-US" sz="1600" dirty="0"/>
          </a:p>
          <a:p>
            <a:pPr algn="l" marL="342900" indent="-342900">
              <a:spcAft>
                <a:spcPts val="1000"/>
              </a:spcAft>
              <a:buSzPct val="100000"/>
              <a:buChar char="•"/>
            </a:pPr>
            <a:r>
              <a:rPr lang="en-US" sz="1600" dirty="0">
                <a:solidFill>
                  <a:schemeClr val="tx1"/>
                </a:solidFill>
              </a:rPr>
              <a:t>Watermarks, foil crests and signatures no longer protect digital PDFs</a:t>
            </a:r>
            <a:endParaRPr lang="en-US" sz="1600" dirty="0"/>
          </a:p>
        </p:txBody>
      </p:sp>
      <p:sp>
        <p:nvSpPr>
          <p:cNvPr id="11" name="Problem card 2"/>
          <p:cNvSpPr/>
          <p:nvPr/>
        </p:nvSpPr>
        <p:spPr>
          <a:xfrm>
            <a:off x="4334256" y="1463040"/>
            <a:ext cx="3520440" cy="4800600"/>
          </a:xfrm>
          <a:prstGeom prst="roundRect">
            <a:avLst>
              <a:gd name="adj" fmla="val 2597"/>
            </a:avLst>
          </a:prstGeom>
          <a:solidFill>
            <a:schemeClr val="bg2"/>
          </a:solidFill>
          <a:ln/>
        </p:spPr>
      </p:sp>
      <p:sp>
        <p:nvSpPr>
          <p:cNvPr id="12" name="Problem icon 2 circle"/>
          <p:cNvSpPr/>
          <p:nvPr/>
        </p:nvSpPr>
        <p:spPr>
          <a:xfrm>
            <a:off x="6986016" y="1737360"/>
            <a:ext cx="594360" cy="594360"/>
          </a:xfrm>
          <a:prstGeom prst="ellipse">
            <a:avLst/>
          </a:prstGeom>
          <a:solidFill>
            <a:schemeClr val="accent2"/>
          </a:solidFill>
          <a:ln/>
        </p:spPr>
      </p:sp>
      <p:pic>
        <p:nvPicPr>
          <p:cNvPr id="13" name="Problem icon 2" descr="Problem icon 2">    </p:cNvPr>
          <p:cNvPicPr>
            <a:picLocks noChangeAspect="1"/>
          </p:cNvPicPr>
          <p:nvPr/>
        </p:nvPicPr>
        <p:blipFill>
          <a:blip r:embed="rId2"/>
          <a:stretch>
            <a:fillRect/>
          </a:stretch>
        </p:blipFill>
        <p:spPr>
          <a:xfrm>
            <a:off x="7140550" y="1891894"/>
            <a:ext cx="285293" cy="285293"/>
          </a:xfrm>
          <a:prstGeom prst="rect">
            <a:avLst/>
          </a:prstGeom>
        </p:spPr>
      </p:pic>
      <p:sp>
        <p:nvSpPr>
          <p:cNvPr id="14" name="Problem stat 2"/>
          <p:cNvSpPr txBox="1"/>
          <p:nvPr/>
        </p:nvSpPr>
        <p:spPr>
          <a:xfrm>
            <a:off x="4608576" y="1783080"/>
            <a:ext cx="2560320" cy="5943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14-30 days</a:t>
            </a:r>
            <a:endParaRPr lang="en-US" sz="3600" dirty="0"/>
          </a:p>
        </p:txBody>
      </p:sp>
      <p:sp>
        <p:nvSpPr>
          <p:cNvPr id="15" name="Problem label 2"/>
          <p:cNvSpPr txBox="1"/>
          <p:nvPr/>
        </p:nvSpPr>
        <p:spPr>
          <a:xfrm>
            <a:off x="4608576" y="2514600"/>
            <a:ext cx="2971800" cy="594360"/>
          </a:xfrm>
          <a:prstGeom prst="rect">
            <a:avLst/>
          </a:prstGeom>
          <a:noFill/>
          <a:ln/>
        </p:spPr>
        <p:txBody>
          <a:bodyPr wrap="square" lIns="0" tIns="0" rIns="0" bIns="0" rtlCol="0" anchor="t"/>
          <a:lstStyle/>
          <a:p>
            <a:pPr algn="l" indent="0" marL="0">
              <a:buNone/>
            </a:pPr>
            <a:r>
              <a:rPr lang="en-US" sz="1400" dirty="0">
                <a:solidFill>
                  <a:schemeClr val="accent6"/>
                </a:solidFill>
              </a:rPr>
              <a:t>manual background-verification turnaround</a:t>
            </a:r>
            <a:endParaRPr lang="en-US" sz="1400" dirty="0"/>
          </a:p>
        </p:txBody>
      </p:sp>
      <p:sp>
        <p:nvSpPr>
          <p:cNvPr id="16" name="Problem heading 2"/>
          <p:cNvSpPr txBox="1"/>
          <p:nvPr/>
        </p:nvSpPr>
        <p:spPr>
          <a:xfrm>
            <a:off x="4608576" y="3246120"/>
            <a:ext cx="2971800" cy="320040"/>
          </a:xfrm>
          <a:prstGeom prst="rect">
            <a:avLst/>
          </a:prstGeom>
          <a:noFill/>
          <a:ln/>
        </p:spPr>
        <p:txBody>
          <a:bodyPr wrap="square" lIns="0" tIns="0" rIns="0" bIns="0" rtlCol="0" anchor="t"/>
          <a:lstStyle/>
          <a:p>
            <a:pPr algn="l" indent="0" marL="0">
              <a:buNone/>
            </a:pPr>
            <a:r>
              <a:rPr lang="en-US" sz="1800" b="1" dirty="0">
                <a:solidFill>
                  <a:schemeClr val="accent1"/>
                </a:solidFill>
              </a:rPr>
              <a:t>Administrative Latency &amp; Cost</a:t>
            </a:r>
            <a:endParaRPr lang="en-US" sz="1800" dirty="0"/>
          </a:p>
        </p:txBody>
      </p:sp>
      <p:sp>
        <p:nvSpPr>
          <p:cNvPr id="17" name="Problem bullets 2"/>
          <p:cNvSpPr txBox="1"/>
          <p:nvPr/>
        </p:nvSpPr>
        <p:spPr>
          <a:xfrm>
            <a:off x="4608576" y="3749040"/>
            <a:ext cx="2971800" cy="237744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chemeClr val="tx1"/>
                </a:solidFill>
              </a:rPr>
              <a:t>Postal inquiries and emails to registrar exam cells stall campus onboarding</a:t>
            </a:r>
            <a:endParaRPr lang="en-US" sz="1600" dirty="0"/>
          </a:p>
          <a:p>
            <a:pPr algn="l" marL="342900" indent="-342900">
              <a:spcAft>
                <a:spcPts val="1000"/>
              </a:spcAft>
              <a:buSzPct val="100000"/>
              <a:buChar char="•"/>
            </a:pPr>
            <a:r>
              <a:rPr lang="en-US" sz="1600" dirty="0">
                <a:solidFill>
                  <a:schemeClr val="tx1"/>
                </a:solidFill>
              </a:rPr>
              <a:t>Universities dedicate full-time staff to verification requests</a:t>
            </a:r>
            <a:endParaRPr lang="en-US" sz="1600" dirty="0"/>
          </a:p>
        </p:txBody>
      </p:sp>
      <p:sp>
        <p:nvSpPr>
          <p:cNvPr id="18" name="Problem card 3"/>
          <p:cNvSpPr/>
          <p:nvPr/>
        </p:nvSpPr>
        <p:spPr>
          <a:xfrm>
            <a:off x="8119872" y="1463040"/>
            <a:ext cx="3520440" cy="4800600"/>
          </a:xfrm>
          <a:prstGeom prst="roundRect">
            <a:avLst>
              <a:gd name="adj" fmla="val 2597"/>
            </a:avLst>
          </a:prstGeom>
          <a:solidFill>
            <a:schemeClr val="bg2"/>
          </a:solidFill>
          <a:ln/>
        </p:spPr>
      </p:sp>
      <p:sp>
        <p:nvSpPr>
          <p:cNvPr id="19" name="Problem icon 3 circle"/>
          <p:cNvSpPr/>
          <p:nvPr/>
        </p:nvSpPr>
        <p:spPr>
          <a:xfrm>
            <a:off x="10771632" y="1737360"/>
            <a:ext cx="594360" cy="594360"/>
          </a:xfrm>
          <a:prstGeom prst="ellipse">
            <a:avLst/>
          </a:prstGeom>
          <a:solidFill>
            <a:schemeClr val="accent1"/>
          </a:solidFill>
          <a:ln/>
        </p:spPr>
      </p:sp>
      <p:pic>
        <p:nvPicPr>
          <p:cNvPr id="20" name="Problem icon 3" descr="Problem icon 3">    </p:cNvPr>
          <p:cNvPicPr>
            <a:picLocks noChangeAspect="1"/>
          </p:cNvPicPr>
          <p:nvPr/>
        </p:nvPicPr>
        <p:blipFill>
          <a:blip r:embed="rId3"/>
          <a:stretch>
            <a:fillRect/>
          </a:stretch>
        </p:blipFill>
        <p:spPr>
          <a:xfrm>
            <a:off x="10926166" y="1891894"/>
            <a:ext cx="285293" cy="285293"/>
          </a:xfrm>
          <a:prstGeom prst="rect">
            <a:avLst/>
          </a:prstGeom>
        </p:spPr>
      </p:pic>
      <p:sp>
        <p:nvSpPr>
          <p:cNvPr id="21" name="Problem stat 3"/>
          <p:cNvSpPr txBox="1"/>
          <p:nvPr/>
        </p:nvSpPr>
        <p:spPr>
          <a:xfrm>
            <a:off x="8394192" y="1783080"/>
            <a:ext cx="2560320" cy="5943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DPDP 2023</a:t>
            </a:r>
            <a:endParaRPr lang="en-US" sz="3600" dirty="0"/>
          </a:p>
        </p:txBody>
      </p:sp>
      <p:sp>
        <p:nvSpPr>
          <p:cNvPr id="22" name="Problem label 3"/>
          <p:cNvSpPr txBox="1"/>
          <p:nvPr/>
        </p:nvSpPr>
        <p:spPr>
          <a:xfrm>
            <a:off x="8394192" y="2514600"/>
            <a:ext cx="2971800" cy="594360"/>
          </a:xfrm>
          <a:prstGeom prst="rect">
            <a:avLst/>
          </a:prstGeom>
          <a:noFill/>
          <a:ln/>
        </p:spPr>
        <p:txBody>
          <a:bodyPr wrap="square" lIns="0" tIns="0" rIns="0" bIns="0" rtlCol="0" anchor="t"/>
          <a:lstStyle/>
          <a:p>
            <a:pPr algn="l" indent="0" marL="0">
              <a:buNone/>
            </a:pPr>
            <a:r>
              <a:rPr lang="en-US" sz="1400" dirty="0">
                <a:solidFill>
                  <a:schemeClr val="accent6"/>
                </a:solidFill>
              </a:rPr>
              <a:t>statutory exposure from emailed, unencrypted transcripts</a:t>
            </a:r>
            <a:endParaRPr lang="en-US" sz="1400" dirty="0"/>
          </a:p>
        </p:txBody>
      </p:sp>
      <p:sp>
        <p:nvSpPr>
          <p:cNvPr id="23" name="Problem heading 3"/>
          <p:cNvSpPr txBox="1"/>
          <p:nvPr/>
        </p:nvSpPr>
        <p:spPr>
          <a:xfrm>
            <a:off x="8394192" y="3246120"/>
            <a:ext cx="2971800" cy="320040"/>
          </a:xfrm>
          <a:prstGeom prst="rect">
            <a:avLst/>
          </a:prstGeom>
          <a:noFill/>
          <a:ln/>
        </p:spPr>
        <p:txBody>
          <a:bodyPr wrap="square" lIns="0" tIns="0" rIns="0" bIns="0" rtlCol="0" anchor="t"/>
          <a:lstStyle/>
          <a:p>
            <a:pPr algn="l" indent="0" marL="0">
              <a:buNone/>
            </a:pPr>
            <a:r>
              <a:rPr lang="en-US" sz="1800" b="1" dirty="0">
                <a:solidFill>
                  <a:schemeClr val="accent1"/>
                </a:solidFill>
              </a:rPr>
              <a:t>Database &amp; Privacy Risks</a:t>
            </a:r>
            <a:endParaRPr lang="en-US" sz="1800" dirty="0"/>
          </a:p>
        </p:txBody>
      </p:sp>
      <p:sp>
        <p:nvSpPr>
          <p:cNvPr id="24" name="Problem bullets 3"/>
          <p:cNvSpPr txBox="1"/>
          <p:nvPr/>
        </p:nvSpPr>
        <p:spPr>
          <a:xfrm>
            <a:off x="8394192" y="3749040"/>
            <a:ext cx="2971800" cy="237744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chemeClr val="tx1"/>
                </a:solidFill>
              </a:rPr>
              <a:t>Central SQL servers face insider bribery, ransomware and crashes</a:t>
            </a:r>
            <a:endParaRPr lang="en-US" sz="1600" dirty="0"/>
          </a:p>
          <a:p>
            <a:pPr algn="l" marL="342900" indent="-342900">
              <a:spcAft>
                <a:spcPts val="1000"/>
              </a:spcAft>
              <a:buSzPct val="100000"/>
              <a:buChar char="•"/>
            </a:pPr>
            <a:r>
              <a:rPr lang="en-US" sz="1600" dirty="0">
                <a:solidFill>
                  <a:schemeClr val="tx1"/>
                </a:solidFill>
              </a:rPr>
              <a:t>Leaked PII risks statutory fines</a:t>
            </a:r>
            <a:endParaRPr lang="en-US" sz="1600" dirty="0"/>
          </a:p>
          <a:p>
            <a:pPr algn="l" marL="342900" indent="-342900">
              <a:spcAft>
                <a:spcPts val="1000"/>
              </a:spcAft>
              <a:buSzPct val="100000"/>
              <a:buChar char="•"/>
            </a:pPr>
            <a:r>
              <a:rPr lang="en-US" sz="1600" dirty="0">
                <a:solidFill>
                  <a:schemeClr val="tx1"/>
                </a:solidFill>
              </a:rPr>
              <a:t>Destructive revocation erases audit evidence</a:t>
            </a:r>
            <a:endParaRPr lang="en-US" sz="16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TECHNICAL OBJECTIVES  [IA, OC]</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Five Formal Technical Objectives</a:t>
            </a:r>
            <a:endParaRPr lang="en-US" sz="3200" dirty="0"/>
          </a:p>
        </p:txBody>
      </p:sp>
      <p:sp>
        <p:nvSpPr>
          <p:cNvPr id="4" name="Objective card 1"/>
          <p:cNvSpPr/>
          <p:nvPr/>
        </p:nvSpPr>
        <p:spPr>
          <a:xfrm>
            <a:off x="548640" y="1463040"/>
            <a:ext cx="6858000" cy="868680"/>
          </a:xfrm>
          <a:prstGeom prst="roundRect">
            <a:avLst>
              <a:gd name="adj" fmla="val 10526"/>
            </a:avLst>
          </a:prstGeom>
          <a:solidFill>
            <a:schemeClr val="bg2"/>
          </a:solidFill>
          <a:ln/>
        </p:spPr>
      </p:sp>
      <p:sp>
        <p:nvSpPr>
          <p:cNvPr id="5" name="Objective number 1"/>
          <p:cNvSpPr/>
          <p:nvPr/>
        </p:nvSpPr>
        <p:spPr>
          <a:xfrm>
            <a:off x="731520" y="16687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Objective text 1"/>
          <p:cNvSpPr txBox="1"/>
          <p:nvPr/>
        </p:nvSpPr>
        <p:spPr>
          <a:xfrm>
            <a:off x="1417320" y="1554480"/>
            <a:ext cx="5852160" cy="713232"/>
          </a:xfrm>
          <a:prstGeom prst="rect">
            <a:avLst/>
          </a:prstGeom>
          <a:noFill/>
          <a:ln/>
        </p:spPr>
        <p:txBody>
          <a:bodyPr wrap="square" lIns="0" tIns="0" rIns="0" bIns="0" rtlCol="0" anchor="t"/>
          <a:lstStyle/>
          <a:p>
            <a:pPr algn="l" indent="0" marL="0">
              <a:buNone/>
            </a:pPr>
            <a:r>
              <a:rPr lang="en-US" sz="1400" b="1" dirty="0">
                <a:solidFill>
                  <a:schemeClr val="tx2"/>
                </a:solidFill>
              </a:rPr>
              <a:t>Smart Contract Engineering</a:t>
            </a:r>
            <a:endParaRPr lang="en-US" sz="1400" dirty="0"/>
          </a:p>
          <a:p>
            <a:pPr algn="l" indent="0" marL="0">
              <a:buNone/>
            </a:pPr>
            <a:r>
              <a:rPr lang="en-US" sz="1300" dirty="0">
                <a:solidFill>
                  <a:schemeClr val="tx1"/>
                </a:solidFill>
              </a:rPr>
              <a:t>Solidity 0.8.20 CredentialRegistry.sol on OpenZeppelin v5: O(1) issuance, batch processing, non-destructive revocation</a:t>
            </a:r>
            <a:endParaRPr lang="en-US" sz="1400" dirty="0"/>
          </a:p>
        </p:txBody>
      </p:sp>
      <p:sp>
        <p:nvSpPr>
          <p:cNvPr id="7" name="Objective card 2"/>
          <p:cNvSpPr/>
          <p:nvPr/>
        </p:nvSpPr>
        <p:spPr>
          <a:xfrm>
            <a:off x="548640" y="2441448"/>
            <a:ext cx="6858000" cy="868680"/>
          </a:xfrm>
          <a:prstGeom prst="roundRect">
            <a:avLst>
              <a:gd name="adj" fmla="val 10526"/>
            </a:avLst>
          </a:prstGeom>
          <a:solidFill>
            <a:schemeClr val="bg2"/>
          </a:solidFill>
          <a:ln/>
        </p:spPr>
      </p:sp>
      <p:sp>
        <p:nvSpPr>
          <p:cNvPr id="8" name="Objective number 2"/>
          <p:cNvSpPr/>
          <p:nvPr/>
        </p:nvSpPr>
        <p:spPr>
          <a:xfrm>
            <a:off x="731520" y="264718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Objective text 2"/>
          <p:cNvSpPr txBox="1"/>
          <p:nvPr/>
        </p:nvSpPr>
        <p:spPr>
          <a:xfrm>
            <a:off x="1417320" y="2532888"/>
            <a:ext cx="5852160" cy="713232"/>
          </a:xfrm>
          <a:prstGeom prst="rect">
            <a:avLst/>
          </a:prstGeom>
          <a:noFill/>
          <a:ln/>
        </p:spPr>
        <p:txBody>
          <a:bodyPr wrap="square" lIns="0" tIns="0" rIns="0" bIns="0" rtlCol="0" anchor="t"/>
          <a:lstStyle/>
          <a:p>
            <a:pPr algn="l" indent="0" marL="0">
              <a:buNone/>
            </a:pPr>
            <a:r>
              <a:rPr lang="en-US" sz="1400" b="1" dirty="0">
                <a:solidFill>
                  <a:schemeClr val="tx2"/>
                </a:solidFill>
              </a:rPr>
              <a:t>Client-Side Cryptography</a:t>
            </a:r>
            <a:endParaRPr lang="en-US" sz="1400" dirty="0"/>
          </a:p>
          <a:p>
            <a:pPr algn="l" indent="0" marL="0">
              <a:buNone/>
            </a:pPr>
            <a:r>
              <a:rPr lang="en-US" sz="1300" dirty="0">
                <a:solidFill>
                  <a:schemeClr val="tx1"/>
                </a:solidFill>
              </a:rPr>
              <a:t>Browser-native SHA-256 via W3C Web Crypto API in under 50 ms; raw files are never transmitted</a:t>
            </a:r>
            <a:endParaRPr lang="en-US" sz="1400" dirty="0"/>
          </a:p>
        </p:txBody>
      </p:sp>
      <p:sp>
        <p:nvSpPr>
          <p:cNvPr id="10" name="Objective card 3"/>
          <p:cNvSpPr/>
          <p:nvPr/>
        </p:nvSpPr>
        <p:spPr>
          <a:xfrm>
            <a:off x="548640" y="3419856"/>
            <a:ext cx="6858000" cy="868680"/>
          </a:xfrm>
          <a:prstGeom prst="roundRect">
            <a:avLst>
              <a:gd name="adj" fmla="val 10526"/>
            </a:avLst>
          </a:prstGeom>
          <a:solidFill>
            <a:schemeClr val="bg2"/>
          </a:solidFill>
          <a:ln/>
        </p:spPr>
      </p:sp>
      <p:sp>
        <p:nvSpPr>
          <p:cNvPr id="11" name="Objective number 3"/>
          <p:cNvSpPr/>
          <p:nvPr/>
        </p:nvSpPr>
        <p:spPr>
          <a:xfrm>
            <a:off x="731520" y="3625596"/>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Objective text 3"/>
          <p:cNvSpPr txBox="1"/>
          <p:nvPr/>
        </p:nvSpPr>
        <p:spPr>
          <a:xfrm>
            <a:off x="1417320" y="3511296"/>
            <a:ext cx="5852160" cy="713232"/>
          </a:xfrm>
          <a:prstGeom prst="rect">
            <a:avLst/>
          </a:prstGeom>
          <a:noFill/>
          <a:ln/>
        </p:spPr>
        <p:txBody>
          <a:bodyPr wrap="square" lIns="0" tIns="0" rIns="0" bIns="0" rtlCol="0" anchor="t"/>
          <a:lstStyle/>
          <a:p>
            <a:pPr algn="l" indent="0" marL="0">
              <a:buNone/>
            </a:pPr>
            <a:r>
              <a:rPr lang="en-US" sz="1400" b="1" dirty="0">
                <a:solidFill>
                  <a:schemeClr val="tx2"/>
                </a:solidFill>
              </a:rPr>
              <a:t>Decentralized Storage Decoupling</a:t>
            </a:r>
            <a:endParaRPr lang="en-US" sz="1400" dirty="0"/>
          </a:p>
          <a:p>
            <a:pPr algn="l" indent="0" marL="0">
              <a:buNone/>
            </a:pPr>
            <a:r>
              <a:rPr lang="en-US" sz="1300" dirty="0">
                <a:solidFill>
                  <a:schemeClr val="tx1"/>
                </a:solidFill>
              </a:rPr>
              <a:t>Off-chain IPFS (CID) isolates heavy PDF payloads from the ledger, slashing gas costs</a:t>
            </a:r>
            <a:endParaRPr lang="en-US" sz="1400" dirty="0"/>
          </a:p>
        </p:txBody>
      </p:sp>
      <p:sp>
        <p:nvSpPr>
          <p:cNvPr id="13" name="Objective card 4"/>
          <p:cNvSpPr/>
          <p:nvPr/>
        </p:nvSpPr>
        <p:spPr>
          <a:xfrm>
            <a:off x="548640" y="4398264"/>
            <a:ext cx="6858000" cy="868680"/>
          </a:xfrm>
          <a:prstGeom prst="roundRect">
            <a:avLst>
              <a:gd name="adj" fmla="val 10526"/>
            </a:avLst>
          </a:prstGeom>
          <a:solidFill>
            <a:schemeClr val="bg2"/>
          </a:solidFill>
          <a:ln/>
        </p:spPr>
      </p:sp>
      <p:sp>
        <p:nvSpPr>
          <p:cNvPr id="14" name="Objective number 4"/>
          <p:cNvSpPr/>
          <p:nvPr/>
        </p:nvSpPr>
        <p:spPr>
          <a:xfrm>
            <a:off x="731520" y="4604004"/>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Objective text 4"/>
          <p:cNvSpPr txBox="1"/>
          <p:nvPr/>
        </p:nvSpPr>
        <p:spPr>
          <a:xfrm>
            <a:off x="1417320" y="4489704"/>
            <a:ext cx="5852160" cy="713232"/>
          </a:xfrm>
          <a:prstGeom prst="rect">
            <a:avLst/>
          </a:prstGeom>
          <a:noFill/>
          <a:ln/>
        </p:spPr>
        <p:txBody>
          <a:bodyPr wrap="square" lIns="0" tIns="0" rIns="0" bIns="0" rtlCol="0" anchor="t"/>
          <a:lstStyle/>
          <a:p>
            <a:pPr algn="l" indent="0" marL="0">
              <a:buNone/>
            </a:pPr>
            <a:r>
              <a:rPr lang="en-US" sz="1400" b="1" dirty="0">
                <a:solidFill>
                  <a:schemeClr val="tx2"/>
                </a:solidFill>
              </a:rPr>
              <a:t>Rigorous Automated Testing</a:t>
            </a:r>
            <a:endParaRPr lang="en-US" sz="1400" dirty="0"/>
          </a:p>
          <a:p>
            <a:pPr algn="l" indent="0" marL="0">
              <a:buNone/>
            </a:pPr>
            <a:r>
              <a:rPr lang="en-US" sz="1300" dirty="0">
                <a:solidFill>
                  <a:schemeClr val="tx1"/>
                </a:solidFill>
              </a:rPr>
              <a:t>25+ scenario Hardhat &amp; Chai harness covering happy paths, boundary asserts and circuit-breaker states</a:t>
            </a:r>
            <a:endParaRPr lang="en-US" sz="1400" dirty="0"/>
          </a:p>
        </p:txBody>
      </p:sp>
      <p:sp>
        <p:nvSpPr>
          <p:cNvPr id="16" name="Objective card 5"/>
          <p:cNvSpPr/>
          <p:nvPr/>
        </p:nvSpPr>
        <p:spPr>
          <a:xfrm>
            <a:off x="548640" y="5376672"/>
            <a:ext cx="6858000" cy="868680"/>
          </a:xfrm>
          <a:prstGeom prst="roundRect">
            <a:avLst>
              <a:gd name="adj" fmla="val 10526"/>
            </a:avLst>
          </a:prstGeom>
          <a:solidFill>
            <a:schemeClr val="bg2"/>
          </a:solidFill>
          <a:ln/>
        </p:spPr>
      </p:sp>
      <p:sp>
        <p:nvSpPr>
          <p:cNvPr id="17" name="Objective number 5"/>
          <p:cNvSpPr/>
          <p:nvPr/>
        </p:nvSpPr>
        <p:spPr>
          <a:xfrm>
            <a:off x="731520" y="558241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Objective text 5"/>
          <p:cNvSpPr txBox="1"/>
          <p:nvPr/>
        </p:nvSpPr>
        <p:spPr>
          <a:xfrm>
            <a:off x="1417320" y="5468112"/>
            <a:ext cx="5852160" cy="713232"/>
          </a:xfrm>
          <a:prstGeom prst="rect">
            <a:avLst/>
          </a:prstGeom>
          <a:noFill/>
          <a:ln/>
        </p:spPr>
        <p:txBody>
          <a:bodyPr wrap="square" lIns="0" tIns="0" rIns="0" bIns="0" rtlCol="0" anchor="t"/>
          <a:lstStyle/>
          <a:p>
            <a:pPr algn="l" indent="0" marL="0">
              <a:buNone/>
            </a:pPr>
            <a:r>
              <a:rPr lang="en-US" sz="1400" b="1" dirty="0">
                <a:solidFill>
                  <a:schemeClr val="tx2"/>
                </a:solidFill>
              </a:rPr>
              <a:t>DPDP Act Compliance</a:t>
            </a:r>
            <a:endParaRPr lang="en-US" sz="1400" dirty="0"/>
          </a:p>
          <a:p>
            <a:pPr algn="l" indent="0" marL="0">
              <a:buNone/>
            </a:pPr>
            <a:r>
              <a:rPr lang="en-US" sz="1300" dirty="0">
                <a:solidFill>
                  <a:schemeClr val="tx1"/>
                </a:solidFill>
              </a:rPr>
              <a:t>Zero cleartext PII anchored to the immutable ledger</a:t>
            </a:r>
            <a:endParaRPr lang="en-US" sz="1400" dirty="0"/>
          </a:p>
        </p:txBody>
      </p:sp>
      <p:sp>
        <p:nvSpPr>
          <p:cNvPr id="19" name="Innovation panel"/>
          <p:cNvSpPr/>
          <p:nvPr/>
        </p:nvSpPr>
        <p:spPr>
          <a:xfrm>
            <a:off x="7680960" y="1463040"/>
            <a:ext cx="3959352" cy="4782312"/>
          </a:xfrm>
          <a:prstGeom prst="roundRect">
            <a:avLst>
              <a:gd name="adj" fmla="val 2309"/>
            </a:avLst>
          </a:prstGeom>
          <a:solidFill>
            <a:schemeClr val="tx2"/>
          </a:solidFill>
          <a:ln/>
        </p:spPr>
      </p:sp>
      <p:sp>
        <p:nvSpPr>
          <p:cNvPr id="20" name="Innovation eyebrow"/>
          <p:cNvSpPr txBox="1"/>
          <p:nvPr/>
        </p:nvSpPr>
        <p:spPr>
          <a:xfrm>
            <a:off x="8001000" y="1737360"/>
            <a:ext cx="338328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THE HASH-ON-CHAIN INNOVATION</a:t>
            </a:r>
            <a:endParaRPr lang="en-US" sz="1200" dirty="0"/>
          </a:p>
        </p:txBody>
      </p:sp>
      <p:sp>
        <p:nvSpPr>
          <p:cNvPr id="21" name="Innovation stat"/>
          <p:cNvSpPr txBox="1"/>
          <p:nvPr/>
        </p:nvSpPr>
        <p:spPr>
          <a:xfrm>
            <a:off x="8001000" y="2148840"/>
            <a:ext cx="3383280" cy="777240"/>
          </a:xfrm>
          <a:prstGeom prst="rect">
            <a:avLst/>
          </a:prstGeom>
          <a:noFill/>
          <a:ln/>
        </p:spPr>
        <p:txBody>
          <a:bodyPr wrap="square" lIns="0" tIns="0" rIns="0" bIns="0" rtlCol="0" anchor="t"/>
          <a:lstStyle/>
          <a:p>
            <a:pPr algn="l" indent="0" marL="0">
              <a:buNone/>
            </a:pPr>
            <a:r>
              <a:rPr lang="en-US" sz="5400" b="1" dirty="0">
                <a:solidFill>
                  <a:schemeClr val="bg1"/>
                </a:solidFill>
                <a:latin typeface="Cambria" pitchFamily="34" charset="0"/>
                <a:ea typeface="Cambria" pitchFamily="34" charset="-122"/>
                <a:cs typeface="Cambria" pitchFamily="34" charset="-120"/>
              </a:rPr>
              <a:t>32 bytes</a:t>
            </a:r>
            <a:endParaRPr lang="en-US" sz="5400" dirty="0"/>
          </a:p>
        </p:txBody>
      </p:sp>
      <p:sp>
        <p:nvSpPr>
          <p:cNvPr id="22" name="Innovation caption"/>
          <p:cNvSpPr txBox="1"/>
          <p:nvPr/>
        </p:nvSpPr>
        <p:spPr>
          <a:xfrm>
            <a:off x="8001000" y="3017520"/>
            <a:ext cx="3337560" cy="914400"/>
          </a:xfrm>
          <a:prstGeom prst="rect">
            <a:avLst/>
          </a:prstGeom>
          <a:noFill/>
          <a:ln/>
        </p:spPr>
        <p:txBody>
          <a:bodyPr wrap="square" lIns="0" tIns="0" rIns="0" bIns="0" rtlCol="0" anchor="t"/>
          <a:lstStyle/>
          <a:p>
            <a:pPr algn="l" indent="0" marL="0">
              <a:buNone/>
            </a:pPr>
            <a:r>
              <a:rPr lang="en-US" sz="1500" dirty="0">
                <a:solidFill>
                  <a:schemeClr val="bg2"/>
                </a:solidFill>
              </a:rPr>
              <a:t>is the on-chain footprint of a credential: a SHA-256 digest, student SAP ID and issuer authorization.</a:t>
            </a:r>
            <a:endParaRPr lang="en-US" sz="1500" dirty="0"/>
          </a:p>
        </p:txBody>
      </p:sp>
      <p:sp>
        <p:nvSpPr>
          <p:cNvPr id="23" name="Innovation contrast"/>
          <p:cNvSpPr txBox="1"/>
          <p:nvPr/>
        </p:nvSpPr>
        <p:spPr>
          <a:xfrm>
            <a:off x="8001000" y="4160520"/>
            <a:ext cx="3337560" cy="640080"/>
          </a:xfrm>
          <a:prstGeom prst="rect">
            <a:avLst/>
          </a:prstGeom>
          <a:noFill/>
          <a:ln/>
        </p:spPr>
        <p:txBody>
          <a:bodyPr wrap="square" lIns="0" tIns="0" rIns="0" bIns="0" rtlCol="0" anchor="t"/>
          <a:lstStyle/>
          <a:p>
            <a:pPr algn="l" indent="0" marL="0">
              <a:buNone/>
            </a:pPr>
            <a:r>
              <a:rPr lang="en-US" sz="1500" b="1" dirty="0">
                <a:solidFill>
                  <a:schemeClr val="accent5"/>
                </a:solidFill>
              </a:rPr>
              <a:t>Storing full PDFs on Ethereum costs over $80 per certificate.</a:t>
            </a:r>
            <a:endParaRPr lang="en-US" sz="1500" dirty="0"/>
          </a:p>
        </p:txBody>
      </p:sp>
      <p:sp>
        <p:nvSpPr>
          <p:cNvPr id="24" name="Innovation trilemma"/>
          <p:cNvSpPr txBox="1"/>
          <p:nvPr/>
        </p:nvSpPr>
        <p:spPr>
          <a:xfrm>
            <a:off x="8001000" y="4983480"/>
            <a:ext cx="3337560" cy="1005840"/>
          </a:xfrm>
          <a:prstGeom prst="rect">
            <a:avLst/>
          </a:prstGeom>
          <a:noFill/>
          <a:ln/>
        </p:spPr>
        <p:txBody>
          <a:bodyPr wrap="square" lIns="0" tIns="0" rIns="0" bIns="0" rtlCol="0" anchor="t"/>
          <a:lstStyle/>
          <a:p>
            <a:pPr algn="l" indent="0" marL="0">
              <a:buNone/>
            </a:pPr>
            <a:r>
              <a:rPr lang="en-US" sz="1400" dirty="0">
                <a:solidFill>
                  <a:schemeClr val="bg2"/>
                </a:solidFill>
              </a:rPr>
              <a:t>The trilemma solved: tamper-proof EVM immutability, zero-gas view queries and legal privacy compliance.</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CORE METHODOLOGY</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The Dual-Layer Hybrid Architecture</a:t>
            </a:r>
            <a:endParaRPr lang="en-US" sz="3200" dirty="0"/>
          </a:p>
        </p:txBody>
      </p:sp>
      <p:sp>
        <p:nvSpPr>
          <p:cNvPr id="4" name="On-chain card"/>
          <p:cNvSpPr/>
          <p:nvPr/>
        </p:nvSpPr>
        <p:spPr>
          <a:xfrm>
            <a:off x="548640" y="1463040"/>
            <a:ext cx="5120640" cy="2743200"/>
          </a:xfrm>
          <a:prstGeom prst="roundRect">
            <a:avLst>
              <a:gd name="adj" fmla="val 3333"/>
            </a:avLst>
          </a:prstGeom>
          <a:solidFill>
            <a:schemeClr val="accent1">
              <a:alpha val="10000"/>
            </a:schemeClr>
          </a:solidFill>
          <a:ln/>
        </p:spPr>
      </p:sp>
      <p:sp>
        <p:nvSpPr>
          <p:cNvPr id="5" name="Off-chain card"/>
          <p:cNvSpPr/>
          <p:nvPr/>
        </p:nvSpPr>
        <p:spPr>
          <a:xfrm>
            <a:off x="6522415" y="1463040"/>
            <a:ext cx="5120640" cy="2743200"/>
          </a:xfrm>
          <a:prstGeom prst="roundRect">
            <a:avLst>
              <a:gd name="adj" fmla="val 3333"/>
            </a:avLst>
          </a:prstGeom>
          <a:solidFill>
            <a:schemeClr val="accent4">
              <a:alpha val="10000"/>
            </a:schemeClr>
          </a:solidFill>
          <a:ln/>
        </p:spPr>
      </p:sp>
      <p:sp>
        <p:nvSpPr>
          <p:cNvPr id="6" name="On-chain label"/>
          <p:cNvSpPr txBox="1"/>
          <p:nvPr/>
        </p:nvSpPr>
        <p:spPr>
          <a:xfrm>
            <a:off x="868680" y="1691640"/>
            <a:ext cx="2743200"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ON-CHAIN</a:t>
            </a:r>
            <a:endParaRPr lang="en-US" sz="1200" dirty="0"/>
          </a:p>
        </p:txBody>
      </p:sp>
      <p:sp>
        <p:nvSpPr>
          <p:cNvPr id="7" name="On-chain heading"/>
          <p:cNvSpPr txBox="1"/>
          <p:nvPr/>
        </p:nvSpPr>
        <p:spPr>
          <a:xfrm>
            <a:off x="868680" y="1965960"/>
            <a:ext cx="4389120" cy="4572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Hash-on-Chain</a:t>
            </a:r>
            <a:endParaRPr lang="en-US" sz="2400" dirty="0"/>
          </a:p>
        </p:txBody>
      </p:sp>
      <p:sp>
        <p:nvSpPr>
          <p:cNvPr id="8" name="Check 32-byte SHA-256 digest circle"/>
          <p:cNvSpPr/>
          <p:nvPr/>
        </p:nvSpPr>
        <p:spPr>
          <a:xfrm>
            <a:off x="868680" y="2624328"/>
            <a:ext cx="310896" cy="310896"/>
          </a:xfrm>
          <a:prstGeom prst="ellipse">
            <a:avLst/>
          </a:prstGeom>
          <a:solidFill>
            <a:schemeClr val="accent1"/>
          </a:solidFill>
          <a:ln/>
        </p:spPr>
      </p:sp>
      <p:pic>
        <p:nvPicPr>
          <p:cNvPr id="9" name="Check 32-byte SHA-256 digest" descr="Check 32-byte SHA-256 digest">    </p:cNvPr>
          <p:cNvPicPr>
            <a:picLocks noChangeAspect="1"/>
          </p:cNvPicPr>
          <p:nvPr/>
        </p:nvPicPr>
        <p:blipFill>
          <a:blip r:embed="rId1"/>
          <a:stretch>
            <a:fillRect/>
          </a:stretch>
        </p:blipFill>
        <p:spPr>
          <a:xfrm>
            <a:off x="949513" y="2705161"/>
            <a:ext cx="149230" cy="149230"/>
          </a:xfrm>
          <a:prstGeom prst="rect">
            <a:avLst/>
          </a:prstGeom>
        </p:spPr>
      </p:pic>
      <p:sp>
        <p:nvSpPr>
          <p:cNvPr id="10" name="On-chain item 1"/>
          <p:cNvSpPr txBox="1"/>
          <p:nvPr/>
        </p:nvSpPr>
        <p:spPr>
          <a:xfrm>
            <a:off x="1316736" y="260604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32-byte SHA-256 digest</a:t>
            </a:r>
            <a:endParaRPr lang="en-US" sz="1400" dirty="0"/>
          </a:p>
          <a:p>
            <a:pPr algn="l" indent="0" marL="0">
              <a:buNone/>
            </a:pPr>
            <a:r>
              <a:rPr lang="en-US" sz="1300" dirty="0">
                <a:solidFill>
                  <a:schemeClr val="tx1"/>
                </a:solidFill>
              </a:rPr>
              <a:t>stored as bytes32 sha256Hash</a:t>
            </a:r>
            <a:endParaRPr lang="en-US" sz="1400" dirty="0"/>
          </a:p>
        </p:txBody>
      </p:sp>
      <p:sp>
        <p:nvSpPr>
          <p:cNvPr id="11" name="Check Student SAP ID circle"/>
          <p:cNvSpPr/>
          <p:nvPr/>
        </p:nvSpPr>
        <p:spPr>
          <a:xfrm>
            <a:off x="868680" y="3127248"/>
            <a:ext cx="310896" cy="310896"/>
          </a:xfrm>
          <a:prstGeom prst="ellipse">
            <a:avLst/>
          </a:prstGeom>
          <a:solidFill>
            <a:schemeClr val="accent1"/>
          </a:solidFill>
          <a:ln/>
        </p:spPr>
      </p:sp>
      <p:pic>
        <p:nvPicPr>
          <p:cNvPr id="12" name="Check Student SAP ID" descr="Check Student SAP ID">    </p:cNvPr>
          <p:cNvPicPr>
            <a:picLocks noChangeAspect="1"/>
          </p:cNvPicPr>
          <p:nvPr/>
        </p:nvPicPr>
        <p:blipFill>
          <a:blip r:embed="rId2"/>
          <a:stretch>
            <a:fillRect/>
          </a:stretch>
        </p:blipFill>
        <p:spPr>
          <a:xfrm>
            <a:off x="949513" y="3208081"/>
            <a:ext cx="149230" cy="149230"/>
          </a:xfrm>
          <a:prstGeom prst="rect">
            <a:avLst/>
          </a:prstGeom>
        </p:spPr>
      </p:pic>
      <p:sp>
        <p:nvSpPr>
          <p:cNvPr id="13" name="On-chain item 2"/>
          <p:cNvSpPr txBox="1"/>
          <p:nvPr/>
        </p:nvSpPr>
        <p:spPr>
          <a:xfrm>
            <a:off x="1316736" y="310896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Student SAP ID</a:t>
            </a:r>
            <a:endParaRPr lang="en-US" sz="1400" dirty="0"/>
          </a:p>
          <a:p>
            <a:pPr algn="l" indent="0" marL="0">
              <a:buNone/>
            </a:pPr>
            <a:r>
              <a:rPr lang="en-US" sz="1300" dirty="0">
                <a:solidFill>
                  <a:schemeClr val="tx1"/>
                </a:solidFill>
              </a:rPr>
              <a:t>institutional identifier, no names or grades</a:t>
            </a:r>
            <a:endParaRPr lang="en-US" sz="1400" dirty="0"/>
          </a:p>
        </p:txBody>
      </p:sp>
      <p:sp>
        <p:nvSpPr>
          <p:cNvPr id="14" name="Check Issuer authorization circle"/>
          <p:cNvSpPr/>
          <p:nvPr/>
        </p:nvSpPr>
        <p:spPr>
          <a:xfrm>
            <a:off x="868680" y="3630168"/>
            <a:ext cx="310896" cy="310896"/>
          </a:xfrm>
          <a:prstGeom prst="ellipse">
            <a:avLst/>
          </a:prstGeom>
          <a:solidFill>
            <a:schemeClr val="accent1"/>
          </a:solidFill>
          <a:ln/>
        </p:spPr>
      </p:sp>
      <p:pic>
        <p:nvPicPr>
          <p:cNvPr id="15" name="Check Issuer authorization" descr="Check Issuer authorization">    </p:cNvPr>
          <p:cNvPicPr>
            <a:picLocks noChangeAspect="1"/>
          </p:cNvPicPr>
          <p:nvPr/>
        </p:nvPicPr>
        <p:blipFill>
          <a:blip r:embed="rId3"/>
          <a:stretch>
            <a:fillRect/>
          </a:stretch>
        </p:blipFill>
        <p:spPr>
          <a:xfrm>
            <a:off x="949513" y="3711001"/>
            <a:ext cx="149230" cy="149230"/>
          </a:xfrm>
          <a:prstGeom prst="rect">
            <a:avLst/>
          </a:prstGeom>
        </p:spPr>
      </p:pic>
      <p:sp>
        <p:nvSpPr>
          <p:cNvPr id="16" name="On-chain item 3"/>
          <p:cNvSpPr txBox="1"/>
          <p:nvPr/>
        </p:nvSpPr>
        <p:spPr>
          <a:xfrm>
            <a:off x="1316736" y="361188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Issuer authorization</a:t>
            </a:r>
            <a:endParaRPr lang="en-US" sz="1400" dirty="0"/>
          </a:p>
          <a:p>
            <a:pPr algn="l" indent="0" marL="0">
              <a:buNone/>
            </a:pPr>
            <a:r>
              <a:rPr lang="en-US" sz="1300" dirty="0">
                <a:solidFill>
                  <a:schemeClr val="tx1"/>
                </a:solidFill>
              </a:rPr>
              <a:t>only whitelisted exam-cell wallets can write</a:t>
            </a:r>
            <a:endParaRPr lang="en-US" sz="1400" dirty="0"/>
          </a:p>
        </p:txBody>
      </p:sp>
      <p:sp>
        <p:nvSpPr>
          <p:cNvPr id="17" name="Off-chain label"/>
          <p:cNvSpPr txBox="1"/>
          <p:nvPr/>
        </p:nvSpPr>
        <p:spPr>
          <a:xfrm>
            <a:off x="6842455" y="1691640"/>
            <a:ext cx="2743200" cy="256032"/>
          </a:xfrm>
          <a:prstGeom prst="rect">
            <a:avLst/>
          </a:prstGeom>
          <a:noFill/>
          <a:ln/>
        </p:spPr>
        <p:txBody>
          <a:bodyPr wrap="square" lIns="0" tIns="0" rIns="0" bIns="0" rtlCol="0" anchor="t"/>
          <a:lstStyle/>
          <a:p>
            <a:pPr algn="l" indent="0" marL="0">
              <a:buNone/>
            </a:pPr>
            <a:r>
              <a:rPr lang="en-US" sz="1200" b="1" spc="200" kern="0" dirty="0">
                <a:solidFill>
                  <a:schemeClr val="accent4"/>
                </a:solidFill>
              </a:rPr>
              <a:t>OFF-CHAIN</a:t>
            </a:r>
            <a:endParaRPr lang="en-US" sz="1200" dirty="0"/>
          </a:p>
        </p:txBody>
      </p:sp>
      <p:sp>
        <p:nvSpPr>
          <p:cNvPr id="18" name="Off-chain heading"/>
          <p:cNvSpPr txBox="1"/>
          <p:nvPr/>
        </p:nvSpPr>
        <p:spPr>
          <a:xfrm>
            <a:off x="6842455" y="1965960"/>
            <a:ext cx="4389120" cy="4572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Content-off-Chain</a:t>
            </a:r>
            <a:endParaRPr lang="en-US" sz="2400" dirty="0"/>
          </a:p>
        </p:txBody>
      </p:sp>
      <p:sp>
        <p:nvSpPr>
          <p:cNvPr id="19" name="Check Human-readable PDF circle"/>
          <p:cNvSpPr/>
          <p:nvPr/>
        </p:nvSpPr>
        <p:spPr>
          <a:xfrm>
            <a:off x="6842455" y="2624328"/>
            <a:ext cx="310896" cy="310896"/>
          </a:xfrm>
          <a:prstGeom prst="ellipse">
            <a:avLst/>
          </a:prstGeom>
          <a:solidFill>
            <a:schemeClr val="accent4"/>
          </a:solidFill>
          <a:ln/>
        </p:spPr>
      </p:sp>
      <p:pic>
        <p:nvPicPr>
          <p:cNvPr id="20" name="Check Human-readable PDF" descr="Check Human-readable PDF">    </p:cNvPr>
          <p:cNvPicPr>
            <a:picLocks noChangeAspect="1"/>
          </p:cNvPicPr>
          <p:nvPr/>
        </p:nvPicPr>
        <p:blipFill>
          <a:blip r:embed="rId4"/>
          <a:stretch>
            <a:fillRect/>
          </a:stretch>
        </p:blipFill>
        <p:spPr>
          <a:xfrm>
            <a:off x="6923288" y="2705161"/>
            <a:ext cx="149230" cy="149230"/>
          </a:xfrm>
          <a:prstGeom prst="rect">
            <a:avLst/>
          </a:prstGeom>
        </p:spPr>
      </p:pic>
      <p:sp>
        <p:nvSpPr>
          <p:cNvPr id="21" name="Off-chain item 1"/>
          <p:cNvSpPr txBox="1"/>
          <p:nvPr/>
        </p:nvSpPr>
        <p:spPr>
          <a:xfrm>
            <a:off x="7290511" y="260604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Human-readable PDF</a:t>
            </a:r>
            <a:endParaRPr lang="en-US" sz="1400" dirty="0"/>
          </a:p>
          <a:p>
            <a:pPr algn="l" indent="0" marL="0">
              <a:buNone/>
            </a:pPr>
            <a:r>
              <a:rPr lang="en-US" sz="1300" dirty="0">
                <a:solidFill>
                  <a:schemeClr val="tx1"/>
                </a:solidFill>
              </a:rPr>
              <a:t>kept out of the ledger entirely</a:t>
            </a:r>
            <a:endParaRPr lang="en-US" sz="1400" dirty="0"/>
          </a:p>
        </p:txBody>
      </p:sp>
      <p:sp>
        <p:nvSpPr>
          <p:cNvPr id="22" name="Check Decentralized IPFS storage circle"/>
          <p:cNvSpPr/>
          <p:nvPr/>
        </p:nvSpPr>
        <p:spPr>
          <a:xfrm>
            <a:off x="6842455" y="3127248"/>
            <a:ext cx="310896" cy="310896"/>
          </a:xfrm>
          <a:prstGeom prst="ellipse">
            <a:avLst/>
          </a:prstGeom>
          <a:solidFill>
            <a:schemeClr val="accent4"/>
          </a:solidFill>
          <a:ln/>
        </p:spPr>
      </p:sp>
      <p:pic>
        <p:nvPicPr>
          <p:cNvPr id="23" name="Check Decentralized IPFS storage" descr="Check Decentralized IPFS storage">    </p:cNvPr>
          <p:cNvPicPr>
            <a:picLocks noChangeAspect="1"/>
          </p:cNvPicPr>
          <p:nvPr/>
        </p:nvPicPr>
        <p:blipFill>
          <a:blip r:embed="rId5"/>
          <a:stretch>
            <a:fillRect/>
          </a:stretch>
        </p:blipFill>
        <p:spPr>
          <a:xfrm>
            <a:off x="6923288" y="3208081"/>
            <a:ext cx="149230" cy="149230"/>
          </a:xfrm>
          <a:prstGeom prst="rect">
            <a:avLst/>
          </a:prstGeom>
        </p:spPr>
      </p:pic>
      <p:sp>
        <p:nvSpPr>
          <p:cNvPr id="24" name="Off-chain item 2"/>
          <p:cNvSpPr txBox="1"/>
          <p:nvPr/>
        </p:nvSpPr>
        <p:spPr>
          <a:xfrm>
            <a:off x="7290511" y="310896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Decentralized IPFS storage</a:t>
            </a:r>
            <a:endParaRPr lang="en-US" sz="1400" dirty="0"/>
          </a:p>
          <a:p>
            <a:pPr algn="l" indent="0" marL="0">
              <a:buNone/>
            </a:pPr>
            <a:r>
              <a:rPr lang="en-US" sz="1300" dirty="0">
                <a:solidFill>
                  <a:schemeClr val="tx1"/>
                </a:solidFill>
              </a:rPr>
              <a:t>content-addressed by CID, or student custody</a:t>
            </a:r>
            <a:endParaRPr lang="en-US" sz="1400" dirty="0"/>
          </a:p>
        </p:txBody>
      </p:sp>
      <p:sp>
        <p:nvSpPr>
          <p:cNvPr id="25" name="Check Erasable by design circle"/>
          <p:cNvSpPr/>
          <p:nvPr/>
        </p:nvSpPr>
        <p:spPr>
          <a:xfrm>
            <a:off x="6842455" y="3630168"/>
            <a:ext cx="310896" cy="310896"/>
          </a:xfrm>
          <a:prstGeom prst="ellipse">
            <a:avLst/>
          </a:prstGeom>
          <a:solidFill>
            <a:schemeClr val="accent4"/>
          </a:solidFill>
          <a:ln/>
        </p:spPr>
      </p:sp>
      <p:pic>
        <p:nvPicPr>
          <p:cNvPr id="26" name="Check Erasable by design" descr="Check Erasable by design">    </p:cNvPr>
          <p:cNvPicPr>
            <a:picLocks noChangeAspect="1"/>
          </p:cNvPicPr>
          <p:nvPr/>
        </p:nvPicPr>
        <p:blipFill>
          <a:blip r:embed="rId6"/>
          <a:stretch>
            <a:fillRect/>
          </a:stretch>
        </p:blipFill>
        <p:spPr>
          <a:xfrm>
            <a:off x="6923288" y="3711001"/>
            <a:ext cx="149230" cy="149230"/>
          </a:xfrm>
          <a:prstGeom prst="rect">
            <a:avLst/>
          </a:prstGeom>
        </p:spPr>
      </p:pic>
      <p:sp>
        <p:nvSpPr>
          <p:cNvPr id="27" name="Off-chain item 3"/>
          <p:cNvSpPr txBox="1"/>
          <p:nvPr/>
        </p:nvSpPr>
        <p:spPr>
          <a:xfrm>
            <a:off x="7290511" y="361188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Erasable by design</a:t>
            </a:r>
            <a:endParaRPr lang="en-US" sz="1400" dirty="0"/>
          </a:p>
          <a:p>
            <a:pPr algn="l" indent="0" marL="0">
              <a:buNone/>
            </a:pPr>
            <a:r>
              <a:rPr lang="en-US" sz="1300" dirty="0">
                <a:solidFill>
                  <a:schemeClr val="tx1"/>
                </a:solidFill>
              </a:rPr>
              <a:t>unpin the PDF; the hash stays anonymous</a:t>
            </a:r>
            <a:endParaRPr lang="en-US" sz="1400" dirty="0"/>
          </a:p>
        </p:txBody>
      </p:sp>
      <p:sp>
        <p:nvSpPr>
          <p:cNvPr id="28" name="Link icon circle"/>
          <p:cNvSpPr/>
          <p:nvPr/>
        </p:nvSpPr>
        <p:spPr>
          <a:xfrm>
            <a:off x="5775808" y="2468880"/>
            <a:ext cx="640080" cy="640080"/>
          </a:xfrm>
          <a:prstGeom prst="ellipse">
            <a:avLst/>
          </a:prstGeom>
          <a:solidFill>
            <a:schemeClr val="tx2"/>
          </a:solidFill>
          <a:ln/>
        </p:spPr>
      </p:sp>
      <p:pic>
        <p:nvPicPr>
          <p:cNvPr id="29" name="Link icon" descr="Link icon">    </p:cNvPr>
          <p:cNvPicPr>
            <a:picLocks noChangeAspect="1"/>
          </p:cNvPicPr>
          <p:nvPr/>
        </p:nvPicPr>
        <p:blipFill>
          <a:blip r:embed="rId7"/>
          <a:stretch>
            <a:fillRect/>
          </a:stretch>
        </p:blipFill>
        <p:spPr>
          <a:xfrm>
            <a:off x="5942228" y="2635301"/>
            <a:ext cx="307238" cy="307238"/>
          </a:xfrm>
          <a:prstGeom prst="rect">
            <a:avLst/>
          </a:prstGeom>
        </p:spPr>
      </p:pic>
      <p:sp>
        <p:nvSpPr>
          <p:cNvPr id="30" name="Benefit card 1"/>
          <p:cNvSpPr/>
          <p:nvPr/>
        </p:nvSpPr>
        <p:spPr>
          <a:xfrm>
            <a:off x="548640" y="4434840"/>
            <a:ext cx="5120640" cy="1828800"/>
          </a:xfrm>
          <a:prstGeom prst="roundRect">
            <a:avLst>
              <a:gd name="adj" fmla="val 5000"/>
            </a:avLst>
          </a:prstGeom>
          <a:solidFill>
            <a:schemeClr val="bg2"/>
          </a:solidFill>
          <a:ln/>
        </p:spPr>
      </p:sp>
      <p:sp>
        <p:nvSpPr>
          <p:cNvPr id="31" name="Benefit icon 1 circle"/>
          <p:cNvSpPr/>
          <p:nvPr/>
        </p:nvSpPr>
        <p:spPr>
          <a:xfrm>
            <a:off x="868680" y="4663440"/>
            <a:ext cx="640080" cy="640080"/>
          </a:xfrm>
          <a:prstGeom prst="ellipse">
            <a:avLst/>
          </a:prstGeom>
          <a:solidFill>
            <a:schemeClr val="accent2"/>
          </a:solidFill>
          <a:ln/>
        </p:spPr>
      </p:sp>
      <p:pic>
        <p:nvPicPr>
          <p:cNvPr id="32" name="Benefit icon 1" descr="Benefit icon 1">    </p:cNvPr>
          <p:cNvPicPr>
            <a:picLocks noChangeAspect="1"/>
          </p:cNvPicPr>
          <p:nvPr/>
        </p:nvPicPr>
        <p:blipFill>
          <a:blip r:embed="rId8"/>
          <a:stretch>
            <a:fillRect/>
          </a:stretch>
        </p:blipFill>
        <p:spPr>
          <a:xfrm>
            <a:off x="1035101" y="4829861"/>
            <a:ext cx="307238" cy="307238"/>
          </a:xfrm>
          <a:prstGeom prst="rect">
            <a:avLst/>
          </a:prstGeom>
        </p:spPr>
      </p:pic>
      <p:sp>
        <p:nvSpPr>
          <p:cNvPr id="33" name="Benefit heading 1"/>
          <p:cNvSpPr txBox="1"/>
          <p:nvPr/>
        </p:nvSpPr>
        <p:spPr>
          <a:xfrm>
            <a:off x="1737360" y="4663440"/>
            <a:ext cx="3657600" cy="640080"/>
          </a:xfrm>
          <a:prstGeom prst="rect">
            <a:avLst/>
          </a:prstGeom>
          <a:noFill/>
          <a:ln/>
        </p:spPr>
        <p:txBody>
          <a:bodyPr wrap="square" lIns="0" tIns="0" rIns="0" bIns="0" rtlCol="0" anchor="ctr"/>
          <a:lstStyle/>
          <a:p>
            <a:pPr algn="l" indent="0" marL="0">
              <a:buNone/>
            </a:pPr>
            <a:r>
              <a:rPr lang="en-US" sz="1800" b="1" dirty="0">
                <a:solidFill>
                  <a:schemeClr val="tx2"/>
                </a:solidFill>
              </a:rPr>
              <a:t>Zero-Gas O(1) Verification</a:t>
            </a:r>
            <a:endParaRPr lang="en-US" sz="1800" dirty="0"/>
          </a:p>
        </p:txBody>
      </p:sp>
      <p:sp>
        <p:nvSpPr>
          <p:cNvPr id="34" name="Benefit text 1"/>
          <p:cNvSpPr txBox="1"/>
          <p:nvPr/>
        </p:nvSpPr>
        <p:spPr>
          <a:xfrm>
            <a:off x="868680" y="5468112"/>
            <a:ext cx="4526280" cy="731520"/>
          </a:xfrm>
          <a:prstGeom prst="rect">
            <a:avLst/>
          </a:prstGeom>
          <a:noFill/>
          <a:ln/>
        </p:spPr>
        <p:txBody>
          <a:bodyPr wrap="square" lIns="0" tIns="0" rIns="0" bIns="0" rtlCol="0" anchor="t"/>
          <a:lstStyle/>
          <a:p>
            <a:pPr algn="l" indent="0" marL="0">
              <a:buNone/>
            </a:pPr>
            <a:r>
              <a:rPr lang="en-US" sz="1400" dirty="0">
                <a:solidFill>
                  <a:schemeClr val="tx1"/>
                </a:solidFill>
              </a:rPr>
              <a:t>Recruiters call verifyByHash() and get an answer in sub-second constant time, with no transaction fees.</a:t>
            </a:r>
            <a:endParaRPr lang="en-US" sz="1400" dirty="0"/>
          </a:p>
        </p:txBody>
      </p:sp>
      <p:sp>
        <p:nvSpPr>
          <p:cNvPr id="35" name="Benefit card 2"/>
          <p:cNvSpPr/>
          <p:nvPr/>
        </p:nvSpPr>
        <p:spPr>
          <a:xfrm>
            <a:off x="6522415" y="4434840"/>
            <a:ext cx="5120640" cy="1828800"/>
          </a:xfrm>
          <a:prstGeom prst="roundRect">
            <a:avLst>
              <a:gd name="adj" fmla="val 5000"/>
            </a:avLst>
          </a:prstGeom>
          <a:solidFill>
            <a:schemeClr val="bg2"/>
          </a:solidFill>
          <a:ln/>
        </p:spPr>
      </p:sp>
      <p:sp>
        <p:nvSpPr>
          <p:cNvPr id="36" name="Benefit icon 2 circle"/>
          <p:cNvSpPr/>
          <p:nvPr/>
        </p:nvSpPr>
        <p:spPr>
          <a:xfrm>
            <a:off x="6842455" y="4663440"/>
            <a:ext cx="640080" cy="640080"/>
          </a:xfrm>
          <a:prstGeom prst="ellipse">
            <a:avLst/>
          </a:prstGeom>
          <a:solidFill>
            <a:schemeClr val="accent3"/>
          </a:solidFill>
          <a:ln/>
        </p:spPr>
      </p:sp>
      <p:pic>
        <p:nvPicPr>
          <p:cNvPr id="37" name="Benefit icon 2" descr="Benefit icon 2">    </p:cNvPr>
          <p:cNvPicPr>
            <a:picLocks noChangeAspect="1"/>
          </p:cNvPicPr>
          <p:nvPr/>
        </p:nvPicPr>
        <p:blipFill>
          <a:blip r:embed="rId9"/>
          <a:stretch>
            <a:fillRect/>
          </a:stretch>
        </p:blipFill>
        <p:spPr>
          <a:xfrm>
            <a:off x="7008876" y="4829861"/>
            <a:ext cx="307238" cy="307238"/>
          </a:xfrm>
          <a:prstGeom prst="rect">
            <a:avLst/>
          </a:prstGeom>
        </p:spPr>
      </p:pic>
      <p:sp>
        <p:nvSpPr>
          <p:cNvPr id="38" name="Benefit heading 2"/>
          <p:cNvSpPr txBox="1"/>
          <p:nvPr/>
        </p:nvSpPr>
        <p:spPr>
          <a:xfrm>
            <a:off x="7711135" y="4663440"/>
            <a:ext cx="3657600" cy="640080"/>
          </a:xfrm>
          <a:prstGeom prst="rect">
            <a:avLst/>
          </a:prstGeom>
          <a:noFill/>
          <a:ln/>
        </p:spPr>
        <p:txBody>
          <a:bodyPr wrap="square" lIns="0" tIns="0" rIns="0" bIns="0" rtlCol="0" anchor="ctr"/>
          <a:lstStyle/>
          <a:p>
            <a:pPr algn="l" indent="0" marL="0">
              <a:buNone/>
            </a:pPr>
            <a:r>
              <a:rPr lang="en-US" sz="1800" b="1" dirty="0">
                <a:solidFill>
                  <a:schemeClr val="tx2"/>
                </a:solidFill>
              </a:rPr>
              <a:t>Strict Avalanche Tamper Detection</a:t>
            </a:r>
            <a:endParaRPr lang="en-US" sz="1800" dirty="0"/>
          </a:p>
        </p:txBody>
      </p:sp>
      <p:sp>
        <p:nvSpPr>
          <p:cNvPr id="39" name="Benefit text 2"/>
          <p:cNvSpPr txBox="1"/>
          <p:nvPr/>
        </p:nvSpPr>
        <p:spPr>
          <a:xfrm>
            <a:off x="6842455" y="5468112"/>
            <a:ext cx="4526280" cy="731520"/>
          </a:xfrm>
          <a:prstGeom prst="rect">
            <a:avLst/>
          </a:prstGeom>
          <a:noFill/>
          <a:ln/>
        </p:spPr>
        <p:txBody>
          <a:bodyPr wrap="square" lIns="0" tIns="0" rIns="0" bIns="0" rtlCol="0" anchor="t"/>
          <a:lstStyle/>
          <a:p>
            <a:pPr algn="l" indent="0" marL="0">
              <a:buNone/>
            </a:pPr>
            <a:r>
              <a:rPr lang="en-US" sz="1400" dirty="0">
                <a:solidFill>
                  <a:schemeClr val="tx1"/>
                </a:solidFill>
              </a:rPr>
              <a:t>Changing a single character of the document flips about 50% of hash bits and instantly invalidates verification.</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
        <p:nvSpPr>
          <p:cNvPr id="40" name="Rounded Rectangle 39"/>
          <p:cNvSpPr/>
          <p:nvPr/>
        </p:nvSpPr>
        <p:spPr>
          <a:xfrm>
            <a:off x="548640" y="4343400"/>
            <a:ext cx="11091672" cy="502920"/>
          </a:xfrm>
          <a:prstGeom prst="roundRect">
            <a:avLst/>
          </a:prstGeom>
          <a:solidFill>
            <a:srgbClr val="0F172A"/>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4370832"/>
            <a:ext cx="10725912" cy="457200"/>
          </a:xfrm>
          <a:prstGeom prst="rect">
            <a:avLst/>
          </a:prstGeom>
          <a:noFill/>
        </p:spPr>
        <p:txBody>
          <a:bodyPr wrap="none">
            <a:spAutoFit/>
          </a:bodyPr>
          <a:lstStyle/>
          <a:p>
            <a:pPr algn="ctr"/>
            <a:r>
              <a:rPr b="1" sz="1050">
                <a:solidFill>
                  <a:srgbClr val="38BDF8"/>
                </a:solidFill>
              </a:rPr>
              <a:t>⚡ QUANTITATIVE STORAGE OPTIMIZATION: </a:t>
            </a:r>
            <a:r>
              <a:rPr sz="1050">
                <a:solidFill>
                  <a:srgbClr val="CBD5E1"/>
                </a:solidFill>
              </a:rPr>
              <a:t>Raw PDF Document (500 KB = 512,000 Bytes on IPFS)  ➔  Cryptographic SHA-256 Digest (32 Bytes on EVM)  ➔  </a:t>
            </a:r>
            <a:r>
              <a:rPr b="1" sz="1050">
                <a:solidFill>
                  <a:srgbClr val="4ADE80"/>
                </a:solidFill>
              </a:rPr>
              <a:t>99.994% On-Chain Data Footprint Reduction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2  |  LITERATURE REVIEW &amp; RESEARCH GAP</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Why Existing Credential Systems Fall Short</a:t>
            </a:r>
            <a:endParaRPr lang="en-US" sz="3200" dirty="0"/>
          </a:p>
        </p:txBody>
      </p:sp>
      <p:graphicFrame>
        <p:nvGraphicFramePr>
          <p:cNvPr id="6" name="Literature table"/>
          <p:cNvGraphicFramePr>
            <a:graphicFrameLocks noGrp="1"/>
          </p:cNvGraphicFramePr>
          <p:nvPr>
            <p:extLst>
              <p:ext uri="{D42A27DB-BD31-4B8C-83A1-F6EECF244321}">
                <p14:modId xmlns:p14="http://schemas.microsoft.com/office/powerpoint/2010/main" val="1579011935"/>
              </p:ext>
            </p:extLst>
          </p:nvPr>
        </p:nvGraphicFramePr>
        <p:xfrm>
          <a:off x="548640" y="1463040"/>
          <a:ext cx="7269480" cy="914400"/>
        </p:xfrm>
        <a:graphic>
          <a:graphicData uri="http://schemas.openxmlformats.org/drawingml/2006/table">
            <a:tbl>
              <a:tblPr/>
              <a:tblGrid>
                <a:gridCol w="2011680"/>
                <a:gridCol w="1417320"/>
                <a:gridCol w="3840480"/>
              </a:tblGrid>
              <a:tr h="384048">
                <a:tc>
                  <a:txBody>
                    <a:bodyPr/>
                    <a:lstStyle/>
                    <a:p>
                      <a:pPr indent="0" marL="0">
                        <a:buNone/>
                      </a:pPr>
                      <a:r>
                        <a:rPr lang="en-US" sz="1300" b="1" dirty="0">
                          <a:solidFill>
                            <a:srgbClr val="FFFFFF"/>
                          </a:solidFill>
                        </a:rPr>
                        <a:t>Framework</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B3A"/>
                    </a:solidFill>
                  </a:tcPr>
                </a:tc>
                <a:tc>
                  <a:txBody>
                    <a:bodyPr/>
                    <a:lstStyle/>
                    <a:p>
                      <a:pPr indent="0" marL="0">
                        <a:buNone/>
                      </a:pPr>
                      <a:r>
                        <a:rPr lang="en-US" sz="1300" b="1" dirty="0">
                          <a:solidFill>
                            <a:srgbClr val="FFFFFF"/>
                          </a:solidFill>
                        </a:rPr>
                        <a:t>Approach</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B3A"/>
                    </a:solidFill>
                  </a:tcPr>
                </a:tc>
                <a:tc>
                  <a:txBody>
                    <a:bodyPr/>
                    <a:lstStyle/>
                    <a:p>
                      <a:pPr indent="0" marL="0">
                        <a:buNone/>
                      </a:pPr>
                      <a:r>
                        <a:rPr lang="en-US" sz="1300" b="1" dirty="0">
                          <a:solidFill>
                            <a:srgbClr val="FFFFFF"/>
                          </a:solidFill>
                        </a:rPr>
                        <a:t>Key limitations</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B3A"/>
                    </a:solidFill>
                  </a:tcPr>
                </a:tc>
              </a:tr>
              <a:tr h="822960">
                <a:tc>
                  <a:txBody>
                    <a:bodyPr/>
                    <a:lstStyle/>
                    <a:p>
                      <a:pPr indent="0" marL="0">
                        <a:buNone/>
                      </a:pPr>
                      <a:r>
                        <a:rPr lang="en-US" sz="1200" b="1" dirty="0">
                          <a:solidFill>
                            <a:srgbClr val="1E293B"/>
                          </a:solidFill>
                        </a:rPr>
                        <a:t>Traditional University Registrar</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Manual, paper-based</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High verifier cost; 14-30 day latency; high PII exposure via email; destructive database overwrites</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822960">
                <a:tc>
                  <a:txBody>
                    <a:bodyPr/>
                    <a:lstStyle/>
                    <a:p>
                      <a:pPr indent="0" marL="0">
                        <a:buNone/>
                      </a:pPr>
                      <a:r>
                        <a:rPr lang="en-US" sz="1200" b="1" dirty="0">
                          <a:solidFill>
                            <a:srgbClr val="1E293B"/>
                          </a:solidFill>
                        </a:rPr>
                        <a:t>DigiLocker / NAD (MeitY 2025)</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Central API</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Server outages; centralized CA signing keys (a leaked key makes fakes look valid); no decentralized auditability</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1E293B"/>
                          </a:solidFill>
                        </a:rPr>
                        <a:t>MIT Blockcerts (2016)</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Bitcoin</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$5-$25 fees; ~10-minute block latency; no Turing-complete revocation</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1E293B"/>
                          </a:solidFill>
                        </a:rPr>
                        <a:t>Roy &amp; Mahindru (2024)</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Ethereum</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Names and grades on-chain; over $80 gas per certificate; PII leak violates DPDP Act</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1E293B"/>
                          </a:solidFill>
                        </a:rPr>
                        <a:t>Kaur (2026)</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NFT (ERC-721)</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Over 150,000 mint gas; transferability risk, since degrees should not be tradeable</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able caption"/>
          <p:cNvSpPr txBox="1"/>
          <p:nvPr/>
        </p:nvSpPr>
        <p:spPr>
          <a:xfrm>
            <a:off x="548640" y="5852160"/>
            <a:ext cx="7269480" cy="274320"/>
          </a:xfrm>
          <a:prstGeom prst="rect">
            <a:avLst/>
          </a:prstGeom>
          <a:noFill/>
          <a:ln/>
        </p:spPr>
        <p:txBody>
          <a:bodyPr wrap="square" lIns="0" tIns="0" rIns="0" bIns="0" rtlCol="0" anchor="t"/>
          <a:lstStyle/>
          <a:p>
            <a:pPr algn="l" indent="0" marL="0">
              <a:buNone/>
            </a:pPr>
            <a:r>
              <a:rPr lang="en-US" sz="1100" dirty="0">
                <a:solidFill>
                  <a:schemeClr val="accent6"/>
                </a:solidFill>
              </a:rPr>
              <a:t>Representative systems drawn from a review of eight frameworks.</a:t>
            </a:r>
            <a:endParaRPr lang="en-US" sz="1100" dirty="0"/>
          </a:p>
        </p:txBody>
      </p:sp>
      <p:sp>
        <p:nvSpPr>
          <p:cNvPr id="6" name="EduCred panel"/>
          <p:cNvSpPr/>
          <p:nvPr/>
        </p:nvSpPr>
        <p:spPr>
          <a:xfrm>
            <a:off x="8092440" y="1463040"/>
            <a:ext cx="3547872" cy="4800600"/>
          </a:xfrm>
          <a:prstGeom prst="roundRect">
            <a:avLst>
              <a:gd name="adj" fmla="val 2577"/>
            </a:avLst>
          </a:prstGeom>
          <a:solidFill>
            <a:schemeClr val="tx2"/>
          </a:solidFill>
          <a:ln/>
        </p:spPr>
      </p:sp>
      <p:sp>
        <p:nvSpPr>
          <p:cNvPr id="7" name="EduCred panel heading"/>
          <p:cNvSpPr txBox="1"/>
          <p:nvPr/>
        </p:nvSpPr>
        <p:spPr>
          <a:xfrm>
            <a:off x="8366760" y="1664208"/>
            <a:ext cx="3017520" cy="365760"/>
          </a:xfrm>
          <a:prstGeom prst="rect">
            <a:avLst/>
          </a:prstGeom>
          <a:noFill/>
          <a:ln/>
        </p:spPr>
        <p:txBody>
          <a:bodyPr wrap="square" lIns="0" tIns="0" rIns="0" bIns="0" rtlCol="0" anchor="t"/>
          <a:lstStyle/>
          <a:p>
            <a:pPr algn="l" indent="0" marL="0">
              <a:buNone/>
            </a:pPr>
            <a:r>
              <a:rPr lang="en-US" sz="1800" b="1" dirty="0">
                <a:solidFill>
                  <a:schemeClr val="accent5"/>
                </a:solidFill>
                <a:latin typeface="Cambria" pitchFamily="34" charset="0"/>
                <a:ea typeface="Cambria" pitchFamily="34" charset="-122"/>
                <a:cs typeface="Cambria" pitchFamily="34" charset="-120"/>
              </a:rPr>
              <a:t>EduCred (This Project)</a:t>
            </a:r>
            <a:endParaRPr lang="en-US" sz="1800" dirty="0"/>
          </a:p>
        </p:txBody>
      </p:sp>
      <p:sp>
        <p:nvSpPr>
          <p:cNvPr id="8" name="EduCred check 1 circle"/>
          <p:cNvSpPr/>
          <p:nvPr/>
        </p:nvSpPr>
        <p:spPr>
          <a:xfrm>
            <a:off x="8366760" y="2231136"/>
            <a:ext cx="310896" cy="310896"/>
          </a:xfrm>
          <a:prstGeom prst="ellipse">
            <a:avLst/>
          </a:prstGeom>
          <a:solidFill>
            <a:schemeClr val="accent5"/>
          </a:solidFill>
          <a:ln/>
        </p:spPr>
      </p:sp>
      <p:pic>
        <p:nvPicPr>
          <p:cNvPr id="9" name="EduCred check 1" descr="EduCred check 1">    </p:cNvPr>
          <p:cNvPicPr>
            <a:picLocks noChangeAspect="1"/>
          </p:cNvPicPr>
          <p:nvPr/>
        </p:nvPicPr>
        <p:blipFill>
          <a:blip r:embed="rId1"/>
          <a:stretch>
            <a:fillRect/>
          </a:stretch>
        </p:blipFill>
        <p:spPr>
          <a:xfrm>
            <a:off x="8447593" y="2311969"/>
            <a:ext cx="149230" cy="149230"/>
          </a:xfrm>
          <a:prstGeom prst="rect">
            <a:avLst/>
          </a:prstGeom>
        </p:spPr>
      </p:pic>
      <p:sp>
        <p:nvSpPr>
          <p:cNvPr id="10" name="EduCred item 1"/>
          <p:cNvSpPr txBox="1"/>
          <p:nvPr/>
        </p:nvSpPr>
        <p:spPr>
          <a:xfrm>
            <a:off x="8796528" y="2194560"/>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Zero verifier cost</a:t>
            </a:r>
            <a:endParaRPr lang="en-US" sz="1400" dirty="0"/>
          </a:p>
          <a:p>
            <a:pPr algn="l" indent="0" marL="0">
              <a:buNone/>
            </a:pPr>
            <a:r>
              <a:rPr lang="en-US" sz="1300" dirty="0">
                <a:solidFill>
                  <a:schemeClr val="bg2"/>
                </a:solidFill>
              </a:rPr>
              <a:t>Free O(1) view query</a:t>
            </a:r>
            <a:endParaRPr lang="en-US" sz="1400" dirty="0"/>
          </a:p>
        </p:txBody>
      </p:sp>
      <p:sp>
        <p:nvSpPr>
          <p:cNvPr id="11" name="EduCred check 2 circle"/>
          <p:cNvSpPr/>
          <p:nvPr/>
        </p:nvSpPr>
        <p:spPr>
          <a:xfrm>
            <a:off x="8366760" y="2898648"/>
            <a:ext cx="310896" cy="310896"/>
          </a:xfrm>
          <a:prstGeom prst="ellipse">
            <a:avLst/>
          </a:prstGeom>
          <a:solidFill>
            <a:schemeClr val="accent5"/>
          </a:solidFill>
          <a:ln/>
        </p:spPr>
      </p:sp>
      <p:pic>
        <p:nvPicPr>
          <p:cNvPr id="12" name="EduCred check 2" descr="EduCred check 2">    </p:cNvPr>
          <p:cNvPicPr>
            <a:picLocks noChangeAspect="1"/>
          </p:cNvPicPr>
          <p:nvPr/>
        </p:nvPicPr>
        <p:blipFill>
          <a:blip r:embed="rId2"/>
          <a:stretch>
            <a:fillRect/>
          </a:stretch>
        </p:blipFill>
        <p:spPr>
          <a:xfrm>
            <a:off x="8447593" y="2979481"/>
            <a:ext cx="149230" cy="149230"/>
          </a:xfrm>
          <a:prstGeom prst="rect">
            <a:avLst/>
          </a:prstGeom>
        </p:spPr>
      </p:pic>
      <p:sp>
        <p:nvSpPr>
          <p:cNvPr id="13" name="EduCred item 2"/>
          <p:cNvSpPr txBox="1"/>
          <p:nvPr/>
        </p:nvSpPr>
        <p:spPr>
          <a:xfrm>
            <a:off x="8796528" y="2862072"/>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Sub-second latency</a:t>
            </a:r>
            <a:endParaRPr lang="en-US" sz="1400" dirty="0"/>
          </a:p>
          <a:p>
            <a:pPr algn="l" indent="0" marL="0">
              <a:buNone/>
            </a:pPr>
            <a:r>
              <a:rPr lang="en-US" sz="1300" dirty="0">
                <a:solidFill>
                  <a:schemeClr val="bg2"/>
                </a:solidFill>
              </a:rPr>
              <a:t>Verification in under 1 s</a:t>
            </a:r>
            <a:endParaRPr lang="en-US" sz="1400" dirty="0"/>
          </a:p>
        </p:txBody>
      </p:sp>
      <p:sp>
        <p:nvSpPr>
          <p:cNvPr id="14" name="EduCred check 3 circle"/>
          <p:cNvSpPr/>
          <p:nvPr/>
        </p:nvSpPr>
        <p:spPr>
          <a:xfrm>
            <a:off x="8366760" y="3566160"/>
            <a:ext cx="310896" cy="310896"/>
          </a:xfrm>
          <a:prstGeom prst="ellipse">
            <a:avLst/>
          </a:prstGeom>
          <a:solidFill>
            <a:schemeClr val="accent5"/>
          </a:solidFill>
          <a:ln/>
        </p:spPr>
      </p:sp>
      <p:pic>
        <p:nvPicPr>
          <p:cNvPr id="15" name="EduCred check 3" descr="EduCred check 3">    </p:cNvPr>
          <p:cNvPicPr>
            <a:picLocks noChangeAspect="1"/>
          </p:cNvPicPr>
          <p:nvPr/>
        </p:nvPicPr>
        <p:blipFill>
          <a:blip r:embed="rId3"/>
          <a:stretch>
            <a:fillRect/>
          </a:stretch>
        </p:blipFill>
        <p:spPr>
          <a:xfrm>
            <a:off x="8447593" y="3646993"/>
            <a:ext cx="149230" cy="149230"/>
          </a:xfrm>
          <a:prstGeom prst="rect">
            <a:avLst/>
          </a:prstGeom>
        </p:spPr>
      </p:pic>
      <p:sp>
        <p:nvSpPr>
          <p:cNvPr id="16" name="EduCred item 3"/>
          <p:cNvSpPr txBox="1"/>
          <p:nvPr/>
        </p:nvSpPr>
        <p:spPr>
          <a:xfrm>
            <a:off x="8796528" y="3529584"/>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Zero PII leakage</a:t>
            </a:r>
            <a:endParaRPr lang="en-US" sz="1400" dirty="0"/>
          </a:p>
          <a:p>
            <a:pPr algn="l" indent="0" marL="0">
              <a:buNone/>
            </a:pPr>
            <a:r>
              <a:rPr lang="en-US" sz="1300" dirty="0">
                <a:solidFill>
                  <a:schemeClr val="bg2"/>
                </a:solidFill>
              </a:rPr>
              <a:t>Fully DPDP Act 2023 compliant</a:t>
            </a:r>
            <a:endParaRPr lang="en-US" sz="1400" dirty="0"/>
          </a:p>
        </p:txBody>
      </p:sp>
      <p:sp>
        <p:nvSpPr>
          <p:cNvPr id="17" name="EduCred check 4 circle"/>
          <p:cNvSpPr/>
          <p:nvPr/>
        </p:nvSpPr>
        <p:spPr>
          <a:xfrm>
            <a:off x="8366760" y="4233672"/>
            <a:ext cx="310896" cy="310896"/>
          </a:xfrm>
          <a:prstGeom prst="ellipse">
            <a:avLst/>
          </a:prstGeom>
          <a:solidFill>
            <a:schemeClr val="accent5"/>
          </a:solidFill>
          <a:ln/>
        </p:spPr>
      </p:sp>
      <p:pic>
        <p:nvPicPr>
          <p:cNvPr id="18" name="EduCred check 4" descr="EduCred check 4">    </p:cNvPr>
          <p:cNvPicPr>
            <a:picLocks noChangeAspect="1"/>
          </p:cNvPicPr>
          <p:nvPr/>
        </p:nvPicPr>
        <p:blipFill>
          <a:blip r:embed="rId4"/>
          <a:stretch>
            <a:fillRect/>
          </a:stretch>
        </p:blipFill>
        <p:spPr>
          <a:xfrm>
            <a:off x="8447593" y="4314505"/>
            <a:ext cx="149230" cy="149230"/>
          </a:xfrm>
          <a:prstGeom prst="rect">
            <a:avLst/>
          </a:prstGeom>
        </p:spPr>
      </p:pic>
      <p:sp>
        <p:nvSpPr>
          <p:cNvPr id="19" name="EduCred item 4"/>
          <p:cNvSpPr txBox="1"/>
          <p:nvPr/>
        </p:nvSpPr>
        <p:spPr>
          <a:xfrm>
            <a:off x="8796528" y="4197096"/>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Non-destructive revocation</a:t>
            </a:r>
            <a:endParaRPr lang="en-US" sz="1400" dirty="0"/>
          </a:p>
          <a:p>
            <a:pPr algn="l" indent="0" marL="0">
              <a:buNone/>
            </a:pPr>
            <a:r>
              <a:rPr lang="en-US" sz="1300" dirty="0">
                <a:solidFill>
                  <a:schemeClr val="bg2"/>
                </a:solidFill>
              </a:rPr>
              <a:t>Legal audit trail preserved</a:t>
            </a:r>
            <a:endParaRPr lang="en-US" sz="1400" dirty="0"/>
          </a:p>
        </p:txBody>
      </p:sp>
      <p:sp>
        <p:nvSpPr>
          <p:cNvPr id="20" name="EduCred check 5 circle"/>
          <p:cNvSpPr/>
          <p:nvPr/>
        </p:nvSpPr>
        <p:spPr>
          <a:xfrm>
            <a:off x="8366760" y="4901184"/>
            <a:ext cx="310896" cy="310896"/>
          </a:xfrm>
          <a:prstGeom prst="ellipse">
            <a:avLst/>
          </a:prstGeom>
          <a:solidFill>
            <a:schemeClr val="accent5"/>
          </a:solidFill>
          <a:ln/>
        </p:spPr>
      </p:sp>
      <p:pic>
        <p:nvPicPr>
          <p:cNvPr id="21" name="EduCred check 5" descr="EduCred check 5">    </p:cNvPr>
          <p:cNvPicPr>
            <a:picLocks noChangeAspect="1"/>
          </p:cNvPicPr>
          <p:nvPr/>
        </p:nvPicPr>
        <p:blipFill>
          <a:blip r:embed="rId5"/>
          <a:stretch>
            <a:fillRect/>
          </a:stretch>
        </p:blipFill>
        <p:spPr>
          <a:xfrm>
            <a:off x="8447593" y="4982017"/>
            <a:ext cx="149230" cy="149230"/>
          </a:xfrm>
          <a:prstGeom prst="rect">
            <a:avLst/>
          </a:prstGeom>
        </p:spPr>
      </p:pic>
      <p:sp>
        <p:nvSpPr>
          <p:cNvPr id="22" name="EduCred item 5"/>
          <p:cNvSpPr txBox="1"/>
          <p:nvPr/>
        </p:nvSpPr>
        <p:spPr>
          <a:xfrm>
            <a:off x="8796528" y="4864608"/>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Low issuance gas</a:t>
            </a:r>
            <a:endParaRPr lang="en-US" sz="1400" dirty="0"/>
          </a:p>
          <a:p>
            <a:pPr algn="l" indent="0" marL="0">
              <a:buNone/>
            </a:pPr>
            <a:r>
              <a:rPr lang="en-US" sz="1300" dirty="0">
                <a:solidFill>
                  <a:schemeClr val="bg2"/>
                </a:solidFill>
              </a:rPr>
              <a:t>68k single / 52k batch (-23.8%)</a:t>
            </a:r>
            <a:endParaRPr lang="en-US" sz="1400" dirty="0"/>
          </a:p>
        </p:txBody>
      </p:sp>
      <p:sp>
        <p:nvSpPr>
          <p:cNvPr id="23" name="EduCred check 6 circle"/>
          <p:cNvSpPr/>
          <p:nvPr/>
        </p:nvSpPr>
        <p:spPr>
          <a:xfrm>
            <a:off x="8366760" y="5568696"/>
            <a:ext cx="310896" cy="310896"/>
          </a:xfrm>
          <a:prstGeom prst="ellipse">
            <a:avLst/>
          </a:prstGeom>
          <a:solidFill>
            <a:schemeClr val="accent5"/>
          </a:solidFill>
          <a:ln/>
        </p:spPr>
      </p:sp>
      <p:pic>
        <p:nvPicPr>
          <p:cNvPr id="24" name="EduCred check 6" descr="EduCred check 6">    </p:cNvPr>
          <p:cNvPicPr>
            <a:picLocks noChangeAspect="1"/>
          </p:cNvPicPr>
          <p:nvPr/>
        </p:nvPicPr>
        <p:blipFill>
          <a:blip r:embed="rId6"/>
          <a:stretch>
            <a:fillRect/>
          </a:stretch>
        </p:blipFill>
        <p:spPr>
          <a:xfrm>
            <a:off x="8447593" y="5649529"/>
            <a:ext cx="149230" cy="149230"/>
          </a:xfrm>
          <a:prstGeom prst="rect">
            <a:avLst/>
          </a:prstGeom>
        </p:spPr>
      </p:pic>
      <p:sp>
        <p:nvSpPr>
          <p:cNvPr id="25" name="EduCred item 6"/>
          <p:cNvSpPr txBox="1"/>
          <p:nvPr/>
        </p:nvSpPr>
        <p:spPr>
          <a:xfrm>
            <a:off x="8796528" y="5532120"/>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Emergency circuit-breaker</a:t>
            </a:r>
            <a:endParaRPr lang="en-US" sz="1400" dirty="0"/>
          </a:p>
          <a:p>
            <a:pPr algn="l" indent="0" marL="0">
              <a:buNone/>
            </a:pPr>
            <a:r>
              <a:rPr lang="en-US" sz="1300" dirty="0">
                <a:solidFill>
                  <a:schemeClr val="bg2"/>
                </a:solidFill>
              </a:rPr>
              <a:t>Halts writes during breaches</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3  |  ARCHITECTURE &amp; SYSTEM DESIGN</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Decoupled Dual-Layer System Architecture</a:t>
            </a:r>
            <a:endParaRPr lang="en-US" sz="3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pic>
        <p:nvPicPr>
          <p:cNvPr id="26" name="Picture 25" descr="fig_arch.png"/>
          <p:cNvPicPr>
            <a:picLocks noChangeAspect="1"/>
          </p:cNvPicPr>
          <p:nvPr/>
        </p:nvPicPr>
        <p:blipFill>
          <a:blip r:embed="rId7"/>
          <a:stretch>
            <a:fillRect/>
          </a:stretch>
        </p:blipFill>
        <p:spPr>
          <a:xfrm>
            <a:off x="548640" y="1463040"/>
            <a:ext cx="7589520" cy="4800600"/>
          </a:xfrm>
          <a:prstGeom prst="rect">
            <a:avLst/>
          </a:prstGeom>
        </p:spPr>
      </p:pic>
      <p:sp>
        <p:nvSpPr>
          <p:cNvPr id="27" name="Rounded Rectangle 26"/>
          <p:cNvSpPr/>
          <p:nvPr/>
        </p:nvSpPr>
        <p:spPr>
          <a:xfrm>
            <a:off x="8321040" y="1463040"/>
            <a:ext cx="3319272" cy="4800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58200" y="1600200"/>
            <a:ext cx="3044952" cy="4526280"/>
          </a:xfrm>
          <a:prstGeom prst="rect">
            <a:avLst/>
          </a:prstGeom>
          <a:noFill/>
        </p:spPr>
        <p:txBody>
          <a:bodyPr wrap="square">
            <a:spAutoFit/>
          </a:bodyPr>
          <a:lstStyle/>
          <a:p>
            <a:pPr algn="l">
              <a:spcBef>
                <a:spcPts val="0"/>
              </a:spcBef>
              <a:defRPr sz="1000" b="1">
                <a:solidFill>
                  <a:srgbClr val="38BDF8"/>
                </a:solidFill>
                <a:latin typeface="Segoe UI"/>
              </a:defRPr>
            </a:pPr>
            <a:r>
              <a:t>LAYER 1: CLIENT INGESTION</a:t>
            </a:r>
          </a:p>
          <a:p>
            <a:pPr algn="l">
              <a:spcBef>
                <a:spcPts val="200"/>
              </a:spcBef>
              <a:defRPr sz="850" b="0">
                <a:solidFill>
                  <a:srgbClr val="CBD5E1"/>
                </a:solidFill>
                <a:latin typeface="Segoe UI"/>
              </a:defRPr>
            </a:pPr>
            <a:r>
              <a:t>React 18 + W3C Web Crypto API (`window.crypto.subtle`). Computes 32-byte SHA-256 locally in &lt;15ms. Raw PDFs never traverse network sockets unencrypted.</a:t>
            </a:r>
          </a:p>
          <a:p>
            <a:pPr algn="l">
              <a:spcBef>
                <a:spcPts val="800"/>
              </a:spcBef>
              <a:defRPr sz="1000" b="1">
                <a:solidFill>
                  <a:srgbClr val="4ADE80"/>
                </a:solidFill>
                <a:latin typeface="Segoe UI"/>
              </a:defRPr>
            </a:pPr>
            <a:r>
              <a:t>LAYER 2: STORAGE DECOUPLING</a:t>
            </a:r>
          </a:p>
          <a:p>
            <a:pPr algn="l">
              <a:spcBef>
                <a:spcPts val="200"/>
              </a:spcBef>
              <a:defRPr sz="850" b="0">
                <a:solidFill>
                  <a:srgbClr val="CBD5E1"/>
                </a:solidFill>
                <a:latin typeface="Segoe UI"/>
              </a:defRPr>
            </a:pPr>
            <a:r>
              <a:t>InterPlanetary File System (IPFS). Stores heavy PDF marksheets off-chain via Content Identifiers (CID). Fully erasable upon Right to Erasure request.</a:t>
            </a:r>
          </a:p>
          <a:p>
            <a:pPr algn="l">
              <a:spcBef>
                <a:spcPts val="800"/>
              </a:spcBef>
              <a:defRPr sz="1000" b="1">
                <a:solidFill>
                  <a:srgbClr val="38BDF8"/>
                </a:solidFill>
                <a:latin typeface="Segoe UI"/>
              </a:defRPr>
            </a:pPr>
            <a:r>
              <a:t>LAYER 3: CONSENSUS &amp; LEDGER</a:t>
            </a:r>
          </a:p>
          <a:p>
            <a:pPr algn="l">
              <a:spcBef>
                <a:spcPts val="200"/>
              </a:spcBef>
              <a:defRPr sz="850" b="0">
                <a:solidFill>
                  <a:srgbClr val="CBD5E1"/>
                </a:solidFill>
                <a:latin typeface="Segoe UI"/>
              </a:defRPr>
            </a:pPr>
            <a:r>
              <a:t>Solidity 0.8.20 on EVM / Polygon PoS. Constant-time O(1) mapping(bytes32 =&gt; Credential). OpenZeppelin v5 RBAC, Pausable circuit-breaker.</a:t>
            </a:r>
          </a:p>
          <a:p>
            <a:pPr algn="l">
              <a:spcBef>
                <a:spcPts val="800"/>
              </a:spcBef>
              <a:defRPr sz="1000" b="1">
                <a:solidFill>
                  <a:srgbClr val="4ADE80"/>
                </a:solidFill>
                <a:latin typeface="Segoe UI"/>
              </a:defRPr>
            </a:pPr>
            <a:r>
              <a:t>LAYER 4: PUBLIC VERIFICATION</a:t>
            </a:r>
          </a:p>
          <a:p>
            <a:pPr algn="l">
              <a:spcBef>
                <a:spcPts val="200"/>
              </a:spcBef>
              <a:defRPr sz="850" b="0">
                <a:solidFill>
                  <a:srgbClr val="CBD5E1"/>
                </a:solidFill>
                <a:latin typeface="Segoe UI"/>
              </a:defRPr>
            </a:pPr>
            <a:r>
              <a:t>Zero-gas static view query. Recruiters drop PDF into web portal; browser computes hash and verifies in &lt;500ms with 0 transaction fees.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4  |  SOLIDITY 0.8.20 &amp; OPENZEPPELIN V5</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Smart Contract Architecture &amp; State Machine</a:t>
            </a:r>
            <a:endParaRPr lang="en-US" sz="3200" dirty="0"/>
          </a:p>
        </p:txBody>
      </p:sp>
      <p:sp>
        <p:nvSpPr>
          <p:cNvPr id="14" name="Struct card"/>
          <p:cNvSpPr/>
          <p:nvPr/>
        </p:nvSpPr>
        <p:spPr>
          <a:xfrm>
            <a:off x="548640" y="2788920"/>
            <a:ext cx="3520440" cy="3474720"/>
          </a:xfrm>
          <a:prstGeom prst="roundRect">
            <a:avLst>
              <a:gd name="adj" fmla="val 2632"/>
            </a:avLst>
          </a:prstGeom>
          <a:solidFill>
            <a:schemeClr val="tx2"/>
          </a:solidFill>
          <a:ln/>
        </p:spPr>
      </p:sp>
      <p:sp>
        <p:nvSpPr>
          <p:cNvPr id="15" name="Struct label"/>
          <p:cNvSpPr txBox="1"/>
          <p:nvPr/>
        </p:nvSpPr>
        <p:spPr>
          <a:xfrm>
            <a:off x="822960" y="2971800"/>
            <a:ext cx="2926080"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DATA STRUCTURE</a:t>
            </a:r>
            <a:endParaRPr lang="en-US" sz="1200" dirty="0"/>
          </a:p>
        </p:txBody>
      </p:sp>
      <p:sp>
        <p:nvSpPr>
          <p:cNvPr id="16" name="Struct code"/>
          <p:cNvSpPr txBox="1"/>
          <p:nvPr/>
        </p:nvSpPr>
        <p:spPr>
          <a:xfrm>
            <a:off x="822960" y="3337560"/>
            <a:ext cx="3063240" cy="1737360"/>
          </a:xfrm>
          <a:prstGeom prst="rect">
            <a:avLst/>
          </a:prstGeom>
          <a:noFill/>
          <a:ln/>
        </p:spPr>
        <p:txBody>
          <a:bodyPr wrap="square" lIns="0" tIns="0" rIns="0" bIns="0" rtlCol="0" anchor="t"/>
          <a:lstStyle/>
          <a:p>
            <a:pPr algn="l" indent="0" marL="0">
              <a:spcAft>
                <a:spcPts val="200"/>
              </a:spcAft>
              <a:buNone/>
            </a:pPr>
            <a:r>
              <a:rPr lang="en-US" sz="1300" dirty="0">
                <a:solidFill>
                  <a:schemeClr val="accent5"/>
                </a:solidFill>
                <a:latin typeface="Courier New" pitchFamily="34" charset="0"/>
                <a:ea typeface="Courier New" pitchFamily="34" charset="-122"/>
                <a:cs typeface="Courier New" pitchFamily="34" charset="-120"/>
              </a:rPr>
              <a:t>struct Credential {</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string  studentId;</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bytes32 sha256Hash;</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string  ipfsURI;</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uint256 issuedAt;</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address issuedBy;</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bool    isRevoked;</a:t>
            </a:r>
            <a:endParaRPr lang="en-US" sz="1300" dirty="0"/>
          </a:p>
          <a:p>
            <a:pPr algn="l" indent="0" marL="0">
              <a:spcAft>
                <a:spcPts val="200"/>
              </a:spcAft>
              <a:buNone/>
            </a:pPr>
            <a:r>
              <a:rPr lang="en-US" sz="1300" dirty="0">
                <a:solidFill>
                  <a:schemeClr val="accent5"/>
                </a:solidFill>
                <a:latin typeface="Courier New" pitchFamily="34" charset="0"/>
                <a:ea typeface="Courier New" pitchFamily="34" charset="-122"/>
                <a:cs typeface="Courier New" pitchFamily="34" charset="-120"/>
              </a:rPr>
              <a:t>}</a:t>
            </a:r>
            <a:endParaRPr lang="en-US" sz="1300" dirty="0"/>
          </a:p>
        </p:txBody>
      </p:sp>
      <p:sp>
        <p:nvSpPr>
          <p:cNvPr id="17" name="Struct caption"/>
          <p:cNvSpPr txBox="1"/>
          <p:nvPr/>
        </p:nvSpPr>
        <p:spPr>
          <a:xfrm>
            <a:off x="822960" y="5212080"/>
            <a:ext cx="3017520" cy="914400"/>
          </a:xfrm>
          <a:prstGeom prst="rect">
            <a:avLst/>
          </a:prstGeom>
          <a:noFill/>
          <a:ln/>
        </p:spPr>
        <p:txBody>
          <a:bodyPr wrap="square" lIns="0" tIns="0" rIns="0" bIns="0" rtlCol="0" anchor="t"/>
          <a:lstStyle/>
          <a:p>
            <a:pPr algn="l" indent="0" marL="0">
              <a:buNone/>
            </a:pPr>
            <a:r>
              <a:rPr lang="en-US" sz="1300" dirty="0">
                <a:solidFill>
                  <a:schemeClr val="bg2"/>
                </a:solidFill>
              </a:rPr>
              <a:t>A primary mapping from bytes32 to Credential gives O(1) lookup. Revocation flips a flag; it never deletes storage.</a:t>
            </a:r>
            <a:endParaRPr lang="en-US" sz="1300" dirty="0"/>
          </a:p>
        </p:txBody>
      </p:sp>
      <p:sp>
        <p:nvSpPr>
          <p:cNvPr id="18" name="Functions card"/>
          <p:cNvSpPr/>
          <p:nvPr/>
        </p:nvSpPr>
        <p:spPr>
          <a:xfrm>
            <a:off x="4334256" y="2788920"/>
            <a:ext cx="3520440" cy="3474720"/>
          </a:xfrm>
          <a:prstGeom prst="roundRect">
            <a:avLst>
              <a:gd name="adj" fmla="val 2632"/>
            </a:avLst>
          </a:prstGeom>
          <a:solidFill>
            <a:schemeClr val="bg2"/>
          </a:solidFill>
          <a:ln/>
        </p:spPr>
      </p:sp>
      <p:sp>
        <p:nvSpPr>
          <p:cNvPr id="19" name="Functions label"/>
          <p:cNvSpPr txBox="1"/>
          <p:nvPr/>
        </p:nvSpPr>
        <p:spPr>
          <a:xfrm>
            <a:off x="4608576" y="2971800"/>
            <a:ext cx="2926080"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CORE FUNCTIONS</a:t>
            </a:r>
            <a:endParaRPr lang="en-US" sz="1200" dirty="0"/>
          </a:p>
        </p:txBody>
      </p:sp>
      <p:sp>
        <p:nvSpPr>
          <p:cNvPr id="20" name="Function name 1"/>
          <p:cNvSpPr txBox="1"/>
          <p:nvPr/>
        </p:nvSpPr>
        <p:spPr>
          <a:xfrm>
            <a:off x="4608576" y="3355848"/>
            <a:ext cx="3017520" cy="246888"/>
          </a:xfrm>
          <a:prstGeom prst="rect">
            <a:avLst/>
          </a:prstGeom>
          <a:noFill/>
          <a:ln/>
        </p:spPr>
        <p:txBody>
          <a:bodyPr wrap="square" lIns="0" tIns="0" rIns="0" bIns="0" rtlCol="0" anchor="t"/>
          <a:lstStyle/>
          <a:p>
            <a:pPr algn="l" indent="0" marL="0">
              <a:buNone/>
            </a:pPr>
            <a:r>
              <a:rPr lang="en-US" sz="1300" b="1" dirty="0">
                <a:solidFill>
                  <a:schemeClr val="tx2"/>
                </a:solidFill>
                <a:latin typeface="Courier New" pitchFamily="34" charset="0"/>
                <a:ea typeface="Courier New" pitchFamily="34" charset="-122"/>
                <a:cs typeface="Courier New" pitchFamily="34" charset="-120"/>
              </a:rPr>
              <a:t>issueCredential()</a:t>
            </a:r>
            <a:endParaRPr lang="en-US" sz="1300" dirty="0"/>
          </a:p>
        </p:txBody>
      </p:sp>
      <p:sp>
        <p:nvSpPr>
          <p:cNvPr id="21" name="Function desc 1"/>
          <p:cNvSpPr txBox="1"/>
          <p:nvPr/>
        </p:nvSpPr>
        <p:spPr>
          <a:xfrm>
            <a:off x="4608576" y="3611880"/>
            <a:ext cx="3017520" cy="246888"/>
          </a:xfrm>
          <a:prstGeom prst="rect">
            <a:avLst/>
          </a:prstGeom>
          <a:noFill/>
          <a:ln/>
        </p:spPr>
        <p:txBody>
          <a:bodyPr wrap="square" lIns="0" tIns="0" rIns="0" bIns="0" rtlCol="0" anchor="t"/>
          <a:lstStyle/>
          <a:p>
            <a:pPr algn="l" indent="0" marL="0">
              <a:buNone/>
            </a:pPr>
            <a:r>
              <a:rPr lang="en-US" sz="1300" dirty="0">
                <a:solidFill>
                  <a:schemeClr val="tx1"/>
                </a:solidFill>
              </a:rPr>
              <a:t>Atomic issuance with novelty check</a:t>
            </a:r>
            <a:endParaRPr lang="en-US" sz="1300" dirty="0"/>
          </a:p>
        </p:txBody>
      </p:sp>
      <p:sp>
        <p:nvSpPr>
          <p:cNvPr id="22" name="Function name 2"/>
          <p:cNvSpPr txBox="1"/>
          <p:nvPr/>
        </p:nvSpPr>
        <p:spPr>
          <a:xfrm>
            <a:off x="4608576" y="3931920"/>
            <a:ext cx="3017520" cy="246888"/>
          </a:xfrm>
          <a:prstGeom prst="rect">
            <a:avLst/>
          </a:prstGeom>
          <a:noFill/>
          <a:ln/>
        </p:spPr>
        <p:txBody>
          <a:bodyPr wrap="square" lIns="0" tIns="0" rIns="0" bIns="0" rtlCol="0" anchor="t"/>
          <a:lstStyle/>
          <a:p>
            <a:pPr algn="l" indent="0" marL="0">
              <a:buNone/>
            </a:pPr>
            <a:r>
              <a:rPr lang="en-US" sz="1300" b="1" dirty="0">
                <a:solidFill>
                  <a:schemeClr val="tx2"/>
                </a:solidFill>
                <a:latin typeface="Courier New" pitchFamily="34" charset="0"/>
                <a:ea typeface="Courier New" pitchFamily="34" charset="-122"/>
                <a:cs typeface="Courier New" pitchFamily="34" charset="-120"/>
              </a:rPr>
              <a:t>batchIssueCredentials()</a:t>
            </a:r>
            <a:endParaRPr lang="en-US" sz="1300" dirty="0"/>
          </a:p>
        </p:txBody>
      </p:sp>
      <p:sp>
        <p:nvSpPr>
          <p:cNvPr id="23" name="Function desc 2"/>
          <p:cNvSpPr txBox="1"/>
          <p:nvPr/>
        </p:nvSpPr>
        <p:spPr>
          <a:xfrm>
            <a:off x="4608576" y="4187952"/>
            <a:ext cx="3017520" cy="246888"/>
          </a:xfrm>
          <a:prstGeom prst="rect">
            <a:avLst/>
          </a:prstGeom>
          <a:noFill/>
          <a:ln/>
        </p:spPr>
        <p:txBody>
          <a:bodyPr wrap="square" lIns="0" tIns="0" rIns="0" bIns="0" rtlCol="0" anchor="t"/>
          <a:lstStyle/>
          <a:p>
            <a:pPr algn="l" indent="0" marL="0">
              <a:buNone/>
            </a:pPr>
            <a:r>
              <a:rPr lang="en-US" sz="1300" dirty="0">
                <a:solidFill>
                  <a:schemeClr val="tx1"/>
                </a:solidFill>
              </a:rPr>
              <a:t>Bulk multi-certificate issuance</a:t>
            </a:r>
            <a:endParaRPr lang="en-US" sz="1300" dirty="0"/>
          </a:p>
        </p:txBody>
      </p:sp>
      <p:sp>
        <p:nvSpPr>
          <p:cNvPr id="24" name="Function name 3"/>
          <p:cNvSpPr txBox="1"/>
          <p:nvPr/>
        </p:nvSpPr>
        <p:spPr>
          <a:xfrm>
            <a:off x="4608576" y="4507992"/>
            <a:ext cx="3017520" cy="246888"/>
          </a:xfrm>
          <a:prstGeom prst="rect">
            <a:avLst/>
          </a:prstGeom>
          <a:noFill/>
          <a:ln/>
        </p:spPr>
        <p:txBody>
          <a:bodyPr wrap="square" lIns="0" tIns="0" rIns="0" bIns="0" rtlCol="0" anchor="t"/>
          <a:lstStyle/>
          <a:p>
            <a:pPr algn="l" indent="0" marL="0">
              <a:buNone/>
            </a:pPr>
            <a:r>
              <a:rPr lang="en-US" sz="1300" b="1" dirty="0">
                <a:solidFill>
                  <a:schemeClr val="tx2"/>
                </a:solidFill>
                <a:latin typeface="Courier New" pitchFamily="34" charset="0"/>
                <a:ea typeface="Courier New" pitchFamily="34" charset="-122"/>
                <a:cs typeface="Courier New" pitchFamily="34" charset="-120"/>
              </a:rPr>
              <a:t>revokeCredential()</a:t>
            </a:r>
            <a:endParaRPr lang="en-US" sz="1300" dirty="0"/>
          </a:p>
        </p:txBody>
      </p:sp>
      <p:sp>
        <p:nvSpPr>
          <p:cNvPr id="25" name="Function desc 3"/>
          <p:cNvSpPr txBox="1"/>
          <p:nvPr/>
        </p:nvSpPr>
        <p:spPr>
          <a:xfrm>
            <a:off x="4608576" y="4764024"/>
            <a:ext cx="3017520" cy="246888"/>
          </a:xfrm>
          <a:prstGeom prst="rect">
            <a:avLst/>
          </a:prstGeom>
          <a:noFill/>
          <a:ln/>
        </p:spPr>
        <p:txBody>
          <a:bodyPr wrap="square" lIns="0" tIns="0" rIns="0" bIns="0" rtlCol="0" anchor="t"/>
          <a:lstStyle/>
          <a:p>
            <a:pPr algn="l" indent="0" marL="0">
              <a:buNone/>
            </a:pPr>
            <a:r>
              <a:rPr lang="en-US" sz="1300" dirty="0">
                <a:solidFill>
                  <a:schemeClr val="tx1"/>
                </a:solidFill>
              </a:rPr>
              <a:t>Flips isRevoked; preserves evidence</a:t>
            </a:r>
            <a:endParaRPr lang="en-US" sz="1300" dirty="0"/>
          </a:p>
        </p:txBody>
      </p:sp>
      <p:sp>
        <p:nvSpPr>
          <p:cNvPr id="26" name="Function name 4"/>
          <p:cNvSpPr txBox="1"/>
          <p:nvPr/>
        </p:nvSpPr>
        <p:spPr>
          <a:xfrm>
            <a:off x="4608576" y="5084064"/>
            <a:ext cx="3017520" cy="246888"/>
          </a:xfrm>
          <a:prstGeom prst="rect">
            <a:avLst/>
          </a:prstGeom>
          <a:noFill/>
          <a:ln/>
        </p:spPr>
        <p:txBody>
          <a:bodyPr wrap="square" lIns="0" tIns="0" rIns="0" bIns="0" rtlCol="0" anchor="t"/>
          <a:lstStyle/>
          <a:p>
            <a:pPr algn="l" indent="0" marL="0">
              <a:buNone/>
            </a:pPr>
            <a:r>
              <a:rPr lang="en-US" sz="1300" b="1" dirty="0">
                <a:solidFill>
                  <a:schemeClr val="tx2"/>
                </a:solidFill>
                <a:latin typeface="Courier New" pitchFamily="34" charset="0"/>
                <a:ea typeface="Courier New" pitchFamily="34" charset="-122"/>
                <a:cs typeface="Courier New" pitchFamily="34" charset="-120"/>
              </a:rPr>
              <a:t>verifyByHash()</a:t>
            </a:r>
            <a:endParaRPr lang="en-US" sz="1300" dirty="0"/>
          </a:p>
        </p:txBody>
      </p:sp>
      <p:sp>
        <p:nvSpPr>
          <p:cNvPr id="27" name="Function desc 4"/>
          <p:cNvSpPr txBox="1"/>
          <p:nvPr/>
        </p:nvSpPr>
        <p:spPr>
          <a:xfrm>
            <a:off x="4608576" y="5340096"/>
            <a:ext cx="3017520" cy="246888"/>
          </a:xfrm>
          <a:prstGeom prst="rect">
            <a:avLst/>
          </a:prstGeom>
          <a:noFill/>
          <a:ln/>
        </p:spPr>
        <p:txBody>
          <a:bodyPr wrap="square" lIns="0" tIns="0" rIns="0" bIns="0" rtlCol="0" anchor="t"/>
          <a:lstStyle/>
          <a:p>
            <a:pPr algn="l" indent="0" marL="0">
              <a:buNone/>
            </a:pPr>
            <a:r>
              <a:rPr lang="en-US" sz="1300" dirty="0">
                <a:solidFill>
                  <a:schemeClr val="tx1"/>
                </a:solidFill>
              </a:rPr>
              <a:t>O(1) primary query, 0 gas</a:t>
            </a:r>
            <a:endParaRPr lang="en-US" sz="1300" dirty="0"/>
          </a:p>
        </p:txBody>
      </p:sp>
      <p:sp>
        <p:nvSpPr>
          <p:cNvPr id="28" name="Function name 5"/>
          <p:cNvSpPr txBox="1"/>
          <p:nvPr/>
        </p:nvSpPr>
        <p:spPr>
          <a:xfrm>
            <a:off x="4608576" y="5660136"/>
            <a:ext cx="3017520" cy="246888"/>
          </a:xfrm>
          <a:prstGeom prst="rect">
            <a:avLst/>
          </a:prstGeom>
          <a:noFill/>
          <a:ln/>
        </p:spPr>
        <p:txBody>
          <a:bodyPr wrap="square" lIns="0" tIns="0" rIns="0" bIns="0" rtlCol="0" anchor="t"/>
          <a:lstStyle/>
          <a:p>
            <a:pPr algn="l" indent="0" marL="0">
              <a:buNone/>
            </a:pPr>
            <a:r>
              <a:rPr lang="en-US" sz="1300" b="1" dirty="0">
                <a:solidFill>
                  <a:schemeClr val="tx2"/>
                </a:solidFill>
                <a:latin typeface="Courier New" pitchFamily="34" charset="0"/>
                <a:ea typeface="Courier New" pitchFamily="34" charset="-122"/>
                <a:cs typeface="Courier New" pitchFamily="34" charset="-120"/>
              </a:rPr>
              <a:t>verifyByStudentId()</a:t>
            </a:r>
            <a:endParaRPr lang="en-US" sz="1300" dirty="0"/>
          </a:p>
        </p:txBody>
      </p:sp>
      <p:sp>
        <p:nvSpPr>
          <p:cNvPr id="29" name="Function desc 5"/>
          <p:cNvSpPr txBox="1"/>
          <p:nvPr/>
        </p:nvSpPr>
        <p:spPr>
          <a:xfrm>
            <a:off x="4608576" y="5916168"/>
            <a:ext cx="3017520" cy="246888"/>
          </a:xfrm>
          <a:prstGeom prst="rect">
            <a:avLst/>
          </a:prstGeom>
          <a:noFill/>
          <a:ln/>
        </p:spPr>
        <p:txBody>
          <a:bodyPr wrap="square" lIns="0" tIns="0" rIns="0" bIns="0" rtlCol="0" anchor="t"/>
          <a:lstStyle/>
          <a:p>
            <a:pPr algn="l" indent="0" marL="0">
              <a:buNone/>
            </a:pPr>
            <a:r>
              <a:rPr lang="en-US" sz="1300" dirty="0">
                <a:solidFill>
                  <a:schemeClr val="tx1"/>
                </a:solidFill>
              </a:rPr>
              <a:t>Secondary index query, 0 gas</a:t>
            </a:r>
            <a:endParaRPr lang="en-US" sz="1300" dirty="0"/>
          </a:p>
        </p:txBody>
      </p:sp>
      <p:sp>
        <p:nvSpPr>
          <p:cNvPr id="30" name="Security card"/>
          <p:cNvSpPr/>
          <p:nvPr/>
        </p:nvSpPr>
        <p:spPr>
          <a:xfrm>
            <a:off x="8119872" y="2788920"/>
            <a:ext cx="3520440" cy="3474720"/>
          </a:xfrm>
          <a:prstGeom prst="roundRect">
            <a:avLst>
              <a:gd name="adj" fmla="val 2632"/>
            </a:avLst>
          </a:prstGeom>
          <a:solidFill>
            <a:schemeClr val="bg2"/>
          </a:solidFill>
          <a:ln/>
        </p:spPr>
      </p:sp>
      <p:sp>
        <p:nvSpPr>
          <p:cNvPr id="31" name="Security label"/>
          <p:cNvSpPr txBox="1"/>
          <p:nvPr/>
        </p:nvSpPr>
        <p:spPr>
          <a:xfrm>
            <a:off x="8394192" y="2971800"/>
            <a:ext cx="2926080"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SECURITY PATTERNS</a:t>
            </a:r>
            <a:endParaRPr lang="en-US" sz="1200" dirty="0"/>
          </a:p>
        </p:txBody>
      </p:sp>
      <p:sp>
        <p:nvSpPr>
          <p:cNvPr id="32" name="Security item 1"/>
          <p:cNvSpPr txBox="1"/>
          <p:nvPr/>
        </p:nvSpPr>
        <p:spPr>
          <a:xfrm>
            <a:off x="8394192" y="3383280"/>
            <a:ext cx="3017520" cy="658368"/>
          </a:xfrm>
          <a:prstGeom prst="rect">
            <a:avLst/>
          </a:prstGeom>
          <a:noFill/>
          <a:ln/>
        </p:spPr>
        <p:txBody>
          <a:bodyPr wrap="square" lIns="0" tIns="0" rIns="0" bIns="0" rtlCol="0" anchor="t"/>
          <a:lstStyle/>
          <a:p>
            <a:pPr algn="l" indent="0" marL="0">
              <a:buNone/>
            </a:pPr>
            <a:r>
              <a:rPr lang="en-US" sz="1400" b="1" dirty="0">
                <a:solidFill>
                  <a:schemeClr val="tx2"/>
                </a:solidFill>
              </a:rPr>
              <a:t>Ownable</a:t>
            </a:r>
            <a:endParaRPr lang="en-US" sz="1400" dirty="0"/>
          </a:p>
          <a:p>
            <a:pPr algn="l" indent="0" marL="0">
              <a:buNone/>
            </a:pPr>
            <a:r>
              <a:rPr lang="en-US" sz="1300" dirty="0">
                <a:solidFill>
                  <a:schemeClr val="tx1"/>
                </a:solidFill>
              </a:rPr>
              <a:t>Deployer admin controls the issuer whitelist</a:t>
            </a:r>
            <a:endParaRPr lang="en-US" sz="1400" dirty="0"/>
          </a:p>
        </p:txBody>
      </p:sp>
      <p:sp>
        <p:nvSpPr>
          <p:cNvPr id="33" name="Security item 2"/>
          <p:cNvSpPr txBox="1"/>
          <p:nvPr/>
        </p:nvSpPr>
        <p:spPr>
          <a:xfrm>
            <a:off x="8394192" y="4087368"/>
            <a:ext cx="3017520" cy="658368"/>
          </a:xfrm>
          <a:prstGeom prst="rect">
            <a:avLst/>
          </a:prstGeom>
          <a:noFill/>
          <a:ln/>
        </p:spPr>
        <p:txBody>
          <a:bodyPr wrap="square" lIns="0" tIns="0" rIns="0" bIns="0" rtlCol="0" anchor="t"/>
          <a:lstStyle/>
          <a:p>
            <a:pPr algn="l" indent="0" marL="0">
              <a:buNone/>
            </a:pPr>
            <a:r>
              <a:rPr lang="en-US" sz="1400" b="1" dirty="0">
                <a:solidFill>
                  <a:schemeClr val="tx2"/>
                </a:solidFill>
              </a:rPr>
              <a:t>RBAC: onlyAuthorised</a:t>
            </a:r>
            <a:endParaRPr lang="en-US" sz="1400" dirty="0"/>
          </a:p>
          <a:p>
            <a:pPr algn="l" indent="0" marL="0">
              <a:buNone/>
            </a:pPr>
            <a:r>
              <a:rPr lang="en-US" sz="1300" dirty="0">
                <a:solidFill>
                  <a:schemeClr val="tx1"/>
                </a:solidFill>
              </a:rPr>
              <a:t>Issuance and revocation limited to verified exam-cell wallets</a:t>
            </a:r>
            <a:endParaRPr lang="en-US" sz="1400" dirty="0"/>
          </a:p>
        </p:txBody>
      </p:sp>
      <p:sp>
        <p:nvSpPr>
          <p:cNvPr id="34" name="Security item 3"/>
          <p:cNvSpPr txBox="1"/>
          <p:nvPr/>
        </p:nvSpPr>
        <p:spPr>
          <a:xfrm>
            <a:off x="8394192" y="4791456"/>
            <a:ext cx="3017520" cy="658368"/>
          </a:xfrm>
          <a:prstGeom prst="rect">
            <a:avLst/>
          </a:prstGeom>
          <a:noFill/>
          <a:ln/>
        </p:spPr>
        <p:txBody>
          <a:bodyPr wrap="square" lIns="0" tIns="0" rIns="0" bIns="0" rtlCol="0" anchor="t"/>
          <a:lstStyle/>
          <a:p>
            <a:pPr algn="l" indent="0" marL="0">
              <a:buNone/>
            </a:pPr>
            <a:r>
              <a:rPr lang="en-US" sz="1400" b="1" dirty="0">
                <a:solidFill>
                  <a:schemeClr val="tx2"/>
                </a:solidFill>
              </a:rPr>
              <a:t>Pausable circuit-breaker</a:t>
            </a:r>
            <a:endParaRPr lang="en-US" sz="1400" dirty="0"/>
          </a:p>
          <a:p>
            <a:pPr algn="l" indent="0" marL="0">
              <a:buNone/>
            </a:pPr>
            <a:r>
              <a:rPr lang="en-US" sz="1300" dirty="0">
                <a:solidFill>
                  <a:schemeClr val="tx1"/>
                </a:solidFill>
              </a:rPr>
              <a:t>Halts writes on suspected key compromise; views stay live</a:t>
            </a:r>
            <a:endParaRPr lang="en-US" sz="1400" dirty="0"/>
          </a:p>
        </p:txBody>
      </p:sp>
      <p:sp>
        <p:nvSpPr>
          <p:cNvPr id="35" name="Security item 4"/>
          <p:cNvSpPr txBox="1"/>
          <p:nvPr/>
        </p:nvSpPr>
        <p:spPr>
          <a:xfrm>
            <a:off x="8394192" y="5495544"/>
            <a:ext cx="3017520" cy="658368"/>
          </a:xfrm>
          <a:prstGeom prst="rect">
            <a:avLst/>
          </a:prstGeom>
          <a:noFill/>
          <a:ln/>
        </p:spPr>
        <p:txBody>
          <a:bodyPr wrap="square" lIns="0" tIns="0" rIns="0" bIns="0" rtlCol="0" anchor="t"/>
          <a:lstStyle/>
          <a:p>
            <a:pPr algn="l" indent="0" marL="0">
              <a:buNone/>
            </a:pPr>
            <a:r>
              <a:rPr lang="en-US" sz="1400" b="1" dirty="0">
                <a:solidFill>
                  <a:schemeClr val="tx2"/>
                </a:solidFill>
              </a:rPr>
              <a:t>ReentrancyGuard</a:t>
            </a:r>
            <a:endParaRPr lang="en-US" sz="1400" dirty="0"/>
          </a:p>
          <a:p>
            <a:pPr algn="l" indent="0" marL="0">
              <a:buNone/>
            </a:pPr>
            <a:r>
              <a:rPr lang="en-US" sz="1300" dirty="0">
                <a:solidFill>
                  <a:schemeClr val="tx1"/>
                </a:solidFill>
              </a:rPr>
              <a:t>Blocks recursive external calls</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pic>
        <p:nvPicPr>
          <p:cNvPr id="36" name="Picture 35" descr="fig_state_lifecycle.png"/>
          <p:cNvPicPr>
            <a:picLocks noChangeAspect="1"/>
          </p:cNvPicPr>
          <p:nvPr/>
        </p:nvPicPr>
        <p:blipFill>
          <a:blip r:embed="rId3"/>
          <a:stretch>
            <a:fillRect/>
          </a:stretch>
        </p:blipFill>
        <p:spPr>
          <a:xfrm>
            <a:off x="548640" y="1463040"/>
            <a:ext cx="6492240" cy="2606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REACT 18  |  VITE  |  TAILWIND CSS  |  ETHERS.JS V6</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Unified Web3 Client Dashboard &amp; UX</a:t>
            </a:r>
            <a:endParaRPr lang="en-US" sz="3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pic>
        <p:nvPicPr>
          <p:cNvPr id="26" name="Picture 25" descr="screenshot_dashboard.png"/>
          <p:cNvPicPr>
            <a:picLocks noChangeAspect="1"/>
          </p:cNvPicPr>
          <p:nvPr/>
        </p:nvPicPr>
        <p:blipFill>
          <a:blip r:embed="rId6"/>
          <a:stretch>
            <a:fillRect/>
          </a:stretch>
        </p:blipFill>
        <p:spPr>
          <a:xfrm>
            <a:off x="548640" y="1463040"/>
            <a:ext cx="7589520" cy="4800600"/>
          </a:xfrm>
          <a:prstGeom prst="rect">
            <a:avLst/>
          </a:prstGeom>
        </p:spPr>
      </p:pic>
      <p:sp>
        <p:nvSpPr>
          <p:cNvPr id="27" name="Rounded Rectangle 26"/>
          <p:cNvSpPr/>
          <p:nvPr/>
        </p:nvSpPr>
        <p:spPr>
          <a:xfrm>
            <a:off x="8321040" y="1463040"/>
            <a:ext cx="3319272" cy="4800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58200" y="1600200"/>
            <a:ext cx="3044952" cy="4526280"/>
          </a:xfrm>
          <a:prstGeom prst="rect">
            <a:avLst/>
          </a:prstGeom>
          <a:noFill/>
        </p:spPr>
        <p:txBody>
          <a:bodyPr wrap="square">
            <a:spAutoFit/>
          </a:bodyPr>
          <a:lstStyle/>
          <a:p>
            <a:pPr algn="l">
              <a:spcBef>
                <a:spcPts val="0"/>
              </a:spcBef>
              <a:defRPr sz="950" b="1">
                <a:solidFill>
                  <a:srgbClr val="38BDF8"/>
                </a:solidFill>
                <a:latin typeface="Segoe UI"/>
              </a:defRPr>
            </a:pPr>
            <a:r>
              <a:t>LIVE TELEMETRY RIBBON</a:t>
            </a:r>
          </a:p>
          <a:p>
            <a:pPr algn="l">
              <a:spcBef>
                <a:spcPts val="150"/>
              </a:spcBef>
              <a:defRPr sz="800" b="0">
                <a:solidFill>
                  <a:srgbClr val="CBD5E1"/>
                </a:solidFill>
                <a:latin typeface="Segoe UI"/>
              </a:defRPr>
            </a:pPr>
            <a:r>
              <a:t>Displays real-time on-chain stats: 1,248 Issued, 3 Revoked, 0 GAS Verifier Fee, and 100% DPDP Act compliance status.</a:t>
            </a:r>
          </a:p>
          <a:p>
            <a:pPr algn="l">
              <a:spcBef>
                <a:spcPts val="600"/>
              </a:spcBef>
              <a:defRPr sz="950" b="1">
                <a:solidFill>
                  <a:srgbClr val="4ADE80"/>
                </a:solidFill>
                <a:latin typeface="Segoe UI"/>
              </a:defRPr>
            </a:pPr>
            <a:r>
              <a:t>1-CLICK EVALUATOR MODE</a:t>
            </a:r>
          </a:p>
          <a:p>
            <a:pPr algn="l">
              <a:spcBef>
                <a:spcPts val="150"/>
              </a:spcBef>
              <a:defRPr sz="800" b="0">
                <a:solidFill>
                  <a:srgbClr val="CBD5E1"/>
                </a:solidFill>
                <a:latin typeface="Segoe UI"/>
              </a:defRPr>
            </a:pPr>
            <a:r>
              <a:t>Pre-loaded with genuine NMIMS Grade Card (9.42 CGPA) and altered grade card (9.99 CGPA) for instantaneous viva evaluation.</a:t>
            </a:r>
          </a:p>
          <a:p>
            <a:pPr algn="l">
              <a:spcBef>
                <a:spcPts val="600"/>
              </a:spcBef>
              <a:defRPr sz="950" b="1">
                <a:solidFill>
                  <a:srgbClr val="38BDF8"/>
                </a:solidFill>
                <a:latin typeface="Segoe UI"/>
              </a:defRPr>
            </a:pPr>
            <a:r>
              <a:t>IN-BROWSER CRYPTOGRAPHY</a:t>
            </a:r>
          </a:p>
          <a:p>
            <a:pPr algn="l">
              <a:spcBef>
                <a:spcPts val="150"/>
              </a:spcBef>
              <a:defRPr sz="800" b="0">
                <a:solidFill>
                  <a:srgbClr val="CBD5E1"/>
                </a:solidFill>
                <a:latin typeface="Segoe UI"/>
              </a:defRPr>
            </a:pPr>
            <a:r>
              <a:t>W3C Web Crypto API executes SHA-256 digest in local memory (&lt;15ms). Confirms privacy: zero student PII leaves the browser.</a:t>
            </a:r>
          </a:p>
          <a:p>
            <a:pPr algn="l">
              <a:spcBef>
                <a:spcPts val="600"/>
              </a:spcBef>
              <a:defRPr sz="950" b="1">
                <a:solidFill>
                  <a:srgbClr val="F87171"/>
                </a:solidFill>
                <a:latin typeface="Segoe UI"/>
              </a:defRPr>
            </a:pPr>
            <a:r>
              <a:t>INSTANT TAMPER DETECTION</a:t>
            </a:r>
          </a:p>
          <a:p>
            <a:pPr algn="l">
              <a:spcBef>
                <a:spcPts val="150"/>
              </a:spcBef>
              <a:defRPr sz="800" b="0">
                <a:solidFill>
                  <a:srgbClr val="CBD5E1"/>
                </a:solidFill>
                <a:latin typeface="Segoe UI"/>
              </a:defRPr>
            </a:pPr>
            <a:r>
              <a:t>Tampered certificate triggers red alert immediately with 134/256 bits flipped (52.34% Strict Avalanche Criterion).</a:t>
            </a:r>
          </a:p>
          <a:p>
            <a:pPr algn="l">
              <a:spcBef>
                <a:spcPts val="600"/>
              </a:spcBef>
              <a:defRPr sz="950" b="1">
                <a:solidFill>
                  <a:srgbClr val="4ADE80"/>
                </a:solidFill>
                <a:latin typeface="Segoe UI"/>
              </a:defRPr>
            </a:pPr>
            <a:r>
              <a:t>ZERO WALLET REQUIRED</a:t>
            </a:r>
          </a:p>
          <a:p>
            <a:pPr algn="l">
              <a:spcBef>
                <a:spcPts val="150"/>
              </a:spcBef>
              <a:defRPr sz="800" b="0">
                <a:solidFill>
                  <a:srgbClr val="CBD5E1"/>
                </a:solidFill>
                <a:latin typeface="Segoe UI"/>
              </a:defRPr>
            </a:pPr>
            <a:r>
              <a:t>Public employers and HR recruiters verify credentials with zero gas fees and zero Web3 onboarding friction.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4  |  TESTING, VALIDATION &amp; VERIFICATION</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Automated Verification: 29 Tests, 100% Pass</a:t>
            </a:r>
            <a:endParaRPr lang="en-US" sz="3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pic>
        <p:nvPicPr>
          <p:cNvPr id="26" name="Picture 25" descr="screenshot_tests.png"/>
          <p:cNvPicPr>
            <a:picLocks noChangeAspect="1"/>
          </p:cNvPicPr>
          <p:nvPr/>
        </p:nvPicPr>
        <p:blipFill>
          <a:blip r:embed="rId8"/>
          <a:stretch>
            <a:fillRect/>
          </a:stretch>
        </p:blipFill>
        <p:spPr>
          <a:xfrm>
            <a:off x="548640" y="1463040"/>
            <a:ext cx="5303520" cy="4800600"/>
          </a:xfrm>
          <a:prstGeom prst="rect">
            <a:avLst/>
          </a:prstGeom>
        </p:spPr>
      </p:pic>
      <p:graphicFrame>
        <p:nvGraphicFramePr>
          <p:cNvPr id="27" name="Table 26"/>
          <p:cNvGraphicFramePr>
            <a:graphicFrameLocks noGrp="1"/>
          </p:cNvGraphicFramePr>
          <p:nvPr/>
        </p:nvGraphicFramePr>
        <p:xfrm>
          <a:off x="6035040" y="1463040"/>
          <a:ext cx="5605272" cy="4800600"/>
        </p:xfrm>
        <a:graphic>
          <a:graphicData uri="http://schemas.openxmlformats.org/drawingml/2006/table">
            <a:tbl>
              <a:tblPr firstRow="1" bandRow="1">
                <a:tableStyleId>{5C22544A-7EE6-4342-B048-85BDC9FD1C3A}</a:tableStyleId>
              </a:tblPr>
              <a:tblGrid>
                <a:gridCol w="2011680"/>
                <a:gridCol w="594360"/>
                <a:gridCol w="2267712"/>
                <a:gridCol w="731520"/>
              </a:tblGrid>
              <a:tr h="685800">
                <a:tc>
                  <a:txBody>
                    <a:bodyPr/>
                    <a:lstStyle/>
                    <a:p>
                      <a:pPr algn="l">
                        <a:defRPr sz="950" b="1">
                          <a:solidFill>
                            <a:srgbClr val="38BDF8"/>
                          </a:solidFill>
                          <a:latin typeface="Segoe UI"/>
                        </a:defRPr>
                      </a:pPr>
                      <a:r>
                        <a:t>Test Suite Category</a:t>
                      </a:r>
                    </a:p>
                  </a:txBody>
                  <a:tcPr marL="73152" marR="73152" marT="54864" marB="54864">
                    <a:solidFill>
                      <a:srgbClr val="0F172A"/>
                    </a:solidFill>
                  </a:tcPr>
                </a:tc>
                <a:tc>
                  <a:txBody>
                    <a:bodyPr/>
                    <a:lstStyle/>
                    <a:p>
                      <a:pPr algn="ctr">
                        <a:defRPr sz="950" b="1">
                          <a:solidFill>
                            <a:srgbClr val="38BDF8"/>
                          </a:solidFill>
                          <a:latin typeface="Segoe UI"/>
                        </a:defRPr>
                      </a:pPr>
                      <a:r>
                        <a:t>Tests</a:t>
                      </a:r>
                    </a:p>
                  </a:txBody>
                  <a:tcPr marL="73152" marR="73152" marT="54864" marB="54864">
                    <a:solidFill>
                      <a:srgbClr val="0F172A"/>
                    </a:solidFill>
                  </a:tcPr>
                </a:tc>
                <a:tc>
                  <a:txBody>
                    <a:bodyPr/>
                    <a:lstStyle/>
                    <a:p>
                      <a:pPr algn="l">
                        <a:defRPr sz="950" b="1">
                          <a:solidFill>
                            <a:srgbClr val="38BDF8"/>
                          </a:solidFill>
                          <a:latin typeface="Segoe UI"/>
                        </a:defRPr>
                      </a:pPr>
                      <a:r>
                        <a:t>Key Invariant Asserted</a:t>
                      </a:r>
                    </a:p>
                  </a:txBody>
                  <a:tcPr marL="73152" marR="73152" marT="54864" marB="54864">
                    <a:solidFill>
                      <a:srgbClr val="0F172A"/>
                    </a:solidFill>
                  </a:tcPr>
                </a:tc>
                <a:tc>
                  <a:txBody>
                    <a:bodyPr/>
                    <a:lstStyle/>
                    <a:p>
                      <a:pPr algn="ctr">
                        <a:defRPr sz="950" b="1">
                          <a:solidFill>
                            <a:srgbClr val="38BDF8"/>
                          </a:solidFill>
                          <a:latin typeface="Segoe UI"/>
                        </a:defRPr>
                      </a:pPr>
                      <a:r>
                        <a:t>Pass %</a:t>
                      </a:r>
                    </a:p>
                  </a:txBody>
                  <a:tcPr marL="73152" marR="73152" marT="54864" marB="54864">
                    <a:solidFill>
                      <a:srgbClr val="0F172A"/>
                    </a:solidFill>
                  </a:tcPr>
                </a:tc>
              </a:tr>
              <a:tr h="685800">
                <a:tc>
                  <a:txBody>
                    <a:bodyPr/>
                    <a:lstStyle/>
                    <a:p>
                      <a:pPr algn="l">
                        <a:defRPr sz="850" b="0">
                          <a:solidFill>
                            <a:srgbClr val="CBD5E1"/>
                          </a:solidFill>
                          <a:latin typeface="Segoe UI"/>
                        </a:defRPr>
                      </a:pPr>
                      <a:r>
                        <a:t>1. Deployment &amp; Init</a:t>
                      </a:r>
                    </a:p>
                  </a:txBody>
                  <a:tcPr marL="73152" marR="73152" marT="54864" marB="54864">
                    <a:solidFill>
                      <a:srgbClr val="1E293B"/>
                    </a:solidFill>
                  </a:tcPr>
                </a:tc>
                <a:tc>
                  <a:txBody>
                    <a:bodyPr/>
                    <a:lstStyle/>
                    <a:p>
                      <a:pPr algn="ctr">
                        <a:defRPr sz="850" b="1">
                          <a:solidFill>
                            <a:srgbClr val="38BDF8"/>
                          </a:solidFill>
                          <a:latin typeface="Segoe UI"/>
                        </a:defRPr>
                      </a:pPr>
                      <a:r>
                        <a:t>4</a:t>
                      </a:r>
                    </a:p>
                  </a:txBody>
                  <a:tcPr marL="73152" marR="73152" marT="54864" marB="54864">
                    <a:solidFill>
                      <a:srgbClr val="1E293B"/>
                    </a:solidFill>
                  </a:tcPr>
                </a:tc>
                <a:tc>
                  <a:txBody>
                    <a:bodyPr/>
                    <a:lstStyle/>
                    <a:p>
                      <a:pPr algn="l">
                        <a:defRPr sz="850" b="0">
                          <a:solidFill>
                            <a:srgbClr val="CBD5E1"/>
                          </a:solidFill>
                          <a:latin typeface="Segoe UI"/>
                        </a:defRPr>
                      </a:pPr>
                      <a:r>
                        <a:t>Deployer owner, name set, zero counters</a:t>
                      </a:r>
                    </a:p>
                  </a:txBody>
                  <a:tcPr marL="73152" marR="73152" marT="54864" marB="54864">
                    <a:solidFill>
                      <a:srgbClr val="1E293B"/>
                    </a:solidFill>
                  </a:tcPr>
                </a:tc>
                <a:tc>
                  <a:txBody>
                    <a:bodyPr/>
                    <a:lstStyle/>
                    <a:p>
                      <a:pPr algn="ctr">
                        <a:defRPr sz="850" b="1">
                          <a:solidFill>
                            <a:srgbClr val="4ADE80"/>
                          </a:solidFill>
                          <a:latin typeface="Segoe UI"/>
                        </a:defRPr>
                      </a:pPr>
                      <a:r>
                        <a:t>100%</a:t>
                      </a:r>
                    </a:p>
                  </a:txBody>
                  <a:tcPr marL="73152" marR="73152" marT="54864" marB="54864">
                    <a:solidFill>
                      <a:srgbClr val="1E293B"/>
                    </a:solidFill>
                  </a:tcPr>
                </a:tc>
              </a:tr>
              <a:tr h="685800">
                <a:tc>
                  <a:txBody>
                    <a:bodyPr/>
                    <a:lstStyle/>
                    <a:p>
                      <a:pPr algn="l">
                        <a:defRPr sz="850" b="0">
                          <a:solidFill>
                            <a:srgbClr val="CBD5E1"/>
                          </a:solidFill>
                          <a:latin typeface="Segoe UI"/>
                        </a:defRPr>
                      </a:pPr>
                      <a:r>
                        <a:t>2. Role-Based Access Control</a:t>
                      </a:r>
                    </a:p>
                  </a:txBody>
                  <a:tcPr marL="73152" marR="73152" marT="54864" marB="54864">
                    <a:solidFill>
                      <a:srgbClr val="1E293B"/>
                    </a:solidFill>
                  </a:tcPr>
                </a:tc>
                <a:tc>
                  <a:txBody>
                    <a:bodyPr/>
                    <a:lstStyle/>
                    <a:p>
                      <a:pPr algn="ctr">
                        <a:defRPr sz="850" b="1">
                          <a:solidFill>
                            <a:srgbClr val="38BDF8"/>
                          </a:solidFill>
                          <a:latin typeface="Segoe UI"/>
                        </a:defRPr>
                      </a:pPr>
                      <a:r>
                        <a:t>6</a:t>
                      </a:r>
                    </a:p>
                  </a:txBody>
                  <a:tcPr marL="73152" marR="73152" marT="54864" marB="54864">
                    <a:solidFill>
                      <a:srgbClr val="1E293B"/>
                    </a:solidFill>
                  </a:tcPr>
                </a:tc>
                <a:tc>
                  <a:txBody>
                    <a:bodyPr/>
                    <a:lstStyle/>
                    <a:p>
                      <a:pPr algn="l">
                        <a:defRPr sz="850" b="0">
                          <a:solidFill>
                            <a:srgbClr val="CBD5E1"/>
                          </a:solidFill>
                          <a:latin typeface="Segoe UI"/>
                        </a:defRPr>
                      </a:pPr>
                      <a:r>
                        <a:t>onlyOwner whitelist, non-issuer revert</a:t>
                      </a:r>
                    </a:p>
                  </a:txBody>
                  <a:tcPr marL="73152" marR="73152" marT="54864" marB="54864">
                    <a:solidFill>
                      <a:srgbClr val="1E293B"/>
                    </a:solidFill>
                  </a:tcPr>
                </a:tc>
                <a:tc>
                  <a:txBody>
                    <a:bodyPr/>
                    <a:lstStyle/>
                    <a:p>
                      <a:pPr algn="ctr">
                        <a:defRPr sz="850" b="1">
                          <a:solidFill>
                            <a:srgbClr val="4ADE80"/>
                          </a:solidFill>
                          <a:latin typeface="Segoe UI"/>
                        </a:defRPr>
                      </a:pPr>
                      <a:r>
                        <a:t>100%</a:t>
                      </a:r>
                    </a:p>
                  </a:txBody>
                  <a:tcPr marL="73152" marR="73152" marT="54864" marB="54864">
                    <a:solidFill>
                      <a:srgbClr val="1E293B"/>
                    </a:solidFill>
                  </a:tcPr>
                </a:tc>
              </a:tr>
              <a:tr h="685800">
                <a:tc>
                  <a:txBody>
                    <a:bodyPr/>
                    <a:lstStyle/>
                    <a:p>
                      <a:pPr algn="l">
                        <a:defRPr sz="850" b="0">
                          <a:solidFill>
                            <a:srgbClr val="CBD5E1"/>
                          </a:solidFill>
                          <a:latin typeface="Segoe UI"/>
                        </a:defRPr>
                      </a:pPr>
                      <a:r>
                        <a:t>3. Credential Issuance</a:t>
                      </a:r>
                    </a:p>
                  </a:txBody>
                  <a:tcPr marL="73152" marR="73152" marT="54864" marB="54864">
                    <a:solidFill>
                      <a:srgbClr val="1E293B"/>
                    </a:solidFill>
                  </a:tcPr>
                </a:tc>
                <a:tc>
                  <a:txBody>
                    <a:bodyPr/>
                    <a:lstStyle/>
                    <a:p>
                      <a:pPr algn="ctr">
                        <a:defRPr sz="850" b="1">
                          <a:solidFill>
                            <a:srgbClr val="38BDF8"/>
                          </a:solidFill>
                          <a:latin typeface="Segoe UI"/>
                        </a:defRPr>
                      </a:pPr>
                      <a:r>
                        <a:t>7</a:t>
                      </a:r>
                    </a:p>
                  </a:txBody>
                  <a:tcPr marL="73152" marR="73152" marT="54864" marB="54864">
                    <a:solidFill>
                      <a:srgbClr val="1E293B"/>
                    </a:solidFill>
                  </a:tcPr>
                </a:tc>
                <a:tc>
                  <a:txBody>
                    <a:bodyPr/>
                    <a:lstStyle/>
                    <a:p>
                      <a:pPr algn="l">
                        <a:defRPr sz="850" b="0">
                          <a:solidFill>
                            <a:srgbClr val="CBD5E1"/>
                          </a:solidFill>
                          <a:latin typeface="Segoe UI"/>
                        </a:defRPr>
                      </a:pPr>
                      <a:r>
                        <a:t>Non-empty ID/hash/CID, duplicate revert</a:t>
                      </a:r>
                    </a:p>
                  </a:txBody>
                  <a:tcPr marL="73152" marR="73152" marT="54864" marB="54864">
                    <a:solidFill>
                      <a:srgbClr val="1E293B"/>
                    </a:solidFill>
                  </a:tcPr>
                </a:tc>
                <a:tc>
                  <a:txBody>
                    <a:bodyPr/>
                    <a:lstStyle/>
                    <a:p>
                      <a:pPr algn="ctr">
                        <a:defRPr sz="850" b="1">
                          <a:solidFill>
                            <a:srgbClr val="4ADE80"/>
                          </a:solidFill>
                          <a:latin typeface="Segoe UI"/>
                        </a:defRPr>
                      </a:pPr>
                      <a:r>
                        <a:t>100%</a:t>
                      </a:r>
                    </a:p>
                  </a:txBody>
                  <a:tcPr marL="73152" marR="73152" marT="54864" marB="54864">
                    <a:solidFill>
                      <a:srgbClr val="1E293B"/>
                    </a:solidFill>
                  </a:tcPr>
                </a:tc>
              </a:tr>
              <a:tr h="685800">
                <a:tc>
                  <a:txBody>
                    <a:bodyPr/>
                    <a:lstStyle/>
                    <a:p>
                      <a:pPr algn="l">
                        <a:defRPr sz="850" b="0">
                          <a:solidFill>
                            <a:srgbClr val="CBD5E1"/>
                          </a:solidFill>
                          <a:latin typeface="Segoe UI"/>
                        </a:defRPr>
                      </a:pPr>
                      <a:r>
                        <a:t>4. O(1) Public Verification</a:t>
                      </a:r>
                    </a:p>
                  </a:txBody>
                  <a:tcPr marL="73152" marR="73152" marT="54864" marB="54864">
                    <a:solidFill>
                      <a:srgbClr val="1E293B"/>
                    </a:solidFill>
                  </a:tcPr>
                </a:tc>
                <a:tc>
                  <a:txBody>
                    <a:bodyPr/>
                    <a:lstStyle/>
                    <a:p>
                      <a:pPr algn="ctr">
                        <a:defRPr sz="850" b="1">
                          <a:solidFill>
                            <a:srgbClr val="38BDF8"/>
                          </a:solidFill>
                          <a:latin typeface="Segoe UI"/>
                        </a:defRPr>
                      </a:pPr>
                      <a:r>
                        <a:t>5</a:t>
                      </a:r>
                    </a:p>
                  </a:txBody>
                  <a:tcPr marL="73152" marR="73152" marT="54864" marB="54864">
                    <a:solidFill>
                      <a:srgbClr val="1E293B"/>
                    </a:solidFill>
                  </a:tcPr>
                </a:tc>
                <a:tc>
                  <a:txBody>
                    <a:bodyPr/>
                    <a:lstStyle/>
                    <a:p>
                      <a:pPr algn="l">
                        <a:defRPr sz="850" b="0">
                          <a:solidFill>
                            <a:srgbClr val="CBD5E1"/>
                          </a:solidFill>
                          <a:latin typeface="Segoe UI"/>
                        </a:defRPr>
                      </a:pPr>
                      <a:r>
                        <a:t>verifyByHash &amp; secondary SAP ID index</a:t>
                      </a:r>
                    </a:p>
                  </a:txBody>
                  <a:tcPr marL="73152" marR="73152" marT="54864" marB="54864">
                    <a:solidFill>
                      <a:srgbClr val="1E293B"/>
                    </a:solidFill>
                  </a:tcPr>
                </a:tc>
                <a:tc>
                  <a:txBody>
                    <a:bodyPr/>
                    <a:lstStyle/>
                    <a:p>
                      <a:pPr algn="ctr">
                        <a:defRPr sz="850" b="1">
                          <a:solidFill>
                            <a:srgbClr val="4ADE80"/>
                          </a:solidFill>
                          <a:latin typeface="Segoe UI"/>
                        </a:defRPr>
                      </a:pPr>
                      <a:r>
                        <a:t>100%</a:t>
                      </a:r>
                    </a:p>
                  </a:txBody>
                  <a:tcPr marL="73152" marR="73152" marT="54864" marB="54864">
                    <a:solidFill>
                      <a:srgbClr val="1E293B"/>
                    </a:solidFill>
                  </a:tcPr>
                </a:tc>
              </a:tr>
              <a:tr h="685800">
                <a:tc>
                  <a:txBody>
                    <a:bodyPr/>
                    <a:lstStyle/>
                    <a:p>
                      <a:pPr algn="l">
                        <a:defRPr sz="850" b="0">
                          <a:solidFill>
                            <a:srgbClr val="CBD5E1"/>
                          </a:solidFill>
                          <a:latin typeface="Segoe UI"/>
                        </a:defRPr>
                      </a:pPr>
                      <a:r>
                        <a:t>5. Non-Destructive Revoke</a:t>
                      </a:r>
                    </a:p>
                  </a:txBody>
                  <a:tcPr marL="73152" marR="73152" marT="54864" marB="54864">
                    <a:solidFill>
                      <a:srgbClr val="1E293B"/>
                    </a:solidFill>
                  </a:tcPr>
                </a:tc>
                <a:tc>
                  <a:txBody>
                    <a:bodyPr/>
                    <a:lstStyle/>
                    <a:p>
                      <a:pPr algn="ctr">
                        <a:defRPr sz="850" b="1">
                          <a:solidFill>
                            <a:srgbClr val="38BDF8"/>
                          </a:solidFill>
                          <a:latin typeface="Segoe UI"/>
                        </a:defRPr>
                      </a:pPr>
                      <a:r>
                        <a:t>4</a:t>
                      </a:r>
                    </a:p>
                  </a:txBody>
                  <a:tcPr marL="73152" marR="73152" marT="54864" marB="54864">
                    <a:solidFill>
                      <a:srgbClr val="1E293B"/>
                    </a:solidFill>
                  </a:tcPr>
                </a:tc>
                <a:tc>
                  <a:txBody>
                    <a:bodyPr/>
                    <a:lstStyle/>
                    <a:p>
                      <a:pPr algn="l">
                        <a:defRPr sz="850" b="0">
                          <a:solidFill>
                            <a:srgbClr val="CBD5E1"/>
                          </a:solidFill>
                          <a:latin typeface="Segoe UI"/>
                        </a:defRPr>
                      </a:pPr>
                      <a:r>
                        <a:t>isRevoked flag, reason &amp; audit trail</a:t>
                      </a:r>
                    </a:p>
                  </a:txBody>
                  <a:tcPr marL="73152" marR="73152" marT="54864" marB="54864">
                    <a:solidFill>
                      <a:srgbClr val="1E293B"/>
                    </a:solidFill>
                  </a:tcPr>
                </a:tc>
                <a:tc>
                  <a:txBody>
                    <a:bodyPr/>
                    <a:lstStyle/>
                    <a:p>
                      <a:pPr algn="ctr">
                        <a:defRPr sz="850" b="1">
                          <a:solidFill>
                            <a:srgbClr val="4ADE80"/>
                          </a:solidFill>
                          <a:latin typeface="Segoe UI"/>
                        </a:defRPr>
                      </a:pPr>
                      <a:r>
                        <a:t>100%</a:t>
                      </a:r>
                    </a:p>
                  </a:txBody>
                  <a:tcPr marL="73152" marR="73152" marT="54864" marB="54864">
                    <a:solidFill>
                      <a:srgbClr val="1E293B"/>
                    </a:solidFill>
                  </a:tcPr>
                </a:tc>
              </a:tr>
              <a:tr h="685800">
                <a:tc>
                  <a:txBody>
                    <a:bodyPr/>
                    <a:lstStyle/>
                    <a:p>
                      <a:pPr algn="l">
                        <a:defRPr sz="850" b="0">
                          <a:solidFill>
                            <a:srgbClr val="CBD5E1"/>
                          </a:solidFill>
                          <a:latin typeface="Segoe UI"/>
                        </a:defRPr>
                      </a:pPr>
                      <a:r>
                        <a:t>6. Emergency Circuit-Breaker</a:t>
                      </a:r>
                    </a:p>
                  </a:txBody>
                  <a:tcPr marL="73152" marR="73152" marT="54864" marB="54864">
                    <a:solidFill>
                      <a:srgbClr val="1E293B"/>
                    </a:solidFill>
                  </a:tcPr>
                </a:tc>
                <a:tc>
                  <a:txBody>
                    <a:bodyPr/>
                    <a:lstStyle/>
                    <a:p>
                      <a:pPr algn="ctr">
                        <a:defRPr sz="850" b="1">
                          <a:solidFill>
                            <a:srgbClr val="38BDF8"/>
                          </a:solidFill>
                          <a:latin typeface="Segoe UI"/>
                        </a:defRPr>
                      </a:pPr>
                      <a:r>
                        <a:t>3</a:t>
                      </a:r>
                    </a:p>
                  </a:txBody>
                  <a:tcPr marL="73152" marR="73152" marT="54864" marB="54864">
                    <a:solidFill>
                      <a:srgbClr val="1E293B"/>
                    </a:solidFill>
                  </a:tcPr>
                </a:tc>
                <a:tc>
                  <a:txBody>
                    <a:bodyPr/>
                    <a:lstStyle/>
                    <a:p>
                      <a:pPr algn="l">
                        <a:defRPr sz="850" b="0">
                          <a:solidFill>
                            <a:srgbClr val="CBD5E1"/>
                          </a:solidFill>
                          <a:latin typeface="Segoe UI"/>
                        </a:defRPr>
                      </a:pPr>
                      <a:r>
                        <a:t>Pausable freezes writes; views stay live</a:t>
                      </a:r>
                    </a:p>
                  </a:txBody>
                  <a:tcPr marL="73152" marR="73152" marT="54864" marB="54864">
                    <a:solidFill>
                      <a:srgbClr val="1E293B"/>
                    </a:solidFill>
                  </a:tcPr>
                </a:tc>
                <a:tc>
                  <a:txBody>
                    <a:bodyPr/>
                    <a:lstStyle/>
                    <a:p>
                      <a:pPr algn="ctr">
                        <a:defRPr sz="850" b="1">
                          <a:solidFill>
                            <a:srgbClr val="4ADE80"/>
                          </a:solidFill>
                          <a:latin typeface="Segoe UI"/>
                        </a:defRPr>
                      </a:pPr>
                      <a:r>
                        <a:t>100%</a:t>
                      </a:r>
                    </a:p>
                  </a:txBody>
                  <a:tcPr marL="73152" marR="73152" marT="54864" marB="54864">
                    <a:solidFill>
                      <a:srgbClr val="1E293B"/>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EXPERIMENTAL RESULTS &amp; MATHEMATICAL PROOF</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One Changed Character Flips Half the Hash</a:t>
            </a:r>
            <a:endParaRPr lang="en-US" sz="3200" dirty="0"/>
          </a:p>
        </p:txBody>
      </p:sp>
      <p:graphicFrame>
        <p:nvGraphicFramePr>
          <p:cNvPr id="4" name="Avalanche chart" descr=""/>
          <p:cNvGraphicFramePr/>
          <p:nvPr/>
        </p:nvGraphicFramePr>
        <p:xfrm>
          <a:off x="548640" y="1463040"/>
          <a:ext cx="6400800" cy="4800600"/>
        </p:xfrm>
        <a:graphic xmlns:a="http://schemas.openxmlformats.org/drawingml/2006/main">
          <a:graphicData uri="http://schemas.openxmlformats.org/drawingml/2006/chart">
            <c:chart xmlns:c="http://schemas.openxmlformats.org/drawingml/2006/chart" r:id="rId1"/>
          </a:graphicData>
        </a:graphic>
      </p:graphicFrame>
      <p:sp>
        <p:nvSpPr>
          <p:cNvPr id="5" name="Authentic card"/>
          <p:cNvSpPr/>
          <p:nvPr/>
        </p:nvSpPr>
        <p:spPr>
          <a:xfrm>
            <a:off x="7223760" y="1463040"/>
            <a:ext cx="4416552" cy="1508760"/>
          </a:xfrm>
          <a:prstGeom prst="roundRect">
            <a:avLst>
              <a:gd name="adj" fmla="val 6061"/>
            </a:avLst>
          </a:prstGeom>
          <a:solidFill>
            <a:schemeClr val="accent4">
              <a:alpha val="12000"/>
            </a:schemeClr>
          </a:solidFill>
          <a:ln/>
        </p:spPr>
      </p:sp>
      <p:sp>
        <p:nvSpPr>
          <p:cNvPr id="6" name="Authentic label"/>
          <p:cNvSpPr txBox="1"/>
          <p:nvPr/>
        </p:nvSpPr>
        <p:spPr>
          <a:xfrm>
            <a:off x="7498080" y="1600200"/>
            <a:ext cx="3840480" cy="274320"/>
          </a:xfrm>
          <a:prstGeom prst="rect">
            <a:avLst/>
          </a:prstGeom>
          <a:noFill/>
          <a:ln/>
        </p:spPr>
        <p:txBody>
          <a:bodyPr wrap="square" lIns="0" tIns="0" rIns="0" bIns="0" rtlCol="0" anchor="t"/>
          <a:lstStyle/>
          <a:p>
            <a:pPr algn="l" indent="0" marL="0">
              <a:buNone/>
            </a:pPr>
            <a:r>
              <a:rPr lang="en-US" sz="1200" b="1" spc="100" kern="0" dirty="0">
                <a:solidFill>
                  <a:schemeClr val="accent4"/>
                </a:solidFill>
              </a:rPr>
              <a:t>AUTHENTIC  |  CGPA 9.42</a:t>
            </a:r>
            <a:endParaRPr lang="en-US" sz="1200" dirty="0"/>
          </a:p>
        </p:txBody>
      </p:sp>
      <p:sp>
        <p:nvSpPr>
          <p:cNvPr id="7" name="Authentic file"/>
          <p:cNvSpPr txBox="1"/>
          <p:nvPr/>
        </p:nvSpPr>
        <p:spPr>
          <a:xfrm>
            <a:off x="7498080" y="1892808"/>
            <a:ext cx="3931920" cy="274320"/>
          </a:xfrm>
          <a:prstGeom prst="rect">
            <a:avLst/>
          </a:prstGeom>
          <a:noFill/>
          <a:ln/>
        </p:spPr>
        <p:txBody>
          <a:bodyPr wrap="square" lIns="0" tIns="0" rIns="0" bIns="0" rtlCol="0" anchor="t"/>
          <a:lstStyle/>
          <a:p>
            <a:pPr algn="l" indent="0" marL="0">
              <a:buNone/>
            </a:pPr>
            <a:r>
              <a:rPr lang="en-US" sz="1200" dirty="0">
                <a:solidFill>
                  <a:schemeClr val="tx1"/>
                </a:solidFill>
              </a:rPr>
              <a:t>NMIMS_Sample_GradeCard.pdf  |  SAP 70552400057</a:t>
            </a:r>
            <a:endParaRPr lang="en-US" sz="1200" dirty="0"/>
          </a:p>
        </p:txBody>
      </p:sp>
      <p:sp>
        <p:nvSpPr>
          <p:cNvPr id="8" name="Authentic hash"/>
          <p:cNvSpPr txBox="1"/>
          <p:nvPr/>
        </p:nvSpPr>
        <p:spPr>
          <a:xfrm>
            <a:off x="7498080" y="2194560"/>
            <a:ext cx="3931920" cy="274320"/>
          </a:xfrm>
          <a:prstGeom prst="rect">
            <a:avLst/>
          </a:prstGeom>
          <a:noFill/>
          <a:ln/>
        </p:spPr>
        <p:txBody>
          <a:bodyPr wrap="square" lIns="0" tIns="0" rIns="0" bIns="0" rtlCol="0" anchor="t"/>
          <a:lstStyle/>
          <a:p>
            <a:pPr algn="l" indent="0" marL="0">
              <a:buNone/>
            </a:pPr>
            <a:r>
              <a:rPr lang="en-US" sz="1200" dirty="0">
                <a:solidFill>
                  <a:schemeClr val="tx2"/>
                </a:solidFill>
                <a:latin typeface="Courier New" pitchFamily="34" charset="0"/>
                <a:ea typeface="Courier New" pitchFamily="34" charset="-122"/>
                <a:cs typeface="Courier New" pitchFamily="34" charset="-120"/>
              </a:rPr>
              <a:t>0xb89ce30b75b539349a8114...</a:t>
            </a:r>
            <a:endParaRPr lang="en-US" sz="1200" dirty="0"/>
          </a:p>
        </p:txBody>
      </p:sp>
      <p:sp>
        <p:nvSpPr>
          <p:cNvPr id="9" name="Authentic pill"/>
          <p:cNvSpPr/>
          <p:nvPr/>
        </p:nvSpPr>
        <p:spPr>
          <a:xfrm>
            <a:off x="7498080" y="2514600"/>
            <a:ext cx="2468880" cy="329184"/>
          </a:xfrm>
          <a:prstGeom prst="roundRect">
            <a:avLst>
              <a:gd name="adj" fmla="val 16667"/>
            </a:avLst>
          </a:prstGeom>
          <a:solidFill>
            <a:schemeClr val="accent4"/>
          </a:solidFill>
          <a:ln/>
        </p:spPr>
        <p:txBody>
          <a:bodyPr wrap="square" lIns="0" tIns="0" rIns="0" bIns="0" rtlCol="0" anchor="ctr"/>
          <a:lstStyle/>
          <a:p>
            <a:pPr algn="ctr" indent="0" marL="0">
              <a:buNone/>
            </a:pPr>
            <a:r>
              <a:rPr lang="en-US" sz="1200" b="1" dirty="0">
                <a:solidFill>
                  <a:schemeClr val="bg1"/>
                </a:solidFill>
              </a:rPr>
              <a:t>AUTHENTIC &amp; VERIFIED</a:t>
            </a:r>
            <a:endParaRPr lang="en-US" sz="1200" dirty="0"/>
          </a:p>
        </p:txBody>
      </p:sp>
      <p:sp>
        <p:nvSpPr>
          <p:cNvPr id="10" name="Tampered card"/>
          <p:cNvSpPr/>
          <p:nvPr/>
        </p:nvSpPr>
        <p:spPr>
          <a:xfrm>
            <a:off x="7223760" y="3108960"/>
            <a:ext cx="4416552" cy="1508760"/>
          </a:xfrm>
          <a:prstGeom prst="roundRect">
            <a:avLst>
              <a:gd name="adj" fmla="val 6061"/>
            </a:avLst>
          </a:prstGeom>
          <a:solidFill>
            <a:schemeClr val="accent3">
              <a:alpha val="12000"/>
            </a:schemeClr>
          </a:solidFill>
          <a:ln/>
        </p:spPr>
      </p:sp>
      <p:sp>
        <p:nvSpPr>
          <p:cNvPr id="11" name="Tampered label"/>
          <p:cNvSpPr txBox="1"/>
          <p:nvPr/>
        </p:nvSpPr>
        <p:spPr>
          <a:xfrm>
            <a:off x="7498080" y="3246120"/>
            <a:ext cx="3840480" cy="274320"/>
          </a:xfrm>
          <a:prstGeom prst="rect">
            <a:avLst/>
          </a:prstGeom>
          <a:noFill/>
          <a:ln/>
        </p:spPr>
        <p:txBody>
          <a:bodyPr wrap="square" lIns="0" tIns="0" rIns="0" bIns="0" rtlCol="0" anchor="t"/>
          <a:lstStyle/>
          <a:p>
            <a:pPr algn="l" indent="0" marL="0">
              <a:buNone/>
            </a:pPr>
            <a:r>
              <a:rPr lang="en-US" sz="1200" b="1" spc="100" kern="0" dirty="0">
                <a:solidFill>
                  <a:schemeClr val="accent3"/>
                </a:solidFill>
              </a:rPr>
              <a:t>TAMPERED  |  CGPA 9.42 to 9.99</a:t>
            </a:r>
            <a:endParaRPr lang="en-US" sz="1200" dirty="0"/>
          </a:p>
        </p:txBody>
      </p:sp>
      <p:sp>
        <p:nvSpPr>
          <p:cNvPr id="12" name="Tampered file"/>
          <p:cNvSpPr txBox="1"/>
          <p:nvPr/>
        </p:nvSpPr>
        <p:spPr>
          <a:xfrm>
            <a:off x="7498080" y="3538728"/>
            <a:ext cx="3931920" cy="274320"/>
          </a:xfrm>
          <a:prstGeom prst="rect">
            <a:avLst/>
          </a:prstGeom>
          <a:noFill/>
          <a:ln/>
        </p:spPr>
        <p:txBody>
          <a:bodyPr wrap="square" lIns="0" tIns="0" rIns="0" bIns="0" rtlCol="0" anchor="t"/>
          <a:lstStyle/>
          <a:p>
            <a:pPr algn="l" indent="0" marL="0">
              <a:buNone/>
            </a:pPr>
            <a:r>
              <a:rPr lang="en-US" sz="1200" dirty="0">
                <a:solidFill>
                  <a:schemeClr val="tx1"/>
                </a:solidFill>
              </a:rPr>
              <a:t>NMIMS_Sample_GradeCard_TAMPERED.pdf</a:t>
            </a:r>
            <a:endParaRPr lang="en-US" sz="1200" dirty="0"/>
          </a:p>
        </p:txBody>
      </p:sp>
      <p:sp>
        <p:nvSpPr>
          <p:cNvPr id="13" name="Tampered hash"/>
          <p:cNvSpPr txBox="1"/>
          <p:nvPr/>
        </p:nvSpPr>
        <p:spPr>
          <a:xfrm>
            <a:off x="7498080" y="3840480"/>
            <a:ext cx="3931920" cy="274320"/>
          </a:xfrm>
          <a:prstGeom prst="rect">
            <a:avLst/>
          </a:prstGeom>
          <a:noFill/>
          <a:ln/>
        </p:spPr>
        <p:txBody>
          <a:bodyPr wrap="square" lIns="0" tIns="0" rIns="0" bIns="0" rtlCol="0" anchor="t"/>
          <a:lstStyle/>
          <a:p>
            <a:pPr algn="l" indent="0" marL="0">
              <a:buNone/>
            </a:pPr>
            <a:r>
              <a:rPr lang="en-US" sz="1200" dirty="0">
                <a:solidFill>
                  <a:schemeClr val="tx2"/>
                </a:solidFill>
                <a:latin typeface="Courier New" pitchFamily="34" charset="0"/>
                <a:ea typeface="Courier New" pitchFamily="34" charset="-122"/>
                <a:cs typeface="Courier New" pitchFamily="34" charset="-120"/>
              </a:rPr>
              <a:t>0xd9bff662829a779fef5a9a...</a:t>
            </a:r>
            <a:endParaRPr lang="en-US" sz="1200" dirty="0"/>
          </a:p>
        </p:txBody>
      </p:sp>
      <p:sp>
        <p:nvSpPr>
          <p:cNvPr id="14" name="Tampered pill"/>
          <p:cNvSpPr/>
          <p:nvPr/>
        </p:nvSpPr>
        <p:spPr>
          <a:xfrm>
            <a:off x="7498080" y="4160520"/>
            <a:ext cx="2468880" cy="329184"/>
          </a:xfrm>
          <a:prstGeom prst="roundRect">
            <a:avLst>
              <a:gd name="adj" fmla="val 16667"/>
            </a:avLst>
          </a:prstGeom>
          <a:solidFill>
            <a:schemeClr val="accent3"/>
          </a:solidFill>
          <a:ln/>
        </p:spPr>
        <p:txBody>
          <a:bodyPr wrap="square" lIns="0" tIns="0" rIns="0" bIns="0" rtlCol="0" anchor="ctr"/>
          <a:lstStyle/>
          <a:p>
            <a:pPr algn="ctr" indent="0" marL="0">
              <a:buNone/>
            </a:pPr>
            <a:r>
              <a:rPr lang="en-US" sz="1200" b="1" dirty="0">
                <a:solidFill>
                  <a:schemeClr val="bg1"/>
                </a:solidFill>
              </a:rPr>
              <a:t>FORGERY DETECTED</a:t>
            </a:r>
            <a:endParaRPr lang="en-US" sz="1200" dirty="0"/>
          </a:p>
        </p:txBody>
      </p:sp>
      <p:sp>
        <p:nvSpPr>
          <p:cNvPr id="15" name="Hamming card"/>
          <p:cNvSpPr/>
          <p:nvPr/>
        </p:nvSpPr>
        <p:spPr>
          <a:xfrm>
            <a:off x="7223760" y="4754880"/>
            <a:ext cx="4416552" cy="1508760"/>
          </a:xfrm>
          <a:prstGeom prst="roundRect">
            <a:avLst>
              <a:gd name="adj" fmla="val 6061"/>
            </a:avLst>
          </a:prstGeom>
          <a:solidFill>
            <a:schemeClr val="tx2"/>
          </a:solidFill>
          <a:ln/>
        </p:spPr>
      </p:sp>
      <p:sp>
        <p:nvSpPr>
          <p:cNvPr id="16" name="Hamming stat"/>
          <p:cNvSpPr txBox="1"/>
          <p:nvPr/>
        </p:nvSpPr>
        <p:spPr>
          <a:xfrm>
            <a:off x="7498080" y="4846320"/>
            <a:ext cx="2103120" cy="731520"/>
          </a:xfrm>
          <a:prstGeom prst="rect">
            <a:avLst/>
          </a:prstGeom>
          <a:noFill/>
          <a:ln/>
        </p:spPr>
        <p:txBody>
          <a:bodyPr wrap="square" lIns="0" tIns="0" rIns="0" bIns="0" rtlCol="0" anchor="ctr"/>
          <a:lstStyle/>
          <a:p>
            <a:pPr algn="l" indent="0" marL="0">
              <a:buNone/>
            </a:pPr>
            <a:r>
              <a:rPr lang="en-US" sz="3400" b="1" dirty="0">
                <a:solidFill>
                  <a:schemeClr val="accent5"/>
                </a:solidFill>
                <a:latin typeface="Cambria" pitchFamily="34" charset="0"/>
                <a:ea typeface="Cambria" pitchFamily="34" charset="-122"/>
                <a:cs typeface="Cambria" pitchFamily="34" charset="-120"/>
              </a:rPr>
              <a:t>128 / 256</a:t>
            </a:r>
            <a:endParaRPr lang="en-US" sz="3400" dirty="0"/>
          </a:p>
        </p:txBody>
      </p:sp>
      <p:sp>
        <p:nvSpPr>
          <p:cNvPr id="17" name="Hamming label"/>
          <p:cNvSpPr txBox="1"/>
          <p:nvPr/>
        </p:nvSpPr>
        <p:spPr>
          <a:xfrm>
            <a:off x="9509760" y="4846320"/>
            <a:ext cx="2011680" cy="731520"/>
          </a:xfrm>
          <a:prstGeom prst="rect">
            <a:avLst/>
          </a:prstGeom>
          <a:noFill/>
          <a:ln/>
        </p:spPr>
        <p:txBody>
          <a:bodyPr wrap="square" lIns="0" tIns="0" rIns="0" bIns="0" rtlCol="0" anchor="ctr"/>
          <a:lstStyle/>
          <a:p>
            <a:pPr algn="l" indent="0" marL="0">
              <a:buNone/>
            </a:pPr>
            <a:r>
              <a:rPr lang="en-US" sz="1500" b="1" dirty="0">
                <a:solidFill>
                  <a:schemeClr val="bg1"/>
                </a:solidFill>
              </a:rPr>
              <a:t>bits flipped = 50.0%</a:t>
            </a:r>
            <a:endParaRPr lang="en-US" sz="1500" dirty="0"/>
          </a:p>
        </p:txBody>
      </p:sp>
      <p:sp>
        <p:nvSpPr>
          <p:cNvPr id="18" name="Hamming caption"/>
          <p:cNvSpPr txBox="1"/>
          <p:nvPr/>
        </p:nvSpPr>
        <p:spPr>
          <a:xfrm>
            <a:off x="7498080" y="5623560"/>
            <a:ext cx="3931920" cy="548640"/>
          </a:xfrm>
          <a:prstGeom prst="rect">
            <a:avLst/>
          </a:prstGeom>
          <a:noFill/>
          <a:ln/>
        </p:spPr>
        <p:txBody>
          <a:bodyPr wrap="square" lIns="0" tIns="0" rIns="0" bIns="0" rtlCol="0" anchor="t"/>
          <a:lstStyle/>
          <a:p>
            <a:pPr algn="l" indent="0" marL="0">
              <a:buNone/>
            </a:pPr>
            <a:r>
              <a:rPr lang="en-US" sz="1300" dirty="0">
                <a:solidFill>
                  <a:schemeClr val="bg2"/>
                </a:solidFill>
              </a:rPr>
              <a:t>Matches the NIST Strict Avalanche Criterion ideal, so any edit is caught.</a:t>
            </a:r>
            <a:endParaRPr lang="en-US" sz="13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GAS OPTIMIZATION &amp; PRODUCTION COST MODEL</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Economically Feasible at Production Scale</a:t>
            </a:r>
            <a:endParaRPr lang="en-US" sz="3200" dirty="0"/>
          </a:p>
        </p:txBody>
      </p:sp>
      <p:graphicFrame>
        <p:nvGraphicFramePr>
          <p:cNvPr id="4" name="Gas chart" descr=""/>
          <p:cNvGraphicFramePr/>
          <p:nvPr/>
        </p:nvGraphicFramePr>
        <p:xfrm>
          <a:off x="548640" y="1463040"/>
          <a:ext cx="6309360" cy="3749040"/>
        </p:xfrm>
        <a:graphic xmlns:a="http://schemas.openxmlformats.org/drawingml/2006/main">
          <a:graphicData uri="http://schemas.openxmlformats.org/drawingml/2006/chart">
            <c:chart xmlns:c="http://schemas.openxmlformats.org/drawingml/2006/chart" r:id="rId1"/>
          </a:graphicData>
        </a:graphic>
      </p:graphicFrame>
      <p:sp>
        <p:nvSpPr>
          <p:cNvPr id="5" name="Deployment callout"/>
          <p:cNvSpPr/>
          <p:nvPr/>
        </p:nvSpPr>
        <p:spPr>
          <a:xfrm>
            <a:off x="548640" y="5394960"/>
            <a:ext cx="6309360" cy="868680"/>
          </a:xfrm>
          <a:prstGeom prst="roundRect">
            <a:avLst>
              <a:gd name="adj" fmla="val 10526"/>
            </a:avLst>
          </a:prstGeom>
          <a:solidFill>
            <a:schemeClr val="tx2"/>
          </a:solidFill>
          <a:ln/>
        </p:spPr>
      </p:sp>
      <p:sp>
        <p:nvSpPr>
          <p:cNvPr id="6" name="Deployment text"/>
          <p:cNvSpPr txBox="1"/>
          <p:nvPr/>
        </p:nvSpPr>
        <p:spPr>
          <a:xfrm>
            <a:off x="822960" y="5394960"/>
            <a:ext cx="5760720" cy="868680"/>
          </a:xfrm>
          <a:prstGeom prst="rect">
            <a:avLst/>
          </a:prstGeom>
          <a:noFill/>
          <a:ln/>
        </p:spPr>
        <p:txBody>
          <a:bodyPr wrap="square" lIns="0" tIns="0" rIns="0" bIns="0" rtlCol="0" anchor="ctr"/>
          <a:lstStyle/>
          <a:p>
            <a:pPr algn="l" indent="0" marL="0">
              <a:buNone/>
            </a:pPr>
            <a:r>
              <a:rPr lang="en-US" sz="1600" b="1" dirty="0">
                <a:solidFill>
                  <a:schemeClr val="bg1"/>
                </a:solidFill>
              </a:rPr>
              <a:t>Contract deployment: </a:t>
            </a:r>
            <a:pPr algn="l" indent="0" marL="0">
              <a:buNone/>
            </a:pPr>
            <a:r>
              <a:rPr lang="en-US" sz="1600" dirty="0">
                <a:solidFill>
                  <a:schemeClr val="accent5"/>
                </a:solidFill>
              </a:rPr>
              <a:t>1,182,450 gas  =  $0.021 USD, one time only</a:t>
            </a:r>
            <a:endParaRPr lang="en-US" sz="1600" dirty="0"/>
          </a:p>
        </p:txBody>
      </p:sp>
      <p:sp>
        <p:nvSpPr>
          <p:cNvPr id="7" name="Cost card 1"/>
          <p:cNvSpPr/>
          <p:nvPr/>
        </p:nvSpPr>
        <p:spPr>
          <a:xfrm>
            <a:off x="7178040" y="1463040"/>
            <a:ext cx="2176272" cy="2286000"/>
          </a:xfrm>
          <a:prstGeom prst="roundRect">
            <a:avLst>
              <a:gd name="adj" fmla="val 4202"/>
            </a:avLst>
          </a:prstGeom>
          <a:solidFill>
            <a:schemeClr val="bg2"/>
          </a:solidFill>
          <a:ln/>
        </p:spPr>
      </p:sp>
      <p:sp>
        <p:nvSpPr>
          <p:cNvPr id="8" name="Cost label 1"/>
          <p:cNvSpPr txBox="1"/>
          <p:nvPr/>
        </p:nvSpPr>
        <p:spPr>
          <a:xfrm>
            <a:off x="7360920" y="1645920"/>
            <a:ext cx="1828800" cy="457200"/>
          </a:xfrm>
          <a:prstGeom prst="rect">
            <a:avLst/>
          </a:prstGeom>
          <a:noFill/>
          <a:ln/>
        </p:spPr>
        <p:txBody>
          <a:bodyPr wrap="square" lIns="0" tIns="0" rIns="0" bIns="0" rtlCol="0" anchor="t"/>
          <a:lstStyle/>
          <a:p>
            <a:pPr algn="l" indent="0" marL="0">
              <a:buNone/>
            </a:pPr>
            <a:r>
              <a:rPr lang="en-US" sz="1300" b="1" dirty="0">
                <a:solidFill>
                  <a:schemeClr val="tx2"/>
                </a:solidFill>
              </a:rPr>
              <a:t>Single issuance</a:t>
            </a:r>
            <a:endParaRPr lang="en-US" sz="1300" dirty="0"/>
          </a:p>
        </p:txBody>
      </p:sp>
      <p:sp>
        <p:nvSpPr>
          <p:cNvPr id="9" name="Cost value 1"/>
          <p:cNvSpPr txBox="1"/>
          <p:nvPr/>
        </p:nvSpPr>
        <p:spPr>
          <a:xfrm>
            <a:off x="7360920" y="2194560"/>
            <a:ext cx="1828800" cy="5486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$0.0012</a:t>
            </a:r>
            <a:endParaRPr lang="en-US" sz="2800" dirty="0"/>
          </a:p>
        </p:txBody>
      </p:sp>
      <p:sp>
        <p:nvSpPr>
          <p:cNvPr id="10" name="Cost note 1"/>
          <p:cNvSpPr txBox="1"/>
          <p:nvPr/>
        </p:nvSpPr>
        <p:spPr>
          <a:xfrm>
            <a:off x="7360920" y="2834640"/>
            <a:ext cx="1828800" cy="777240"/>
          </a:xfrm>
          <a:prstGeom prst="rect">
            <a:avLst/>
          </a:prstGeom>
          <a:noFill/>
          <a:ln/>
        </p:spPr>
        <p:txBody>
          <a:bodyPr wrap="square" lIns="0" tIns="0" rIns="0" bIns="0" rtlCol="0" anchor="t"/>
          <a:lstStyle/>
          <a:p>
            <a:pPr algn="l" indent="0" marL="0">
              <a:buNone/>
            </a:pPr>
            <a:r>
              <a:rPr lang="en-US" sz="1200" dirty="0">
                <a:solidFill>
                  <a:schemeClr val="tx1"/>
                </a:solidFill>
              </a:rPr>
              <a:t>about 10 paise</a:t>
            </a:r>
            <a:endParaRPr lang="en-US" sz="1200" dirty="0"/>
          </a:p>
        </p:txBody>
      </p:sp>
      <p:sp>
        <p:nvSpPr>
          <p:cNvPr id="11" name="Cost card 2"/>
          <p:cNvSpPr/>
          <p:nvPr/>
        </p:nvSpPr>
        <p:spPr>
          <a:xfrm>
            <a:off x="9464040" y="1463040"/>
            <a:ext cx="2176272" cy="2286000"/>
          </a:xfrm>
          <a:prstGeom prst="roundRect">
            <a:avLst>
              <a:gd name="adj" fmla="val 4202"/>
            </a:avLst>
          </a:prstGeom>
          <a:solidFill>
            <a:schemeClr val="bg2"/>
          </a:solidFill>
          <a:ln/>
        </p:spPr>
      </p:sp>
      <p:sp>
        <p:nvSpPr>
          <p:cNvPr id="12" name="Cost label 2"/>
          <p:cNvSpPr txBox="1"/>
          <p:nvPr/>
        </p:nvSpPr>
        <p:spPr>
          <a:xfrm>
            <a:off x="9646920" y="1645920"/>
            <a:ext cx="1828800" cy="457200"/>
          </a:xfrm>
          <a:prstGeom prst="rect">
            <a:avLst/>
          </a:prstGeom>
          <a:noFill/>
          <a:ln/>
        </p:spPr>
        <p:txBody>
          <a:bodyPr wrap="square" lIns="0" tIns="0" rIns="0" bIns="0" rtlCol="0" anchor="t"/>
          <a:lstStyle/>
          <a:p>
            <a:pPr algn="l" indent="0" marL="0">
              <a:buNone/>
            </a:pPr>
            <a:r>
              <a:rPr lang="en-US" sz="1300" b="1" dirty="0">
                <a:solidFill>
                  <a:schemeClr val="tx2"/>
                </a:solidFill>
              </a:rPr>
              <a:t>Batch issuance (per cert)</a:t>
            </a:r>
            <a:endParaRPr lang="en-US" sz="1300" dirty="0"/>
          </a:p>
        </p:txBody>
      </p:sp>
      <p:sp>
        <p:nvSpPr>
          <p:cNvPr id="13" name="Cost value 2"/>
          <p:cNvSpPr txBox="1"/>
          <p:nvPr/>
        </p:nvSpPr>
        <p:spPr>
          <a:xfrm>
            <a:off x="9646920" y="2194560"/>
            <a:ext cx="1828800" cy="548640"/>
          </a:xfrm>
          <a:prstGeom prst="rect">
            <a:avLst/>
          </a:prstGeom>
          <a:noFill/>
          <a:ln/>
        </p:spPr>
        <p:txBody>
          <a:bodyPr wrap="square" lIns="0" tIns="0" rIns="0" bIns="0" rtlCol="0" anchor="ctr"/>
          <a:lstStyle/>
          <a:p>
            <a:pPr algn="l" indent="0" marL="0">
              <a:buNone/>
            </a:pPr>
            <a:r>
              <a:rPr lang="en-US" sz="2800" b="1" dirty="0">
                <a:solidFill>
                  <a:schemeClr val="accent1"/>
                </a:solidFill>
                <a:latin typeface="Cambria" pitchFamily="34" charset="0"/>
                <a:ea typeface="Cambria" pitchFamily="34" charset="-122"/>
                <a:cs typeface="Cambria" pitchFamily="34" charset="-120"/>
              </a:rPr>
              <a:t>$0.0009</a:t>
            </a:r>
            <a:endParaRPr lang="en-US" sz="2800" dirty="0"/>
          </a:p>
        </p:txBody>
      </p:sp>
      <p:sp>
        <p:nvSpPr>
          <p:cNvPr id="14" name="Cost note 2"/>
          <p:cNvSpPr txBox="1"/>
          <p:nvPr/>
        </p:nvSpPr>
        <p:spPr>
          <a:xfrm>
            <a:off x="9646920" y="2834640"/>
            <a:ext cx="1828800" cy="777240"/>
          </a:xfrm>
          <a:prstGeom prst="rect">
            <a:avLst/>
          </a:prstGeom>
          <a:noFill/>
          <a:ln/>
        </p:spPr>
        <p:txBody>
          <a:bodyPr wrap="square" lIns="0" tIns="0" rIns="0" bIns="0" rtlCol="0" anchor="t"/>
          <a:lstStyle/>
          <a:p>
            <a:pPr algn="l" indent="0" marL="0">
              <a:buNone/>
            </a:pPr>
            <a:r>
              <a:rPr lang="en-US" sz="1200" dirty="0">
                <a:solidFill>
                  <a:schemeClr val="tx1"/>
                </a:solidFill>
              </a:rPr>
              <a:t>about 7 paise, 23.8% less gas via loop amortization</a:t>
            </a:r>
            <a:endParaRPr lang="en-US" sz="1200" dirty="0"/>
          </a:p>
        </p:txBody>
      </p:sp>
      <p:sp>
        <p:nvSpPr>
          <p:cNvPr id="15" name="Cost card 3"/>
          <p:cNvSpPr/>
          <p:nvPr/>
        </p:nvSpPr>
        <p:spPr>
          <a:xfrm>
            <a:off x="7178040" y="3977640"/>
            <a:ext cx="2176272" cy="2286000"/>
          </a:xfrm>
          <a:prstGeom prst="roundRect">
            <a:avLst>
              <a:gd name="adj" fmla="val 4202"/>
            </a:avLst>
          </a:prstGeom>
          <a:solidFill>
            <a:schemeClr val="bg2"/>
          </a:solidFill>
          <a:ln/>
        </p:spPr>
      </p:sp>
      <p:sp>
        <p:nvSpPr>
          <p:cNvPr id="16" name="Cost label 3"/>
          <p:cNvSpPr txBox="1"/>
          <p:nvPr/>
        </p:nvSpPr>
        <p:spPr>
          <a:xfrm>
            <a:off x="7360920" y="4160520"/>
            <a:ext cx="1828800" cy="457200"/>
          </a:xfrm>
          <a:prstGeom prst="rect">
            <a:avLst/>
          </a:prstGeom>
          <a:noFill/>
          <a:ln/>
        </p:spPr>
        <p:txBody>
          <a:bodyPr wrap="square" lIns="0" tIns="0" rIns="0" bIns="0" rtlCol="0" anchor="t"/>
          <a:lstStyle/>
          <a:p>
            <a:pPr algn="l" indent="0" marL="0">
              <a:buNone/>
            </a:pPr>
            <a:r>
              <a:rPr lang="en-US" sz="1300" b="1" dirty="0">
                <a:solidFill>
                  <a:schemeClr val="tx2"/>
                </a:solidFill>
              </a:rPr>
              <a:t>Revoke credential</a:t>
            </a:r>
            <a:endParaRPr lang="en-US" sz="1300" dirty="0"/>
          </a:p>
        </p:txBody>
      </p:sp>
      <p:sp>
        <p:nvSpPr>
          <p:cNvPr id="17" name="Cost value 3"/>
          <p:cNvSpPr txBox="1"/>
          <p:nvPr/>
        </p:nvSpPr>
        <p:spPr>
          <a:xfrm>
            <a:off x="7360920" y="4709160"/>
            <a:ext cx="1828800" cy="5486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$0.0005</a:t>
            </a:r>
            <a:endParaRPr lang="en-US" sz="2800" dirty="0"/>
          </a:p>
        </p:txBody>
      </p:sp>
      <p:sp>
        <p:nvSpPr>
          <p:cNvPr id="18" name="Cost note 3"/>
          <p:cNvSpPr txBox="1"/>
          <p:nvPr/>
        </p:nvSpPr>
        <p:spPr>
          <a:xfrm>
            <a:off x="7360920" y="5349240"/>
            <a:ext cx="1828800" cy="777240"/>
          </a:xfrm>
          <a:prstGeom prst="rect">
            <a:avLst/>
          </a:prstGeom>
          <a:noFill/>
          <a:ln/>
        </p:spPr>
        <p:txBody>
          <a:bodyPr wrap="square" lIns="0" tIns="0" rIns="0" bIns="0" rtlCol="0" anchor="t"/>
          <a:lstStyle/>
          <a:p>
            <a:pPr algn="l" indent="0" marL="0">
              <a:buNone/>
            </a:pPr>
            <a:r>
              <a:rPr lang="en-US" sz="1200" dirty="0">
                <a:solidFill>
                  <a:schemeClr val="tx1"/>
                </a:solidFill>
              </a:rPr>
              <a:t>audit trail preserved</a:t>
            </a:r>
            <a:endParaRPr lang="en-US" sz="1200" dirty="0"/>
          </a:p>
        </p:txBody>
      </p:sp>
      <p:sp>
        <p:nvSpPr>
          <p:cNvPr id="19" name="Cost card 4"/>
          <p:cNvSpPr/>
          <p:nvPr/>
        </p:nvSpPr>
        <p:spPr>
          <a:xfrm>
            <a:off x="9464040" y="3977640"/>
            <a:ext cx="2176272" cy="2286000"/>
          </a:xfrm>
          <a:prstGeom prst="roundRect">
            <a:avLst>
              <a:gd name="adj" fmla="val 4202"/>
            </a:avLst>
          </a:prstGeom>
          <a:solidFill>
            <a:schemeClr val="accent4">
              <a:alpha val="12000"/>
            </a:schemeClr>
          </a:solidFill>
          <a:ln/>
        </p:spPr>
      </p:sp>
      <p:sp>
        <p:nvSpPr>
          <p:cNvPr id="20" name="Cost label 4"/>
          <p:cNvSpPr txBox="1"/>
          <p:nvPr/>
        </p:nvSpPr>
        <p:spPr>
          <a:xfrm>
            <a:off x="9646920" y="4160520"/>
            <a:ext cx="1828800" cy="457200"/>
          </a:xfrm>
          <a:prstGeom prst="rect">
            <a:avLst/>
          </a:prstGeom>
          <a:noFill/>
          <a:ln/>
        </p:spPr>
        <p:txBody>
          <a:bodyPr wrap="square" lIns="0" tIns="0" rIns="0" bIns="0" rtlCol="0" anchor="t"/>
          <a:lstStyle/>
          <a:p>
            <a:pPr algn="l" indent="0" marL="0">
              <a:buNone/>
            </a:pPr>
            <a:r>
              <a:rPr lang="en-US" sz="1300" b="1" dirty="0">
                <a:solidFill>
                  <a:schemeClr val="tx2"/>
                </a:solidFill>
              </a:rPr>
              <a:t>Verification query</a:t>
            </a:r>
            <a:endParaRPr lang="en-US" sz="1300" dirty="0"/>
          </a:p>
        </p:txBody>
      </p:sp>
      <p:sp>
        <p:nvSpPr>
          <p:cNvPr id="21" name="Cost value 4"/>
          <p:cNvSpPr txBox="1"/>
          <p:nvPr/>
        </p:nvSpPr>
        <p:spPr>
          <a:xfrm>
            <a:off x="9646920" y="4709160"/>
            <a:ext cx="1828800" cy="548640"/>
          </a:xfrm>
          <a:prstGeom prst="rect">
            <a:avLst/>
          </a:prstGeom>
          <a:noFill/>
          <a:ln/>
        </p:spPr>
        <p:txBody>
          <a:bodyPr wrap="square" lIns="0" tIns="0" rIns="0" bIns="0" rtlCol="0" anchor="ctr"/>
          <a:lstStyle/>
          <a:p>
            <a:pPr algn="l" indent="0" marL="0">
              <a:buNone/>
            </a:pPr>
            <a:r>
              <a:rPr lang="en-US" sz="2800" b="1" dirty="0">
                <a:solidFill>
                  <a:schemeClr val="accent4"/>
                </a:solidFill>
                <a:latin typeface="Cambria" pitchFamily="34" charset="0"/>
                <a:ea typeface="Cambria" pitchFamily="34" charset="-122"/>
                <a:cs typeface="Cambria" pitchFamily="34" charset="-120"/>
              </a:rPr>
              <a:t>0 gas</a:t>
            </a:r>
            <a:endParaRPr lang="en-US" sz="2800" dirty="0"/>
          </a:p>
        </p:txBody>
      </p:sp>
      <p:sp>
        <p:nvSpPr>
          <p:cNvPr id="22" name="Cost note 4"/>
          <p:cNvSpPr txBox="1"/>
          <p:nvPr/>
        </p:nvSpPr>
        <p:spPr>
          <a:xfrm>
            <a:off x="9646920" y="5349240"/>
            <a:ext cx="1828800" cy="777240"/>
          </a:xfrm>
          <a:prstGeom prst="rect">
            <a:avLst/>
          </a:prstGeom>
          <a:noFill/>
          <a:ln/>
        </p:spPr>
        <p:txBody>
          <a:bodyPr wrap="square" lIns="0" tIns="0" rIns="0" bIns="0" rtlCol="0" anchor="t"/>
          <a:lstStyle/>
          <a:p>
            <a:pPr algn="l" indent="0" marL="0">
              <a:buNone/>
            </a:pPr>
            <a:r>
              <a:rPr lang="en-US" sz="1200" dirty="0">
                <a:solidFill>
                  <a:schemeClr val="tx1"/>
                </a:solidFill>
              </a:rPr>
              <a:t>free view function: unlimited global verifications</a:t>
            </a:r>
            <a:endParaRPr lang="en-US" sz="1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graphicFrame>
        <p:nvGraphicFramePr>
          <p:cNvPr id="26" name="Table 25"/>
          <p:cNvGraphicFramePr>
            <a:graphicFrameLocks noGrp="1"/>
          </p:cNvGraphicFramePr>
          <p:nvPr/>
        </p:nvGraphicFramePr>
        <p:xfrm>
          <a:off x="548640" y="5349240"/>
          <a:ext cx="11091672" cy="1097280"/>
        </p:xfrm>
        <a:graphic>
          <a:graphicData uri="http://schemas.openxmlformats.org/drawingml/2006/table">
            <a:tbl>
              <a:tblPr firstRow="1" bandRow="1">
                <a:tableStyleId>{5C22544A-7EE6-4342-B048-85BDC9FD1C3A}</a:tableStyleId>
              </a:tblPr>
              <a:tblGrid>
                <a:gridCol w="2926080"/>
                <a:gridCol w="2011680"/>
                <a:gridCol w="2011680"/>
                <a:gridCol w="2011680"/>
                <a:gridCol w="2130552"/>
              </a:tblGrid>
              <a:tr h="274320">
                <a:tc>
                  <a:txBody>
                    <a:bodyPr/>
                    <a:lstStyle/>
                    <a:p>
                      <a:pPr algn="l">
                        <a:defRPr sz="900" b="1">
                          <a:solidFill>
                            <a:srgbClr val="38BDF8"/>
                          </a:solidFill>
                          <a:latin typeface="Segoe UI"/>
                        </a:defRPr>
                      </a:pPr>
                      <a:r>
                        <a:t>Verification Model</a:t>
                      </a:r>
                    </a:p>
                  </a:txBody>
                  <a:tcPr marL="73152" marR="73152" marT="54864" marB="54864">
                    <a:solidFill>
                      <a:srgbClr val="0F172A"/>
                    </a:solidFill>
                  </a:tcPr>
                </a:tc>
                <a:tc>
                  <a:txBody>
                    <a:bodyPr/>
                    <a:lstStyle/>
                    <a:p>
                      <a:pPr algn="ctr">
                        <a:defRPr sz="900" b="1">
                          <a:solidFill>
                            <a:srgbClr val="38BDF8"/>
                          </a:solidFill>
                          <a:latin typeface="Segoe UI"/>
                        </a:defRPr>
                      </a:pPr>
                      <a:r>
                        <a:t>Single Certificate</a:t>
                      </a:r>
                    </a:p>
                  </a:txBody>
                  <a:tcPr marL="73152" marR="73152" marT="54864" marB="54864">
                    <a:solidFill>
                      <a:srgbClr val="0F172A"/>
                    </a:solidFill>
                  </a:tcPr>
                </a:tc>
                <a:tc>
                  <a:txBody>
                    <a:bodyPr/>
                    <a:lstStyle/>
                    <a:p>
                      <a:pPr algn="ctr">
                        <a:defRPr sz="900" b="1">
                          <a:solidFill>
                            <a:srgbClr val="38BDF8"/>
                          </a:solidFill>
                          <a:latin typeface="Segoe UI"/>
                        </a:defRPr>
                      </a:pPr>
                      <a:r>
                        <a:t>Graduating Batch (500)</a:t>
                      </a:r>
                    </a:p>
                  </a:txBody>
                  <a:tcPr marL="73152" marR="73152" marT="54864" marB="54864">
                    <a:solidFill>
                      <a:srgbClr val="0F172A"/>
                    </a:solidFill>
                  </a:tcPr>
                </a:tc>
                <a:tc>
                  <a:txBody>
                    <a:bodyPr/>
                    <a:lstStyle/>
                    <a:p>
                      <a:pPr algn="ctr">
                        <a:defRPr sz="900" b="1">
                          <a:solidFill>
                            <a:srgbClr val="38BDF8"/>
                          </a:solidFill>
                          <a:latin typeface="Segoe UI"/>
                        </a:defRPr>
                      </a:pPr>
                      <a:r>
                        <a:t>Verification Fee</a:t>
                      </a:r>
                    </a:p>
                  </a:txBody>
                  <a:tcPr marL="73152" marR="73152" marT="54864" marB="54864">
                    <a:solidFill>
                      <a:srgbClr val="0F172A"/>
                    </a:solidFill>
                  </a:tcPr>
                </a:tc>
                <a:tc>
                  <a:txBody>
                    <a:bodyPr/>
                    <a:lstStyle/>
                    <a:p>
                      <a:pPr algn="ctr">
                        <a:defRPr sz="900" b="1">
                          <a:solidFill>
                            <a:srgbClr val="38BDF8"/>
                          </a:solidFill>
                          <a:latin typeface="Segoe UI"/>
                        </a:defRPr>
                      </a:pPr>
                      <a:r>
                        <a:t>Turnaround Latency</a:t>
                      </a:r>
                    </a:p>
                  </a:txBody>
                  <a:tcPr marL="73152" marR="73152" marT="54864" marB="54864">
                    <a:solidFill>
                      <a:srgbClr val="0F172A"/>
                    </a:solidFill>
                  </a:tcPr>
                </a:tc>
              </a:tr>
              <a:tr h="274320">
                <a:tc>
                  <a:txBody>
                    <a:bodyPr/>
                    <a:lstStyle/>
                    <a:p>
                      <a:pPr algn="l">
                        <a:defRPr sz="850" b="0">
                          <a:solidFill>
                            <a:srgbClr val="CBD5E1"/>
                          </a:solidFill>
                          <a:latin typeface="Segoe UI"/>
                        </a:defRPr>
                      </a:pPr>
                      <a:r>
                        <a:t>Traditional Background Agency</a:t>
                      </a:r>
                    </a:p>
                  </a:txBody>
                  <a:tcPr marL="73152" marR="73152" marT="54864" marB="54864">
                    <a:solidFill>
                      <a:srgbClr val="1E293B"/>
                    </a:solidFill>
                  </a:tcPr>
                </a:tc>
                <a:tc>
                  <a:txBody>
                    <a:bodyPr/>
                    <a:lstStyle/>
                    <a:p>
                      <a:pPr algn="ctr">
                        <a:defRPr sz="850" b="0">
                          <a:solidFill>
                            <a:srgbClr val="CBD5E1"/>
                          </a:solidFill>
                          <a:latin typeface="Segoe UI"/>
                        </a:defRPr>
                      </a:pPr>
                      <a:r>
                        <a:t>₹1,500 ($18.00)</a:t>
                      </a:r>
                    </a:p>
                  </a:txBody>
                  <a:tcPr marL="73152" marR="73152" marT="54864" marB="54864">
                    <a:solidFill>
                      <a:srgbClr val="1E293B"/>
                    </a:solidFill>
                  </a:tcPr>
                </a:tc>
                <a:tc>
                  <a:txBody>
                    <a:bodyPr/>
                    <a:lstStyle/>
                    <a:p>
                      <a:pPr algn="ctr">
                        <a:defRPr sz="850" b="0">
                          <a:solidFill>
                            <a:srgbClr val="CBD5E1"/>
                          </a:solidFill>
                          <a:latin typeface="Segoe UI"/>
                        </a:defRPr>
                      </a:pPr>
                      <a:r>
                        <a:t>₹7,50,000 ($9,000)</a:t>
                      </a:r>
                    </a:p>
                  </a:txBody>
                  <a:tcPr marL="73152" marR="73152" marT="54864" marB="54864">
                    <a:solidFill>
                      <a:srgbClr val="1E293B"/>
                    </a:solidFill>
                  </a:tcPr>
                </a:tc>
                <a:tc>
                  <a:txBody>
                    <a:bodyPr/>
                    <a:lstStyle/>
                    <a:p>
                      <a:pPr algn="ctr">
                        <a:defRPr sz="850" b="0">
                          <a:solidFill>
                            <a:srgbClr val="CBD5E1"/>
                          </a:solidFill>
                          <a:latin typeface="Segoe UI"/>
                        </a:defRPr>
                      </a:pPr>
                      <a:r>
                        <a:t>₹500 - ₹2,000</a:t>
                      </a:r>
                    </a:p>
                  </a:txBody>
                  <a:tcPr marL="73152" marR="73152" marT="54864" marB="54864">
                    <a:solidFill>
                      <a:srgbClr val="1E293B"/>
                    </a:solidFill>
                  </a:tcPr>
                </a:tc>
                <a:tc>
                  <a:txBody>
                    <a:bodyPr/>
                    <a:lstStyle/>
                    <a:p>
                      <a:pPr algn="ctr">
                        <a:defRPr sz="850" b="0">
                          <a:solidFill>
                            <a:srgbClr val="CBD5E1"/>
                          </a:solidFill>
                          <a:latin typeface="Segoe UI"/>
                        </a:defRPr>
                      </a:pPr>
                      <a:r>
                        <a:t>14 to 30 Business Days</a:t>
                      </a:r>
                    </a:p>
                  </a:txBody>
                  <a:tcPr marL="73152" marR="73152" marT="54864" marB="54864">
                    <a:solidFill>
                      <a:srgbClr val="1E293B"/>
                    </a:solidFill>
                  </a:tcPr>
                </a:tc>
              </a:tr>
              <a:tr h="274320">
                <a:tc>
                  <a:txBody>
                    <a:bodyPr/>
                    <a:lstStyle/>
                    <a:p>
                      <a:pPr algn="l">
                        <a:defRPr sz="850" b="0">
                          <a:solidFill>
                            <a:srgbClr val="CBD5E1"/>
                          </a:solidFill>
                          <a:latin typeface="Segoe UI"/>
                        </a:defRPr>
                      </a:pPr>
                      <a:r>
                        <a:t>Ethereum Public Layer-1</a:t>
                      </a:r>
                    </a:p>
                  </a:txBody>
                  <a:tcPr marL="73152" marR="73152" marT="54864" marB="54864">
                    <a:solidFill>
                      <a:srgbClr val="1E293B"/>
                    </a:solidFill>
                  </a:tcPr>
                </a:tc>
                <a:tc>
                  <a:txBody>
                    <a:bodyPr/>
                    <a:lstStyle/>
                    <a:p>
                      <a:pPr algn="ctr">
                        <a:defRPr sz="850" b="0">
                          <a:solidFill>
                            <a:srgbClr val="CBD5E1"/>
                          </a:solidFill>
                          <a:latin typeface="Segoe UI"/>
                        </a:defRPr>
                      </a:pPr>
                      <a:r>
                        <a:t>₹3,800 ($45.60)</a:t>
                      </a:r>
                    </a:p>
                  </a:txBody>
                  <a:tcPr marL="73152" marR="73152" marT="54864" marB="54864">
                    <a:solidFill>
                      <a:srgbClr val="1E293B"/>
                    </a:solidFill>
                  </a:tcPr>
                </a:tc>
                <a:tc>
                  <a:txBody>
                    <a:bodyPr/>
                    <a:lstStyle/>
                    <a:p>
                      <a:pPr algn="ctr">
                        <a:defRPr sz="850" b="0">
                          <a:solidFill>
                            <a:srgbClr val="CBD5E1"/>
                          </a:solidFill>
                          <a:latin typeface="Segoe UI"/>
                        </a:defRPr>
                      </a:pPr>
                      <a:r>
                        <a:t>₹19,00,000 ($22,800)</a:t>
                      </a:r>
                    </a:p>
                  </a:txBody>
                  <a:tcPr marL="73152" marR="73152" marT="54864" marB="54864">
                    <a:solidFill>
                      <a:srgbClr val="1E293B"/>
                    </a:solidFill>
                  </a:tcPr>
                </a:tc>
                <a:tc>
                  <a:txBody>
                    <a:bodyPr/>
                    <a:lstStyle/>
                    <a:p>
                      <a:pPr algn="ctr">
                        <a:defRPr sz="850" b="0">
                          <a:solidFill>
                            <a:srgbClr val="CBD5E1"/>
                          </a:solidFill>
                          <a:latin typeface="Segoe UI"/>
                        </a:defRPr>
                      </a:pPr>
                      <a:r>
                        <a:t>₹120 ($1.45 gas)</a:t>
                      </a:r>
                    </a:p>
                  </a:txBody>
                  <a:tcPr marL="73152" marR="73152" marT="54864" marB="54864">
                    <a:solidFill>
                      <a:srgbClr val="1E293B"/>
                    </a:solidFill>
                  </a:tcPr>
                </a:tc>
                <a:tc>
                  <a:txBody>
                    <a:bodyPr/>
                    <a:lstStyle/>
                    <a:p>
                      <a:pPr algn="ctr">
                        <a:defRPr sz="850" b="0">
                          <a:solidFill>
                            <a:srgbClr val="CBD5E1"/>
                          </a:solidFill>
                          <a:latin typeface="Segoe UI"/>
                        </a:defRPr>
                      </a:pPr>
                      <a:r>
                        <a:t>15 to 30 Seconds</a:t>
                      </a:r>
                    </a:p>
                  </a:txBody>
                  <a:tcPr marL="73152" marR="73152" marT="54864" marB="54864">
                    <a:solidFill>
                      <a:srgbClr val="1E293B"/>
                    </a:solidFill>
                  </a:tcPr>
                </a:tc>
              </a:tr>
              <a:tr h="274320">
                <a:tc>
                  <a:txBody>
                    <a:bodyPr/>
                    <a:lstStyle/>
                    <a:p>
                      <a:pPr algn="l">
                        <a:defRPr sz="850" b="1">
                          <a:solidFill>
                            <a:srgbClr val="4ADE80"/>
                          </a:solidFill>
                          <a:latin typeface="Segoe UI"/>
                        </a:defRPr>
                      </a:pPr>
                      <a:r>
                        <a:t>EduCred on Polygon PoS (Ours)</a:t>
                      </a:r>
                    </a:p>
                  </a:txBody>
                  <a:tcPr marL="73152" marR="73152" marT="54864" marB="54864">
                    <a:solidFill>
                      <a:srgbClr val="064E3B"/>
                    </a:solidFill>
                  </a:tcPr>
                </a:tc>
                <a:tc>
                  <a:txBody>
                    <a:bodyPr/>
                    <a:lstStyle/>
                    <a:p>
                      <a:pPr algn="ctr">
                        <a:defRPr sz="850" b="1">
                          <a:solidFill>
                            <a:srgbClr val="4ADE80"/>
                          </a:solidFill>
                          <a:latin typeface="Segoe UI"/>
                        </a:defRPr>
                      </a:pPr>
                      <a:r>
                        <a:t>₹0.10 ($0.0012)</a:t>
                      </a:r>
                    </a:p>
                  </a:txBody>
                  <a:tcPr marL="73152" marR="73152" marT="54864" marB="54864">
                    <a:solidFill>
                      <a:srgbClr val="064E3B"/>
                    </a:solidFill>
                  </a:tcPr>
                </a:tc>
                <a:tc>
                  <a:txBody>
                    <a:bodyPr/>
                    <a:lstStyle/>
                    <a:p>
                      <a:pPr algn="ctr">
                        <a:defRPr sz="850" b="1">
                          <a:solidFill>
                            <a:srgbClr val="4ADE80"/>
                          </a:solidFill>
                          <a:latin typeface="Segoe UI"/>
                        </a:defRPr>
                      </a:pPr>
                      <a:r>
                        <a:t>₹35.00 ($0.45 total!)</a:t>
                      </a:r>
                    </a:p>
                  </a:txBody>
                  <a:tcPr marL="73152" marR="73152" marT="54864" marB="54864">
                    <a:solidFill>
                      <a:srgbClr val="064E3B"/>
                    </a:solidFill>
                  </a:tcPr>
                </a:tc>
                <a:tc>
                  <a:txBody>
                    <a:bodyPr/>
                    <a:lstStyle/>
                    <a:p>
                      <a:pPr algn="ctr">
                        <a:defRPr sz="850" b="1">
                          <a:solidFill>
                            <a:srgbClr val="4ADE80"/>
                          </a:solidFill>
                          <a:latin typeface="Segoe UI"/>
                        </a:defRPr>
                      </a:pPr>
                      <a:r>
                        <a:t>0 GAS (100% FREE)</a:t>
                      </a:r>
                    </a:p>
                  </a:txBody>
                  <a:tcPr marL="73152" marR="73152" marT="54864" marB="54864">
                    <a:solidFill>
                      <a:srgbClr val="064E3B"/>
                    </a:solidFill>
                  </a:tcPr>
                </a:tc>
                <a:tc>
                  <a:txBody>
                    <a:bodyPr/>
                    <a:lstStyle/>
                    <a:p>
                      <a:pPr algn="ctr">
                        <a:defRPr sz="850" b="1">
                          <a:solidFill>
                            <a:srgbClr val="4ADE80"/>
                          </a:solidFill>
                          <a:latin typeface="Segoe UI"/>
                        </a:defRPr>
                      </a:pPr>
                      <a:r>
                        <a:t>&lt; 500 ms (Instant O(1))</a:t>
                      </a:r>
                    </a:p>
                  </a:txBody>
                  <a:tcPr marL="73152" marR="73152" marT="54864" marB="54864">
                    <a:solidFill>
                      <a:srgbClr val="064E3B"/>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LEGAL &amp; STATUTORY DATA SOVEREIGNTY COMPLIANCE</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Aligned with India’s DPDP Act 2023</a:t>
            </a:r>
            <a:endParaRPr lang="en-US" sz="3200" dirty="0"/>
          </a:p>
        </p:txBody>
      </p:sp>
      <p:sp>
        <p:nvSpPr>
          <p:cNvPr id="4" name="Challenge card"/>
          <p:cNvSpPr/>
          <p:nvPr/>
        </p:nvSpPr>
        <p:spPr>
          <a:xfrm>
            <a:off x="548640" y="1463040"/>
            <a:ext cx="5486400" cy="1600200"/>
          </a:xfrm>
          <a:prstGeom prst="roundRect">
            <a:avLst>
              <a:gd name="adj" fmla="val 5714"/>
            </a:avLst>
          </a:prstGeom>
          <a:solidFill>
            <a:schemeClr val="accent3">
              <a:alpha val="10000"/>
            </a:schemeClr>
          </a:solidFill>
          <a:ln/>
        </p:spPr>
      </p:sp>
      <p:sp>
        <p:nvSpPr>
          <p:cNvPr id="5" name="Challenge label"/>
          <p:cNvSpPr txBox="1"/>
          <p:nvPr/>
        </p:nvSpPr>
        <p:spPr>
          <a:xfrm>
            <a:off x="822960" y="1627632"/>
            <a:ext cx="4937760" cy="256032"/>
          </a:xfrm>
          <a:prstGeom prst="rect">
            <a:avLst/>
          </a:prstGeom>
          <a:noFill/>
          <a:ln/>
        </p:spPr>
        <p:txBody>
          <a:bodyPr wrap="square" lIns="0" tIns="0" rIns="0" bIns="0" rtlCol="0" anchor="t"/>
          <a:lstStyle/>
          <a:p>
            <a:pPr algn="l" indent="0" marL="0">
              <a:buNone/>
            </a:pPr>
            <a:r>
              <a:rPr lang="en-US" sz="1200" b="1" spc="200" kern="0" dirty="0">
                <a:solidFill>
                  <a:schemeClr val="accent3"/>
                </a:solidFill>
              </a:rPr>
              <a:t>THE LEGAL CHALLENGE</a:t>
            </a:r>
            <a:endParaRPr lang="en-US" sz="1200" dirty="0"/>
          </a:p>
        </p:txBody>
      </p:sp>
      <p:sp>
        <p:nvSpPr>
          <p:cNvPr id="6" name="Challenge text"/>
          <p:cNvSpPr txBox="1"/>
          <p:nvPr/>
        </p:nvSpPr>
        <p:spPr>
          <a:xfrm>
            <a:off x="822960" y="1938528"/>
            <a:ext cx="4983480" cy="1005840"/>
          </a:xfrm>
          <a:prstGeom prst="rect">
            <a:avLst/>
          </a:prstGeom>
          <a:noFill/>
          <a:ln/>
        </p:spPr>
        <p:txBody>
          <a:bodyPr wrap="square" lIns="0" tIns="0" rIns="0" bIns="0" rtlCol="0" anchor="t"/>
          <a:lstStyle/>
          <a:p>
            <a:pPr algn="l" indent="0" marL="0">
              <a:buNone/>
            </a:pPr>
            <a:r>
              <a:rPr lang="en-US" sz="1400" dirty="0">
                <a:solidFill>
                  <a:schemeClr val="tx1"/>
                </a:solidFill>
              </a:rPr>
              <a:t>Sections 8(7) and 12 demand data minimization, purpose limitation and the Right to Erasure. Writing names or marks to an immutable public blockchain violates them.</a:t>
            </a:r>
            <a:endParaRPr lang="en-US" sz="1400" dirty="0"/>
          </a:p>
        </p:txBody>
      </p:sp>
      <p:sp>
        <p:nvSpPr>
          <p:cNvPr id="7" name="Compliance card"/>
          <p:cNvSpPr/>
          <p:nvPr/>
        </p:nvSpPr>
        <p:spPr>
          <a:xfrm>
            <a:off x="548640" y="3200400"/>
            <a:ext cx="5486400" cy="3063240"/>
          </a:xfrm>
          <a:prstGeom prst="roundRect">
            <a:avLst>
              <a:gd name="adj" fmla="val 2985"/>
            </a:avLst>
          </a:prstGeom>
          <a:solidFill>
            <a:schemeClr val="bg2"/>
          </a:solidFill>
          <a:ln/>
        </p:spPr>
      </p:sp>
      <p:sp>
        <p:nvSpPr>
          <p:cNvPr id="8" name="Compliance label"/>
          <p:cNvSpPr txBox="1"/>
          <p:nvPr/>
        </p:nvSpPr>
        <p:spPr>
          <a:xfrm>
            <a:off x="822960" y="3364992"/>
            <a:ext cx="4937760"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EDUCRED’S ARCHITECTURAL COMPLIANCE</a:t>
            </a:r>
            <a:endParaRPr lang="en-US" sz="1200" dirty="0"/>
          </a:p>
        </p:txBody>
      </p:sp>
      <p:sp>
        <p:nvSpPr>
          <p:cNvPr id="9" name="Compliance icon 1 circle"/>
          <p:cNvSpPr/>
          <p:nvPr/>
        </p:nvSpPr>
        <p:spPr>
          <a:xfrm>
            <a:off x="822960" y="3840480"/>
            <a:ext cx="457200" cy="457200"/>
          </a:xfrm>
          <a:prstGeom prst="ellipse">
            <a:avLst/>
          </a:prstGeom>
          <a:solidFill>
            <a:schemeClr val="accent1"/>
          </a:solidFill>
          <a:ln/>
        </p:spPr>
      </p:sp>
      <p:pic>
        <p:nvPicPr>
          <p:cNvPr id="10" name="Compliance icon 1" descr="Compliance icon 1">    </p:cNvPr>
          <p:cNvPicPr>
            <a:picLocks noChangeAspect="1"/>
          </p:cNvPicPr>
          <p:nvPr/>
        </p:nvPicPr>
        <p:blipFill>
          <a:blip r:embed="rId1"/>
          <a:stretch>
            <a:fillRect/>
          </a:stretch>
        </p:blipFill>
        <p:spPr>
          <a:xfrm>
            <a:off x="941832" y="3959352"/>
            <a:ext cx="219456" cy="219456"/>
          </a:xfrm>
          <a:prstGeom prst="rect">
            <a:avLst/>
          </a:prstGeom>
        </p:spPr>
      </p:pic>
      <p:sp>
        <p:nvSpPr>
          <p:cNvPr id="11" name="Compliance item 1"/>
          <p:cNvSpPr txBox="1"/>
          <p:nvPr/>
        </p:nvSpPr>
        <p:spPr>
          <a:xfrm>
            <a:off x="1463040" y="3794760"/>
            <a:ext cx="4343400" cy="731520"/>
          </a:xfrm>
          <a:prstGeom prst="rect">
            <a:avLst/>
          </a:prstGeom>
          <a:noFill/>
          <a:ln/>
        </p:spPr>
        <p:txBody>
          <a:bodyPr wrap="square" lIns="0" tIns="0" rIns="0" bIns="0" rtlCol="0" anchor="t"/>
          <a:lstStyle/>
          <a:p>
            <a:pPr algn="l" indent="0" marL="0">
              <a:buNone/>
            </a:pPr>
            <a:r>
              <a:rPr lang="en-US" sz="1400" b="1" dirty="0">
                <a:solidFill>
                  <a:schemeClr val="tx2"/>
                </a:solidFill>
              </a:rPr>
              <a:t>Zero cleartext PII on ledger</a:t>
            </a:r>
            <a:endParaRPr lang="en-US" sz="1400" dirty="0"/>
          </a:p>
          <a:p>
            <a:pPr algn="l" indent="0" marL="0">
              <a:buNone/>
            </a:pPr>
            <a:r>
              <a:rPr lang="en-US" sz="1250" dirty="0">
                <a:solidFill>
                  <a:schemeClr val="tx1"/>
                </a:solidFill>
              </a:rPr>
              <a:t>Names, grades, parent details and photos never touch Ethereum storage</a:t>
            </a:r>
            <a:endParaRPr lang="en-US" sz="1400" dirty="0"/>
          </a:p>
        </p:txBody>
      </p:sp>
      <p:sp>
        <p:nvSpPr>
          <p:cNvPr id="12" name="Compliance icon 2 circle"/>
          <p:cNvSpPr/>
          <p:nvPr/>
        </p:nvSpPr>
        <p:spPr>
          <a:xfrm>
            <a:off x="822960" y="4645152"/>
            <a:ext cx="457200" cy="457200"/>
          </a:xfrm>
          <a:prstGeom prst="ellipse">
            <a:avLst/>
          </a:prstGeom>
          <a:solidFill>
            <a:schemeClr val="accent1"/>
          </a:solidFill>
          <a:ln/>
        </p:spPr>
      </p:sp>
      <p:pic>
        <p:nvPicPr>
          <p:cNvPr id="13" name="Compliance icon 2" descr="Compliance icon 2">    </p:cNvPr>
          <p:cNvPicPr>
            <a:picLocks noChangeAspect="1"/>
          </p:cNvPicPr>
          <p:nvPr/>
        </p:nvPicPr>
        <p:blipFill>
          <a:blip r:embed="rId2"/>
          <a:stretch>
            <a:fillRect/>
          </a:stretch>
        </p:blipFill>
        <p:spPr>
          <a:xfrm>
            <a:off x="941832" y="4764024"/>
            <a:ext cx="219456" cy="219456"/>
          </a:xfrm>
          <a:prstGeom prst="rect">
            <a:avLst/>
          </a:prstGeom>
        </p:spPr>
      </p:pic>
      <p:sp>
        <p:nvSpPr>
          <p:cNvPr id="14" name="Compliance item 2"/>
          <p:cNvSpPr txBox="1"/>
          <p:nvPr/>
        </p:nvSpPr>
        <p:spPr>
          <a:xfrm>
            <a:off x="1463040" y="4599432"/>
            <a:ext cx="4343400" cy="731520"/>
          </a:xfrm>
          <a:prstGeom prst="rect">
            <a:avLst/>
          </a:prstGeom>
          <a:noFill/>
          <a:ln/>
        </p:spPr>
        <p:txBody>
          <a:bodyPr wrap="square" lIns="0" tIns="0" rIns="0" bIns="0" rtlCol="0" anchor="t"/>
          <a:lstStyle/>
          <a:p>
            <a:pPr algn="l" indent="0" marL="0">
              <a:buNone/>
            </a:pPr>
            <a:r>
              <a:rPr lang="en-US" sz="1400" b="1" dirty="0">
                <a:solidFill>
                  <a:schemeClr val="tx2"/>
                </a:solidFill>
              </a:rPr>
              <a:t>One-way pseudonymity</a:t>
            </a:r>
            <a:endParaRPr lang="en-US" sz="1400" dirty="0"/>
          </a:p>
          <a:p>
            <a:pPr algn="l" indent="0" marL="0">
              <a:buNone/>
            </a:pPr>
            <a:r>
              <a:rPr lang="en-US" sz="1250" dirty="0">
                <a:solidFill>
                  <a:schemeClr val="tx1"/>
                </a:solidFill>
              </a:rPr>
              <a:t>Only a 32-byte SHA-256 hash and SAP ID are stored; preimage resistance keeps it irreversible</a:t>
            </a:r>
            <a:endParaRPr lang="en-US" sz="1400" dirty="0"/>
          </a:p>
        </p:txBody>
      </p:sp>
      <p:sp>
        <p:nvSpPr>
          <p:cNvPr id="15" name="Compliance icon 3 circle"/>
          <p:cNvSpPr/>
          <p:nvPr/>
        </p:nvSpPr>
        <p:spPr>
          <a:xfrm>
            <a:off x="822960" y="5449824"/>
            <a:ext cx="457200" cy="457200"/>
          </a:xfrm>
          <a:prstGeom prst="ellipse">
            <a:avLst/>
          </a:prstGeom>
          <a:solidFill>
            <a:schemeClr val="accent1"/>
          </a:solidFill>
          <a:ln/>
        </p:spPr>
      </p:sp>
      <p:pic>
        <p:nvPicPr>
          <p:cNvPr id="16" name="Compliance icon 3" descr="Compliance icon 3">    </p:cNvPr>
          <p:cNvPicPr>
            <a:picLocks noChangeAspect="1"/>
          </p:cNvPicPr>
          <p:nvPr/>
        </p:nvPicPr>
        <p:blipFill>
          <a:blip r:embed="rId3"/>
          <a:stretch>
            <a:fillRect/>
          </a:stretch>
        </p:blipFill>
        <p:spPr>
          <a:xfrm>
            <a:off x="941832" y="5568696"/>
            <a:ext cx="219456" cy="219456"/>
          </a:xfrm>
          <a:prstGeom prst="rect">
            <a:avLst/>
          </a:prstGeom>
        </p:spPr>
      </p:pic>
      <p:sp>
        <p:nvSpPr>
          <p:cNvPr id="17" name="Compliance item 3"/>
          <p:cNvSpPr txBox="1"/>
          <p:nvPr/>
        </p:nvSpPr>
        <p:spPr>
          <a:xfrm>
            <a:off x="1463040" y="5404104"/>
            <a:ext cx="4343400" cy="731520"/>
          </a:xfrm>
          <a:prstGeom prst="rect">
            <a:avLst/>
          </a:prstGeom>
          <a:noFill/>
          <a:ln/>
        </p:spPr>
        <p:txBody>
          <a:bodyPr wrap="square" lIns="0" tIns="0" rIns="0" bIns="0" rtlCol="0" anchor="t"/>
          <a:lstStyle/>
          <a:p>
            <a:pPr algn="l" indent="0" marL="0">
              <a:buNone/>
            </a:pPr>
            <a:r>
              <a:rPr lang="en-US" sz="1400" b="1" dirty="0">
                <a:solidFill>
                  <a:schemeClr val="tx2"/>
                </a:solidFill>
              </a:rPr>
              <a:t>Right to Erasure honored</a:t>
            </a:r>
            <a:endParaRPr lang="en-US" sz="1400" dirty="0"/>
          </a:p>
          <a:p>
            <a:pPr algn="l" indent="0" marL="0">
              <a:buNone/>
            </a:pPr>
            <a:r>
              <a:rPr lang="en-US" sz="1250" dirty="0">
                <a:solidFill>
                  <a:schemeClr val="tx1"/>
                </a:solidFill>
              </a:rPr>
              <a:t>Unpin the off-chain PDF and the on-chain hash becomes anonymous and un-linkable</a:t>
            </a:r>
            <a:endParaRPr lang="en-US" sz="1400" dirty="0"/>
          </a:p>
        </p:txBody>
      </p:sp>
      <p:sp>
        <p:nvSpPr>
          <p:cNvPr id="18" name="Standards panel"/>
          <p:cNvSpPr/>
          <p:nvPr/>
        </p:nvSpPr>
        <p:spPr>
          <a:xfrm>
            <a:off x="6263640" y="1463040"/>
            <a:ext cx="5376672" cy="4800600"/>
          </a:xfrm>
          <a:prstGeom prst="roundRect">
            <a:avLst>
              <a:gd name="adj" fmla="val 1905"/>
            </a:avLst>
          </a:prstGeom>
          <a:solidFill>
            <a:schemeClr val="tx2"/>
          </a:solidFill>
          <a:ln/>
        </p:spPr>
      </p:sp>
      <p:sp>
        <p:nvSpPr>
          <p:cNvPr id="19" name="Standards label"/>
          <p:cNvSpPr txBox="1"/>
          <p:nvPr/>
        </p:nvSpPr>
        <p:spPr>
          <a:xfrm>
            <a:off x="6537960" y="1691640"/>
            <a:ext cx="4846320"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ENGINEERING STANDARDS &amp; GOVERNANCE</a:t>
            </a:r>
            <a:endParaRPr lang="en-US" sz="1200" dirty="0"/>
          </a:p>
        </p:txBody>
      </p:sp>
      <p:sp>
        <p:nvSpPr>
          <p:cNvPr id="20" name="Standard 1"/>
          <p:cNvSpPr txBox="1"/>
          <p:nvPr/>
        </p:nvSpPr>
        <p:spPr>
          <a:xfrm>
            <a:off x="6537960" y="2148840"/>
            <a:ext cx="4846320" cy="731520"/>
          </a:xfrm>
          <a:prstGeom prst="rect">
            <a:avLst/>
          </a:prstGeom>
          <a:noFill/>
          <a:ln/>
        </p:spPr>
        <p:txBody>
          <a:bodyPr wrap="square" lIns="0" tIns="0" rIns="0" bIns="0" rtlCol="0" anchor="t"/>
          <a:lstStyle/>
          <a:p>
            <a:pPr algn="l" indent="0" marL="0">
              <a:buNone/>
            </a:pPr>
            <a:r>
              <a:rPr lang="en-US" sz="1400" b="1" dirty="0">
                <a:solidFill>
                  <a:schemeClr val="bg1"/>
                </a:solidFill>
              </a:rPr>
              <a:t>NIST FIPS PUB 180-4</a:t>
            </a:r>
            <a:endParaRPr lang="en-US" sz="1400" dirty="0"/>
          </a:p>
          <a:p>
            <a:pPr algn="l" indent="0" marL="0">
              <a:buNone/>
            </a:pPr>
            <a:r>
              <a:rPr lang="en-US" sz="1300" dirty="0">
                <a:solidFill>
                  <a:schemeClr val="bg2"/>
                </a:solidFill>
              </a:rPr>
              <a:t>Standard SHA-256 with a 128-bit collision security margin (2^128 operations)</a:t>
            </a:r>
            <a:endParaRPr lang="en-US" sz="1400" dirty="0"/>
          </a:p>
        </p:txBody>
      </p:sp>
      <p:sp>
        <p:nvSpPr>
          <p:cNvPr id="21" name="Standard 2"/>
          <p:cNvSpPr txBox="1"/>
          <p:nvPr/>
        </p:nvSpPr>
        <p:spPr>
          <a:xfrm>
            <a:off x="6537960" y="2953512"/>
            <a:ext cx="4846320" cy="731520"/>
          </a:xfrm>
          <a:prstGeom prst="rect">
            <a:avLst/>
          </a:prstGeom>
          <a:noFill/>
          <a:ln/>
        </p:spPr>
        <p:txBody>
          <a:bodyPr wrap="square" lIns="0" tIns="0" rIns="0" bIns="0" rtlCol="0" anchor="t"/>
          <a:lstStyle/>
          <a:p>
            <a:pPr algn="l" indent="0" marL="0">
              <a:buNone/>
            </a:pPr>
            <a:r>
              <a:rPr lang="en-US" sz="1400" b="1" dirty="0">
                <a:solidFill>
                  <a:schemeClr val="bg1"/>
                </a:solidFill>
              </a:rPr>
              <a:t>IEEE 1471 / ISO 42010</a:t>
            </a:r>
            <a:endParaRPr lang="en-US" sz="1400" dirty="0"/>
          </a:p>
          <a:p>
            <a:pPr algn="l" indent="0" marL="0">
              <a:buNone/>
            </a:pPr>
            <a:r>
              <a:rPr lang="en-US" sz="1300" dirty="0">
                <a:solidFill>
                  <a:schemeClr val="bg2"/>
                </a:solidFill>
              </a:rPr>
              <a:t>Multi-view stakeholder modeling separating data boundaries from consensus</a:t>
            </a:r>
            <a:endParaRPr lang="en-US" sz="1400" dirty="0"/>
          </a:p>
        </p:txBody>
      </p:sp>
      <p:sp>
        <p:nvSpPr>
          <p:cNvPr id="22" name="Standard 3"/>
          <p:cNvSpPr txBox="1"/>
          <p:nvPr/>
        </p:nvSpPr>
        <p:spPr>
          <a:xfrm>
            <a:off x="6537960" y="3758184"/>
            <a:ext cx="4846320" cy="731520"/>
          </a:xfrm>
          <a:prstGeom prst="rect">
            <a:avLst/>
          </a:prstGeom>
          <a:noFill/>
          <a:ln/>
        </p:spPr>
        <p:txBody>
          <a:bodyPr wrap="square" lIns="0" tIns="0" rIns="0" bIns="0" rtlCol="0" anchor="t"/>
          <a:lstStyle/>
          <a:p>
            <a:pPr algn="l" indent="0" marL="0">
              <a:buNone/>
            </a:pPr>
            <a:r>
              <a:rPr lang="en-US" sz="1400" b="1" dirty="0">
                <a:solidFill>
                  <a:schemeClr val="bg1"/>
                </a:solidFill>
              </a:rPr>
              <a:t>IEEE 730-2014 SQA</a:t>
            </a:r>
            <a:endParaRPr lang="en-US" sz="1400" dirty="0"/>
          </a:p>
          <a:p>
            <a:pPr algn="l" indent="0" marL="0">
              <a:buNone/>
            </a:pPr>
            <a:r>
              <a:rPr lang="en-US" sz="1300" dirty="0">
                <a:solidFill>
                  <a:schemeClr val="bg2"/>
                </a:solidFill>
              </a:rPr>
              <a:t>Verified by the 29-case automated Chai harness</a:t>
            </a:r>
            <a:endParaRPr lang="en-US" sz="1400" dirty="0"/>
          </a:p>
        </p:txBody>
      </p:sp>
      <p:sp>
        <p:nvSpPr>
          <p:cNvPr id="23" name="Standard 4"/>
          <p:cNvSpPr txBox="1"/>
          <p:nvPr/>
        </p:nvSpPr>
        <p:spPr>
          <a:xfrm>
            <a:off x="6537960" y="4562856"/>
            <a:ext cx="4846320" cy="731520"/>
          </a:xfrm>
          <a:prstGeom prst="rect">
            <a:avLst/>
          </a:prstGeom>
          <a:noFill/>
          <a:ln/>
        </p:spPr>
        <p:txBody>
          <a:bodyPr wrap="square" lIns="0" tIns="0" rIns="0" bIns="0" rtlCol="0" anchor="t"/>
          <a:lstStyle/>
          <a:p>
            <a:pPr algn="l" indent="0" marL="0">
              <a:buNone/>
            </a:pPr>
            <a:r>
              <a:rPr lang="en-US" sz="1400" b="1" dirty="0">
                <a:solidFill>
                  <a:schemeClr val="bg1"/>
                </a:solidFill>
              </a:rPr>
              <a:t>UGC / NAD alignment</a:t>
            </a:r>
            <a:endParaRPr lang="en-US" sz="1400" dirty="0"/>
          </a:p>
          <a:p>
            <a:pPr algn="l" indent="0" marL="0">
              <a:buNone/>
            </a:pPr>
            <a:r>
              <a:rPr lang="en-US" sz="1300" dirty="0">
                <a:solidFill>
                  <a:schemeClr val="bg2"/>
                </a:solidFill>
              </a:rPr>
              <a:t>SAP IDs standardized for National Academic Depository interoperability</a:t>
            </a:r>
            <a:endParaRPr lang="en-US" sz="1400" dirty="0"/>
          </a:p>
        </p:txBody>
      </p:sp>
      <p:sp>
        <p:nvSpPr>
          <p:cNvPr id="24" name="Standard 5"/>
          <p:cNvSpPr txBox="1"/>
          <p:nvPr/>
        </p:nvSpPr>
        <p:spPr>
          <a:xfrm>
            <a:off x="6537960" y="5367528"/>
            <a:ext cx="4846320" cy="731520"/>
          </a:xfrm>
          <a:prstGeom prst="rect">
            <a:avLst/>
          </a:prstGeom>
          <a:noFill/>
          <a:ln/>
        </p:spPr>
        <p:txBody>
          <a:bodyPr wrap="square" lIns="0" tIns="0" rIns="0" bIns="0" rtlCol="0" anchor="t"/>
          <a:lstStyle/>
          <a:p>
            <a:pPr algn="l" indent="0" marL="0">
              <a:buNone/>
            </a:pPr>
            <a:r>
              <a:rPr lang="en-US" sz="1400" b="1" dirty="0">
                <a:solidFill>
                  <a:schemeClr val="bg1"/>
                </a:solidFill>
              </a:rPr>
              <a:t>UN SDG 4 and SDG 9</a:t>
            </a:r>
            <a:endParaRPr lang="en-US" sz="1400" dirty="0"/>
          </a:p>
          <a:p>
            <a:pPr algn="l" indent="0" marL="0">
              <a:buNone/>
            </a:pPr>
            <a:r>
              <a:rPr lang="en-US" sz="1300" dirty="0">
                <a:solidFill>
                  <a:schemeClr val="bg2"/>
                </a:solidFill>
              </a:rPr>
              <a:t>Quality Education; Industry &amp; Innovation with 99.99% lower energy on Proof-of-Stake</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graphicFrame>
        <p:nvGraphicFramePr>
          <p:cNvPr id="26" name="Table 25"/>
          <p:cNvGraphicFramePr>
            <a:graphicFrameLocks noGrp="1"/>
          </p:cNvGraphicFramePr>
          <p:nvPr/>
        </p:nvGraphicFramePr>
        <p:xfrm>
          <a:off x="6263640" y="1463040"/>
          <a:ext cx="5376672" cy="4800600"/>
        </p:xfrm>
        <a:graphic>
          <a:graphicData uri="http://schemas.openxmlformats.org/drawingml/2006/table">
            <a:tbl>
              <a:tblPr firstRow="1" bandRow="1">
                <a:tableStyleId>{5C22544A-7EE6-4342-B048-85BDC9FD1C3A}</a:tableStyleId>
              </a:tblPr>
              <a:tblGrid>
                <a:gridCol w="1371600"/>
                <a:gridCol w="1188720"/>
                <a:gridCol w="1993392"/>
                <a:gridCol w="822960"/>
              </a:tblGrid>
              <a:tr h="960120">
                <a:tc>
                  <a:txBody>
                    <a:bodyPr/>
                    <a:lstStyle/>
                    <a:p>
                      <a:pPr algn="l">
                        <a:defRPr sz="900" b="1">
                          <a:solidFill>
                            <a:srgbClr val="38BDF8"/>
                          </a:solidFill>
                          <a:latin typeface="Segoe UI"/>
                        </a:defRPr>
                      </a:pPr>
                      <a:r>
                        <a:t>Statutory Clause</a:t>
                      </a:r>
                    </a:p>
                  </a:txBody>
                  <a:tcPr marL="73152" marR="73152" marT="54864" marB="54864">
                    <a:solidFill>
                      <a:srgbClr val="0F172A"/>
                    </a:solidFill>
                  </a:tcPr>
                </a:tc>
                <a:tc>
                  <a:txBody>
                    <a:bodyPr/>
                    <a:lstStyle/>
                    <a:p>
                      <a:pPr algn="l">
                        <a:defRPr sz="900" b="1">
                          <a:solidFill>
                            <a:srgbClr val="38BDF8"/>
                          </a:solidFill>
                          <a:latin typeface="Segoe UI"/>
                        </a:defRPr>
                      </a:pPr>
                      <a:r>
                        <a:t>Legal Mandate</a:t>
                      </a:r>
                    </a:p>
                  </a:txBody>
                  <a:tcPr marL="73152" marR="73152" marT="54864" marB="54864">
                    <a:solidFill>
                      <a:srgbClr val="0F172A"/>
                    </a:solidFill>
                  </a:tcPr>
                </a:tc>
                <a:tc>
                  <a:txBody>
                    <a:bodyPr/>
                    <a:lstStyle/>
                    <a:p>
                      <a:pPr algn="l">
                        <a:defRPr sz="900" b="1">
                          <a:solidFill>
                            <a:srgbClr val="38BDF8"/>
                          </a:solidFill>
                          <a:latin typeface="Segoe UI"/>
                        </a:defRPr>
                      </a:pPr>
                      <a:r>
                        <a:t>EduCred Architecture Implementation</a:t>
                      </a:r>
                    </a:p>
                  </a:txBody>
                  <a:tcPr marL="73152" marR="73152" marT="54864" marB="54864">
                    <a:solidFill>
                      <a:srgbClr val="0F172A"/>
                    </a:solidFill>
                  </a:tcPr>
                </a:tc>
                <a:tc>
                  <a:txBody>
                    <a:bodyPr/>
                    <a:lstStyle/>
                    <a:p>
                      <a:pPr algn="ctr">
                        <a:defRPr sz="900" b="1">
                          <a:solidFill>
                            <a:srgbClr val="38BDF8"/>
                          </a:solidFill>
                          <a:latin typeface="Segoe UI"/>
                        </a:defRPr>
                      </a:pPr>
                      <a:r>
                        <a:t>Compliance</a:t>
                      </a:r>
                    </a:p>
                  </a:txBody>
                  <a:tcPr marL="73152" marR="73152" marT="54864" marB="54864">
                    <a:solidFill>
                      <a:srgbClr val="0F172A"/>
                    </a:solidFill>
                  </a:tcPr>
                </a:tc>
              </a:tr>
              <a:tr h="960120">
                <a:tc>
                  <a:txBody>
                    <a:bodyPr/>
                    <a:lstStyle/>
                    <a:p>
                      <a:pPr algn="l">
                        <a:defRPr sz="850" b="0">
                          <a:solidFill>
                            <a:srgbClr val="CBD5E1"/>
                          </a:solidFill>
                          <a:latin typeface="Segoe UI"/>
                        </a:defRPr>
                      </a:pPr>
                      <a:r>
                        <a:t>Section 8(7) DPDP 2023</a:t>
                      </a:r>
                    </a:p>
                  </a:txBody>
                  <a:tcPr marL="73152" marR="73152" marT="54864" marB="54864">
                    <a:solidFill>
                      <a:srgbClr val="1E293B"/>
                    </a:solidFill>
                  </a:tcPr>
                </a:tc>
                <a:tc>
                  <a:txBody>
                    <a:bodyPr/>
                    <a:lstStyle/>
                    <a:p>
                      <a:pPr algn="l">
                        <a:defRPr sz="850" b="0">
                          <a:solidFill>
                            <a:srgbClr val="CBD5E1"/>
                          </a:solidFill>
                          <a:latin typeface="Segoe UI"/>
                        </a:defRPr>
                      </a:pPr>
                      <a:r>
                        <a:t>Data Minimization</a:t>
                      </a:r>
                    </a:p>
                  </a:txBody>
                  <a:tcPr marL="73152" marR="73152" marT="54864" marB="54864">
                    <a:solidFill>
                      <a:srgbClr val="1E293B"/>
                    </a:solidFill>
                  </a:tcPr>
                </a:tc>
                <a:tc>
                  <a:txBody>
                    <a:bodyPr/>
                    <a:lstStyle/>
                    <a:p>
                      <a:pPr algn="l">
                        <a:defRPr sz="850" b="0">
                          <a:solidFill>
                            <a:srgbClr val="CBD5E1"/>
                          </a:solidFill>
                          <a:latin typeface="Segoe UI"/>
                        </a:defRPr>
                      </a:pPr>
                      <a:r>
                        <a:t>Zero cleartext student marks/names on-chain; only 32-byte hash</a:t>
                      </a:r>
                    </a:p>
                  </a:txBody>
                  <a:tcPr marL="73152" marR="73152" marT="54864" marB="54864">
                    <a:solidFill>
                      <a:srgbClr val="1E293B"/>
                    </a:solidFill>
                  </a:tcPr>
                </a:tc>
                <a:tc>
                  <a:txBody>
                    <a:bodyPr/>
                    <a:lstStyle/>
                    <a:p>
                      <a:pPr algn="ctr">
                        <a:defRPr sz="850" b="1">
                          <a:solidFill>
                            <a:srgbClr val="4ADE80"/>
                          </a:solidFill>
                          <a:latin typeface="Segoe UI"/>
                        </a:defRPr>
                      </a:pPr>
                      <a:r>
                        <a:t>100% PASS</a:t>
                      </a:r>
                    </a:p>
                  </a:txBody>
                  <a:tcPr marL="73152" marR="73152" marT="54864" marB="54864">
                    <a:solidFill>
                      <a:srgbClr val="1E293B"/>
                    </a:solidFill>
                  </a:tcPr>
                </a:tc>
              </a:tr>
              <a:tr h="960120">
                <a:tc>
                  <a:txBody>
                    <a:bodyPr/>
                    <a:lstStyle/>
                    <a:p>
                      <a:pPr algn="l">
                        <a:defRPr sz="850" b="0">
                          <a:solidFill>
                            <a:srgbClr val="CBD5E1"/>
                          </a:solidFill>
                          <a:latin typeface="Segoe UI"/>
                        </a:defRPr>
                      </a:pPr>
                      <a:r>
                        <a:t>Section 12 DPDP 2023</a:t>
                      </a:r>
                    </a:p>
                  </a:txBody>
                  <a:tcPr marL="73152" marR="73152" marT="54864" marB="54864">
                    <a:solidFill>
                      <a:srgbClr val="1E293B"/>
                    </a:solidFill>
                  </a:tcPr>
                </a:tc>
                <a:tc>
                  <a:txBody>
                    <a:bodyPr/>
                    <a:lstStyle/>
                    <a:p>
                      <a:pPr algn="l">
                        <a:defRPr sz="850" b="0">
                          <a:solidFill>
                            <a:srgbClr val="CBD5E1"/>
                          </a:solidFill>
                          <a:latin typeface="Segoe UI"/>
                        </a:defRPr>
                      </a:pPr>
                      <a:r>
                        <a:t>Right to Erasure</a:t>
                      </a:r>
                    </a:p>
                  </a:txBody>
                  <a:tcPr marL="73152" marR="73152" marT="54864" marB="54864">
                    <a:solidFill>
                      <a:srgbClr val="1E293B"/>
                    </a:solidFill>
                  </a:tcPr>
                </a:tc>
                <a:tc>
                  <a:txBody>
                    <a:bodyPr/>
                    <a:lstStyle/>
                    <a:p>
                      <a:pPr algn="l">
                        <a:defRPr sz="850" b="0">
                          <a:solidFill>
                            <a:srgbClr val="CBD5E1"/>
                          </a:solidFill>
                          <a:latin typeface="Segoe UI"/>
                        </a:defRPr>
                      </a:pPr>
                      <a:r>
                        <a:t>Unpin off-chain IPFS document; orphaned hash reveals 0 PII</a:t>
                      </a:r>
                    </a:p>
                  </a:txBody>
                  <a:tcPr marL="73152" marR="73152" marT="54864" marB="54864">
                    <a:solidFill>
                      <a:srgbClr val="1E293B"/>
                    </a:solidFill>
                  </a:tcPr>
                </a:tc>
                <a:tc>
                  <a:txBody>
                    <a:bodyPr/>
                    <a:lstStyle/>
                    <a:p>
                      <a:pPr algn="ctr">
                        <a:defRPr sz="850" b="1">
                          <a:solidFill>
                            <a:srgbClr val="4ADE80"/>
                          </a:solidFill>
                          <a:latin typeface="Segoe UI"/>
                        </a:defRPr>
                      </a:pPr>
                      <a:r>
                        <a:t>100% PASS</a:t>
                      </a:r>
                    </a:p>
                  </a:txBody>
                  <a:tcPr marL="73152" marR="73152" marT="54864" marB="54864">
                    <a:solidFill>
                      <a:srgbClr val="1E293B"/>
                    </a:solidFill>
                  </a:tcPr>
                </a:tc>
              </a:tr>
              <a:tr h="960120">
                <a:tc>
                  <a:txBody>
                    <a:bodyPr/>
                    <a:lstStyle/>
                    <a:p>
                      <a:pPr algn="l">
                        <a:defRPr sz="850" b="0">
                          <a:solidFill>
                            <a:srgbClr val="CBD5E1"/>
                          </a:solidFill>
                          <a:latin typeface="Segoe UI"/>
                        </a:defRPr>
                      </a:pPr>
                      <a:r>
                        <a:t>Section 6 DPDP 2023</a:t>
                      </a:r>
                    </a:p>
                  </a:txBody>
                  <a:tcPr marL="73152" marR="73152" marT="54864" marB="54864">
                    <a:solidFill>
                      <a:srgbClr val="1E293B"/>
                    </a:solidFill>
                  </a:tcPr>
                </a:tc>
                <a:tc>
                  <a:txBody>
                    <a:bodyPr/>
                    <a:lstStyle/>
                    <a:p>
                      <a:pPr algn="l">
                        <a:defRPr sz="850" b="0">
                          <a:solidFill>
                            <a:srgbClr val="CBD5E1"/>
                          </a:solidFill>
                          <a:latin typeface="Segoe UI"/>
                        </a:defRPr>
                      </a:pPr>
                      <a:r>
                        <a:t>Purpose Limitation</a:t>
                      </a:r>
                    </a:p>
                  </a:txBody>
                  <a:tcPr marL="73152" marR="73152" marT="54864" marB="54864">
                    <a:solidFill>
                      <a:srgbClr val="1E293B"/>
                    </a:solidFill>
                  </a:tcPr>
                </a:tc>
                <a:tc>
                  <a:txBody>
                    <a:bodyPr/>
                    <a:lstStyle/>
                    <a:p>
                      <a:pPr algn="l">
                        <a:defRPr sz="850" b="0">
                          <a:solidFill>
                            <a:srgbClr val="CBD5E1"/>
                          </a:solidFill>
                          <a:latin typeface="Segoe UI"/>
                        </a:defRPr>
                      </a:pPr>
                      <a:r>
                        <a:t>Cryptographic fingerprinting verifies integrity without exposure</a:t>
                      </a:r>
                    </a:p>
                  </a:txBody>
                  <a:tcPr marL="73152" marR="73152" marT="54864" marB="54864">
                    <a:solidFill>
                      <a:srgbClr val="1E293B"/>
                    </a:solidFill>
                  </a:tcPr>
                </a:tc>
                <a:tc>
                  <a:txBody>
                    <a:bodyPr/>
                    <a:lstStyle/>
                    <a:p>
                      <a:pPr algn="ctr">
                        <a:defRPr sz="850" b="1">
                          <a:solidFill>
                            <a:srgbClr val="4ADE80"/>
                          </a:solidFill>
                          <a:latin typeface="Segoe UI"/>
                        </a:defRPr>
                      </a:pPr>
                      <a:r>
                        <a:t>100% PASS</a:t>
                      </a:r>
                    </a:p>
                  </a:txBody>
                  <a:tcPr marL="73152" marR="73152" marT="54864" marB="54864">
                    <a:solidFill>
                      <a:srgbClr val="1E293B"/>
                    </a:solidFill>
                  </a:tcPr>
                </a:tc>
              </a:tr>
              <a:tr h="960120">
                <a:tc>
                  <a:txBody>
                    <a:bodyPr/>
                    <a:lstStyle/>
                    <a:p>
                      <a:pPr algn="l">
                        <a:defRPr sz="850" b="0">
                          <a:solidFill>
                            <a:srgbClr val="CBD5E1"/>
                          </a:solidFill>
                          <a:latin typeface="Segoe UI"/>
                        </a:defRPr>
                      </a:pPr>
                      <a:r>
                        <a:t>Article 17 EU GDPR</a:t>
                      </a:r>
                    </a:p>
                  </a:txBody>
                  <a:tcPr marL="73152" marR="73152" marT="54864" marB="54864">
                    <a:solidFill>
                      <a:srgbClr val="1E293B"/>
                    </a:solidFill>
                  </a:tcPr>
                </a:tc>
                <a:tc>
                  <a:txBody>
                    <a:bodyPr/>
                    <a:lstStyle/>
                    <a:p>
                      <a:pPr algn="l">
                        <a:defRPr sz="850" b="0">
                          <a:solidFill>
                            <a:srgbClr val="CBD5E1"/>
                          </a:solidFill>
                          <a:latin typeface="Segoe UI"/>
                        </a:defRPr>
                      </a:pPr>
                      <a:r>
                        <a:t>Right to be Forgotten</a:t>
                      </a:r>
                    </a:p>
                  </a:txBody>
                  <a:tcPr marL="73152" marR="73152" marT="54864" marB="54864">
                    <a:solidFill>
                      <a:srgbClr val="1E293B"/>
                    </a:solidFill>
                  </a:tcPr>
                </a:tc>
                <a:tc>
                  <a:txBody>
                    <a:bodyPr/>
                    <a:lstStyle/>
                    <a:p>
                      <a:pPr algn="l">
                        <a:defRPr sz="850" b="0">
                          <a:solidFill>
                            <a:srgbClr val="CBD5E1"/>
                          </a:solidFill>
                          <a:latin typeface="Segoe UI"/>
                        </a:defRPr>
                      </a:pPr>
                      <a:r>
                        <a:t>Dual-layer storage separates state validation from file storage</a:t>
                      </a:r>
                    </a:p>
                  </a:txBody>
                  <a:tcPr marL="73152" marR="73152" marT="54864" marB="54864">
                    <a:solidFill>
                      <a:srgbClr val="1E293B"/>
                    </a:solidFill>
                  </a:tcPr>
                </a:tc>
                <a:tc>
                  <a:txBody>
                    <a:bodyPr/>
                    <a:lstStyle/>
                    <a:p>
                      <a:pPr algn="ctr">
                        <a:defRPr sz="850" b="1">
                          <a:solidFill>
                            <a:srgbClr val="4ADE80"/>
                          </a:solidFill>
                          <a:latin typeface="Segoe UI"/>
                        </a:defRPr>
                      </a:pPr>
                      <a:r>
                        <a:t>100% PASS</a:t>
                      </a:r>
                    </a:p>
                  </a:txBody>
                  <a:tcPr marL="73152" marR="73152" marT="54864" marB="54864">
                    <a:solidFill>
                      <a:srgbClr val="1E293B"/>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5  |  TEAMWORK &amp; INDIVIDUAL EVIDENCE REGISTER</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Team Roles &amp; Contribution Matrix</a:t>
            </a:r>
            <a:endParaRPr lang="en-US" sz="3200" dirty="0"/>
          </a:p>
        </p:txBody>
      </p:sp>
      <p:sp>
        <p:nvSpPr>
          <p:cNvPr id="4" name="Team card 1"/>
          <p:cNvSpPr/>
          <p:nvPr/>
        </p:nvSpPr>
        <p:spPr>
          <a:xfrm>
            <a:off x="548640" y="1463040"/>
            <a:ext cx="3520440" cy="4800600"/>
          </a:xfrm>
          <a:prstGeom prst="roundRect">
            <a:avLst>
              <a:gd name="adj" fmla="val 2597"/>
            </a:avLst>
          </a:prstGeom>
          <a:solidFill>
            <a:schemeClr val="bg2"/>
          </a:solidFill>
          <a:ln/>
        </p:spPr>
      </p:sp>
      <p:sp>
        <p:nvSpPr>
          <p:cNvPr id="5" name="Avatar HG"/>
          <p:cNvSpPr/>
          <p:nvPr/>
        </p:nvSpPr>
        <p:spPr>
          <a:xfrm>
            <a:off x="822960" y="173736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HG</a:t>
            </a:r>
            <a:endParaRPr lang="en-US" sz="1800" dirty="0"/>
          </a:p>
        </p:txBody>
      </p:sp>
      <p:sp>
        <p:nvSpPr>
          <p:cNvPr id="6" name="Member name 1"/>
          <p:cNvSpPr txBox="1"/>
          <p:nvPr/>
        </p:nvSpPr>
        <p:spPr>
          <a:xfrm>
            <a:off x="1645920" y="1755648"/>
            <a:ext cx="2194560" cy="329184"/>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Himanshu Garg</a:t>
            </a:r>
            <a:endParaRPr lang="en-US" sz="1800" dirty="0"/>
          </a:p>
        </p:txBody>
      </p:sp>
      <p:sp>
        <p:nvSpPr>
          <p:cNvPr id="7" name="Member id 1"/>
          <p:cNvSpPr txBox="1"/>
          <p:nvPr/>
        </p:nvSpPr>
        <p:spPr>
          <a:xfrm>
            <a:off x="1645920" y="2103120"/>
            <a:ext cx="2286000" cy="256032"/>
          </a:xfrm>
          <a:prstGeom prst="rect">
            <a:avLst/>
          </a:prstGeom>
          <a:noFill/>
          <a:ln/>
        </p:spPr>
        <p:txBody>
          <a:bodyPr wrap="square" lIns="0" tIns="0" rIns="0" bIns="0" rtlCol="0" anchor="t"/>
          <a:lstStyle/>
          <a:p>
            <a:pPr algn="l" indent="0" marL="0">
              <a:buNone/>
            </a:pPr>
            <a:r>
              <a:rPr lang="en-US" sz="1200" dirty="0">
                <a:solidFill>
                  <a:schemeClr val="accent6"/>
                </a:solidFill>
              </a:rPr>
              <a:t>E250  |  SAP 70552400057</a:t>
            </a:r>
            <a:endParaRPr lang="en-US" sz="1200" dirty="0"/>
          </a:p>
        </p:txBody>
      </p:sp>
      <p:sp>
        <p:nvSpPr>
          <p:cNvPr id="8" name="Member role 1"/>
          <p:cNvSpPr txBox="1"/>
          <p:nvPr/>
        </p:nvSpPr>
        <p:spPr>
          <a:xfrm>
            <a:off x="822960" y="2560320"/>
            <a:ext cx="2971800" cy="548640"/>
          </a:xfrm>
          <a:prstGeom prst="rect">
            <a:avLst/>
          </a:prstGeom>
          <a:noFill/>
          <a:ln/>
        </p:spPr>
        <p:txBody>
          <a:bodyPr wrap="square" lIns="0" tIns="0" rIns="0" bIns="0" rtlCol="0" anchor="t"/>
          <a:lstStyle/>
          <a:p>
            <a:pPr algn="l" indent="0" marL="0">
              <a:buNone/>
            </a:pPr>
            <a:r>
              <a:rPr lang="en-US" sz="1400" b="1" dirty="0">
                <a:solidFill>
                  <a:schemeClr val="accent1"/>
                </a:solidFill>
              </a:rPr>
              <a:t>Lead System Architect &amp; Smart Contract Lead</a:t>
            </a:r>
            <a:endParaRPr lang="en-US" sz="1400" dirty="0"/>
          </a:p>
        </p:txBody>
      </p:sp>
      <p:sp>
        <p:nvSpPr>
          <p:cNvPr id="9" name="Member work 1"/>
          <p:cNvSpPr txBox="1"/>
          <p:nvPr/>
        </p:nvSpPr>
        <p:spPr>
          <a:xfrm>
            <a:off x="822960" y="3200400"/>
            <a:ext cx="2971800" cy="137160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chemeClr val="tx1"/>
                </a:solidFill>
              </a:rPr>
              <a:t>CredentialRegistry.sol (Solidity 0.8.20 + OpenZeppelin v5)</a:t>
            </a:r>
            <a:endParaRPr lang="en-US" sz="1300" dirty="0"/>
          </a:p>
          <a:p>
            <a:pPr algn="l" marL="342900" indent="-342900">
              <a:spcAft>
                <a:spcPts val="600"/>
              </a:spcAft>
              <a:buSzPct val="100000"/>
              <a:buChar char="•"/>
            </a:pPr>
            <a:r>
              <a:rPr lang="en-US" sz="1300" dirty="0">
                <a:solidFill>
                  <a:schemeClr val="tx1"/>
                </a:solidFill>
              </a:rPr>
              <a:t>Web Crypto SHA-256 pipeline, avalanche experiment, gas benchmarking</a:t>
            </a:r>
            <a:endParaRPr lang="en-US" sz="1300" dirty="0"/>
          </a:p>
        </p:txBody>
      </p:sp>
      <p:sp>
        <p:nvSpPr>
          <p:cNvPr id="10" name="Evidence EV-01"/>
          <p:cNvSpPr/>
          <p:nvPr/>
        </p:nvSpPr>
        <p:spPr>
          <a:xfrm>
            <a:off x="822960"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EV-01</a:t>
            </a:r>
            <a:endParaRPr lang="en-US" sz="1100" dirty="0"/>
          </a:p>
        </p:txBody>
      </p:sp>
      <p:sp>
        <p:nvSpPr>
          <p:cNvPr id="11" name="Evidence EV-06"/>
          <p:cNvSpPr/>
          <p:nvPr/>
        </p:nvSpPr>
        <p:spPr>
          <a:xfrm>
            <a:off x="1600200"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EV-06</a:t>
            </a:r>
            <a:endParaRPr lang="en-US" sz="1100" dirty="0"/>
          </a:p>
        </p:txBody>
      </p:sp>
      <p:sp>
        <p:nvSpPr>
          <p:cNvPr id="12" name="Evidence EV-07"/>
          <p:cNvSpPr/>
          <p:nvPr/>
        </p:nvSpPr>
        <p:spPr>
          <a:xfrm>
            <a:off x="2377440"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EV-07</a:t>
            </a:r>
            <a:endParaRPr lang="en-US" sz="1100" dirty="0"/>
          </a:p>
        </p:txBody>
      </p:sp>
      <p:sp>
        <p:nvSpPr>
          <p:cNvPr id="13" name="Reflection box"/>
          <p:cNvSpPr/>
          <p:nvPr/>
        </p:nvSpPr>
        <p:spPr>
          <a:xfrm>
            <a:off x="731520" y="5120640"/>
            <a:ext cx="3154680" cy="960120"/>
          </a:xfrm>
          <a:prstGeom prst="roundRect">
            <a:avLst>
              <a:gd name="adj" fmla="val 9524"/>
            </a:avLst>
          </a:prstGeom>
          <a:solidFill>
            <a:schemeClr val="bg1"/>
          </a:solidFill>
          <a:ln/>
        </p:spPr>
      </p:sp>
      <p:sp>
        <p:nvSpPr>
          <p:cNvPr id="14" name="Reflection 1"/>
          <p:cNvSpPr txBox="1"/>
          <p:nvPr/>
        </p:nvSpPr>
        <p:spPr>
          <a:xfrm>
            <a:off x="868680" y="5166360"/>
            <a:ext cx="2880360" cy="868680"/>
          </a:xfrm>
          <a:prstGeom prst="rect">
            <a:avLst/>
          </a:prstGeom>
          <a:noFill/>
          <a:ln/>
        </p:spPr>
        <p:txBody>
          <a:bodyPr wrap="square" lIns="0" tIns="0" rIns="0" bIns="0" rtlCol="0" anchor="ctr"/>
          <a:lstStyle/>
          <a:p>
            <a:pPr algn="l" indent="0" marL="0">
              <a:buNone/>
            </a:pPr>
            <a:r>
              <a:rPr lang="en-US" sz="1200" i="1" dirty="0">
                <a:solidFill>
                  <a:schemeClr val="tx1"/>
                </a:solidFill>
              </a:rPr>
              <a:t>Decoupling hash from content achieved O(1) free verification while eliminating NFT transferability bugs.</a:t>
            </a:r>
            <a:endParaRPr lang="en-US" sz="1200" dirty="0"/>
          </a:p>
        </p:txBody>
      </p:sp>
      <p:sp>
        <p:nvSpPr>
          <p:cNvPr id="15" name="Team card 2"/>
          <p:cNvSpPr/>
          <p:nvPr/>
        </p:nvSpPr>
        <p:spPr>
          <a:xfrm>
            <a:off x="4334256" y="1463040"/>
            <a:ext cx="3520440" cy="4800600"/>
          </a:xfrm>
          <a:prstGeom prst="roundRect">
            <a:avLst>
              <a:gd name="adj" fmla="val 2597"/>
            </a:avLst>
          </a:prstGeom>
          <a:solidFill>
            <a:schemeClr val="bg2"/>
          </a:solidFill>
          <a:ln/>
        </p:spPr>
      </p:sp>
      <p:sp>
        <p:nvSpPr>
          <p:cNvPr id="16" name="Avatar MP"/>
          <p:cNvSpPr/>
          <p:nvPr/>
        </p:nvSpPr>
        <p:spPr>
          <a:xfrm>
            <a:off x="4608576" y="173736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MP</a:t>
            </a:r>
            <a:endParaRPr lang="en-US" sz="1800" dirty="0"/>
          </a:p>
        </p:txBody>
      </p:sp>
      <p:sp>
        <p:nvSpPr>
          <p:cNvPr id="17" name="Member name 2"/>
          <p:cNvSpPr txBox="1"/>
          <p:nvPr/>
        </p:nvSpPr>
        <p:spPr>
          <a:xfrm>
            <a:off x="5431536" y="1755648"/>
            <a:ext cx="2194560" cy="329184"/>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Manthan Patil</a:t>
            </a:r>
            <a:endParaRPr lang="en-US" sz="1800" dirty="0"/>
          </a:p>
        </p:txBody>
      </p:sp>
      <p:sp>
        <p:nvSpPr>
          <p:cNvPr id="18" name="Member id 2"/>
          <p:cNvSpPr txBox="1"/>
          <p:nvPr/>
        </p:nvSpPr>
        <p:spPr>
          <a:xfrm>
            <a:off x="5431536" y="2103120"/>
            <a:ext cx="2286000" cy="256032"/>
          </a:xfrm>
          <a:prstGeom prst="rect">
            <a:avLst/>
          </a:prstGeom>
          <a:noFill/>
          <a:ln/>
        </p:spPr>
        <p:txBody>
          <a:bodyPr wrap="square" lIns="0" tIns="0" rIns="0" bIns="0" rtlCol="0" anchor="t"/>
          <a:lstStyle/>
          <a:p>
            <a:pPr algn="l" indent="0" marL="0">
              <a:buNone/>
            </a:pPr>
            <a:r>
              <a:rPr lang="en-US" sz="1200" dirty="0">
                <a:solidFill>
                  <a:schemeClr val="accent6"/>
                </a:solidFill>
              </a:rPr>
              <a:t>E323  |  SAP 70552400133</a:t>
            </a:r>
            <a:endParaRPr lang="en-US" sz="1200" dirty="0"/>
          </a:p>
        </p:txBody>
      </p:sp>
      <p:sp>
        <p:nvSpPr>
          <p:cNvPr id="19" name="Member role 2"/>
          <p:cNvSpPr txBox="1"/>
          <p:nvPr/>
        </p:nvSpPr>
        <p:spPr>
          <a:xfrm>
            <a:off x="4608576" y="2560320"/>
            <a:ext cx="2971800" cy="548640"/>
          </a:xfrm>
          <a:prstGeom prst="rect">
            <a:avLst/>
          </a:prstGeom>
          <a:noFill/>
          <a:ln/>
        </p:spPr>
        <p:txBody>
          <a:bodyPr wrap="square" lIns="0" tIns="0" rIns="0" bIns="0" rtlCol="0" anchor="t"/>
          <a:lstStyle/>
          <a:p>
            <a:pPr algn="l" indent="0" marL="0">
              <a:buNone/>
            </a:pPr>
            <a:r>
              <a:rPr lang="en-US" sz="1400" b="1" dirty="0">
                <a:solidFill>
                  <a:schemeClr val="accent1"/>
                </a:solidFill>
              </a:rPr>
              <a:t>Frontend Web3 Engineer &amp; UX Lead</a:t>
            </a:r>
            <a:endParaRPr lang="en-US" sz="1400" dirty="0"/>
          </a:p>
        </p:txBody>
      </p:sp>
      <p:sp>
        <p:nvSpPr>
          <p:cNvPr id="20" name="Member work 2"/>
          <p:cNvSpPr txBox="1"/>
          <p:nvPr/>
        </p:nvSpPr>
        <p:spPr>
          <a:xfrm>
            <a:off x="4608576" y="3200400"/>
            <a:ext cx="2971800" cy="137160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chemeClr val="tx1"/>
                </a:solidFill>
              </a:rPr>
              <a:t>React 18 + Vite dashboard (App.jsx) with Tailwind CSS</a:t>
            </a:r>
            <a:endParaRPr lang="en-US" sz="1300" dirty="0"/>
          </a:p>
          <a:p>
            <a:pPr algn="l" marL="342900" indent="-342900">
              <a:spcAft>
                <a:spcPts val="600"/>
              </a:spcAft>
              <a:buSzPct val="100000"/>
              <a:buChar char="•"/>
            </a:pPr>
            <a:r>
              <a:rPr lang="en-US" sz="1300" dirty="0">
                <a:solidFill>
                  <a:schemeClr val="tx1"/>
                </a:solidFill>
              </a:rPr>
              <a:t>Canvas QR generator, ErrorBoundary, Ethers.js v6 wallet connectivity</a:t>
            </a:r>
            <a:endParaRPr lang="en-US" sz="1300" dirty="0"/>
          </a:p>
        </p:txBody>
      </p:sp>
      <p:sp>
        <p:nvSpPr>
          <p:cNvPr id="21" name="Evidence EV-03"/>
          <p:cNvSpPr/>
          <p:nvPr/>
        </p:nvSpPr>
        <p:spPr>
          <a:xfrm>
            <a:off x="4608576"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EV-03</a:t>
            </a:r>
            <a:endParaRPr lang="en-US" sz="1100" dirty="0"/>
          </a:p>
        </p:txBody>
      </p:sp>
      <p:sp>
        <p:nvSpPr>
          <p:cNvPr id="22" name="Evidence EV-05"/>
          <p:cNvSpPr/>
          <p:nvPr/>
        </p:nvSpPr>
        <p:spPr>
          <a:xfrm>
            <a:off x="5385816"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EV-05</a:t>
            </a:r>
            <a:endParaRPr lang="en-US" sz="1100" dirty="0"/>
          </a:p>
        </p:txBody>
      </p:sp>
      <p:sp>
        <p:nvSpPr>
          <p:cNvPr id="23" name="Evidence EV-09"/>
          <p:cNvSpPr/>
          <p:nvPr/>
        </p:nvSpPr>
        <p:spPr>
          <a:xfrm>
            <a:off x="6163056"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EV-09</a:t>
            </a:r>
            <a:endParaRPr lang="en-US" sz="1100" dirty="0"/>
          </a:p>
        </p:txBody>
      </p:sp>
      <p:sp>
        <p:nvSpPr>
          <p:cNvPr id="24" name="Reflection box"/>
          <p:cNvSpPr/>
          <p:nvPr/>
        </p:nvSpPr>
        <p:spPr>
          <a:xfrm>
            <a:off x="4517136" y="5120640"/>
            <a:ext cx="3154680" cy="960120"/>
          </a:xfrm>
          <a:prstGeom prst="roundRect">
            <a:avLst>
              <a:gd name="adj" fmla="val 9524"/>
            </a:avLst>
          </a:prstGeom>
          <a:solidFill>
            <a:schemeClr val="bg1"/>
          </a:solidFill>
          <a:ln/>
        </p:spPr>
      </p:sp>
      <p:sp>
        <p:nvSpPr>
          <p:cNvPr id="25" name="Reflection 2"/>
          <p:cNvSpPr txBox="1"/>
          <p:nvPr/>
        </p:nvSpPr>
        <p:spPr>
          <a:xfrm>
            <a:off x="4654296" y="5166360"/>
            <a:ext cx="2880360" cy="868680"/>
          </a:xfrm>
          <a:prstGeom prst="rect">
            <a:avLst/>
          </a:prstGeom>
          <a:noFill/>
          <a:ln/>
        </p:spPr>
        <p:txBody>
          <a:bodyPr wrap="square" lIns="0" tIns="0" rIns="0" bIns="0" rtlCol="0" anchor="ctr"/>
          <a:lstStyle/>
          <a:p>
            <a:pPr algn="l" indent="0" marL="0">
              <a:buNone/>
            </a:pPr>
            <a:r>
              <a:rPr lang="en-US" sz="1200" i="1" dirty="0">
                <a:solidFill>
                  <a:schemeClr val="tx1"/>
                </a:solidFill>
              </a:rPr>
              <a:t>Streamlined Web3 UX so employers can verify credentials without crypto wallets or browser extensions.</a:t>
            </a:r>
            <a:endParaRPr lang="en-US" sz="1200" dirty="0"/>
          </a:p>
        </p:txBody>
      </p:sp>
      <p:sp>
        <p:nvSpPr>
          <p:cNvPr id="26" name="Team card 3"/>
          <p:cNvSpPr/>
          <p:nvPr/>
        </p:nvSpPr>
        <p:spPr>
          <a:xfrm>
            <a:off x="8119872" y="1463040"/>
            <a:ext cx="3520440" cy="4800600"/>
          </a:xfrm>
          <a:prstGeom prst="roundRect">
            <a:avLst>
              <a:gd name="adj" fmla="val 2597"/>
            </a:avLst>
          </a:prstGeom>
          <a:solidFill>
            <a:schemeClr val="bg2"/>
          </a:solidFill>
          <a:ln/>
        </p:spPr>
      </p:sp>
      <p:sp>
        <p:nvSpPr>
          <p:cNvPr id="27" name="Avatar VM"/>
          <p:cNvSpPr/>
          <p:nvPr/>
        </p:nvSpPr>
        <p:spPr>
          <a:xfrm>
            <a:off x="8394192" y="173736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VM</a:t>
            </a:r>
            <a:endParaRPr lang="en-US" sz="1800" dirty="0"/>
          </a:p>
        </p:txBody>
      </p:sp>
      <p:sp>
        <p:nvSpPr>
          <p:cNvPr id="28" name="Member name 3"/>
          <p:cNvSpPr txBox="1"/>
          <p:nvPr/>
        </p:nvSpPr>
        <p:spPr>
          <a:xfrm>
            <a:off x="9217152" y="1755648"/>
            <a:ext cx="2194560" cy="329184"/>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Vaishnavi Mali</a:t>
            </a:r>
            <a:endParaRPr lang="en-US" sz="1800" dirty="0"/>
          </a:p>
        </p:txBody>
      </p:sp>
      <p:sp>
        <p:nvSpPr>
          <p:cNvPr id="29" name="Member id 3"/>
          <p:cNvSpPr txBox="1"/>
          <p:nvPr/>
        </p:nvSpPr>
        <p:spPr>
          <a:xfrm>
            <a:off x="9217152" y="2103120"/>
            <a:ext cx="2286000" cy="256032"/>
          </a:xfrm>
          <a:prstGeom prst="rect">
            <a:avLst/>
          </a:prstGeom>
          <a:noFill/>
          <a:ln/>
        </p:spPr>
        <p:txBody>
          <a:bodyPr wrap="square" lIns="0" tIns="0" rIns="0" bIns="0" rtlCol="0" anchor="t"/>
          <a:lstStyle/>
          <a:p>
            <a:pPr algn="l" indent="0" marL="0">
              <a:buNone/>
            </a:pPr>
            <a:r>
              <a:rPr lang="en-US" sz="1200" dirty="0">
                <a:solidFill>
                  <a:schemeClr val="accent6"/>
                </a:solidFill>
              </a:rPr>
              <a:t>B348  |  SAP 70022400767</a:t>
            </a:r>
            <a:endParaRPr lang="en-US" sz="1200" dirty="0"/>
          </a:p>
        </p:txBody>
      </p:sp>
      <p:sp>
        <p:nvSpPr>
          <p:cNvPr id="30" name="Member role 3"/>
          <p:cNvSpPr txBox="1"/>
          <p:nvPr/>
        </p:nvSpPr>
        <p:spPr>
          <a:xfrm>
            <a:off x="8394192" y="2560320"/>
            <a:ext cx="2971800" cy="548640"/>
          </a:xfrm>
          <a:prstGeom prst="rect">
            <a:avLst/>
          </a:prstGeom>
          <a:noFill/>
          <a:ln/>
        </p:spPr>
        <p:txBody>
          <a:bodyPr wrap="square" lIns="0" tIns="0" rIns="0" bIns="0" rtlCol="0" anchor="t"/>
          <a:lstStyle/>
          <a:p>
            <a:pPr algn="l" indent="0" marL="0">
              <a:buNone/>
            </a:pPr>
            <a:r>
              <a:rPr lang="en-US" sz="1400" b="1" dirty="0">
                <a:solidFill>
                  <a:schemeClr val="accent1"/>
                </a:solidFill>
              </a:rPr>
              <a:t>QA, Test Automation &amp; Regulatory Compliance Lead</a:t>
            </a:r>
            <a:endParaRPr lang="en-US" sz="1400" dirty="0"/>
          </a:p>
        </p:txBody>
      </p:sp>
      <p:sp>
        <p:nvSpPr>
          <p:cNvPr id="31" name="Member work 3"/>
          <p:cNvSpPr txBox="1"/>
          <p:nvPr/>
        </p:nvSpPr>
        <p:spPr>
          <a:xfrm>
            <a:off x="8394192" y="3200400"/>
            <a:ext cx="2971800" cy="137160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chemeClr val="tx1"/>
                </a:solidFill>
              </a:rPr>
              <a:t>29/29 automated Chai tests in CredentialRegistry.test.js</a:t>
            </a:r>
            <a:endParaRPr lang="en-US" sz="1300" dirty="0"/>
          </a:p>
          <a:p>
            <a:pPr algn="l" marL="342900" indent="-342900">
              <a:spcAft>
                <a:spcPts val="600"/>
              </a:spcAft>
              <a:buSzPct val="100000"/>
              <a:buChar char="•"/>
            </a:pPr>
            <a:r>
              <a:rPr lang="en-US" sz="1300" dirty="0">
                <a:solidFill>
                  <a:schemeClr val="tx1"/>
                </a:solidFill>
              </a:rPr>
              <a:t>Boundary assertions, audit-trail checks, DPDP Act 2023 compliance audit</a:t>
            </a:r>
            <a:endParaRPr lang="en-US" sz="1300" dirty="0"/>
          </a:p>
        </p:txBody>
      </p:sp>
      <p:sp>
        <p:nvSpPr>
          <p:cNvPr id="32" name="Evidence EV-02"/>
          <p:cNvSpPr/>
          <p:nvPr/>
        </p:nvSpPr>
        <p:spPr>
          <a:xfrm>
            <a:off x="8394192"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EV-02</a:t>
            </a:r>
            <a:endParaRPr lang="en-US" sz="1100" dirty="0"/>
          </a:p>
        </p:txBody>
      </p:sp>
      <p:sp>
        <p:nvSpPr>
          <p:cNvPr id="33" name="Evidence EV-08"/>
          <p:cNvSpPr/>
          <p:nvPr/>
        </p:nvSpPr>
        <p:spPr>
          <a:xfrm>
            <a:off x="9171432"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EV-08</a:t>
            </a:r>
            <a:endParaRPr lang="en-US" sz="1100" dirty="0"/>
          </a:p>
        </p:txBody>
      </p:sp>
      <p:sp>
        <p:nvSpPr>
          <p:cNvPr id="34" name="Reflection box"/>
          <p:cNvSpPr/>
          <p:nvPr/>
        </p:nvSpPr>
        <p:spPr>
          <a:xfrm>
            <a:off x="8302752" y="5120640"/>
            <a:ext cx="3154680" cy="960120"/>
          </a:xfrm>
          <a:prstGeom prst="roundRect">
            <a:avLst>
              <a:gd name="adj" fmla="val 9524"/>
            </a:avLst>
          </a:prstGeom>
          <a:solidFill>
            <a:schemeClr val="bg1"/>
          </a:solidFill>
          <a:ln/>
        </p:spPr>
      </p:sp>
      <p:sp>
        <p:nvSpPr>
          <p:cNvPr id="35" name="Reflection 3"/>
          <p:cNvSpPr txBox="1"/>
          <p:nvPr/>
        </p:nvSpPr>
        <p:spPr>
          <a:xfrm>
            <a:off x="8439912" y="5166360"/>
            <a:ext cx="2880360" cy="868680"/>
          </a:xfrm>
          <a:prstGeom prst="rect">
            <a:avLst/>
          </a:prstGeom>
          <a:noFill/>
          <a:ln/>
        </p:spPr>
        <p:txBody>
          <a:bodyPr wrap="square" lIns="0" tIns="0" rIns="0" bIns="0" rtlCol="0" anchor="ctr"/>
          <a:lstStyle/>
          <a:p>
            <a:pPr algn="l" indent="0" marL="0">
              <a:buNone/>
            </a:pPr>
            <a:r>
              <a:rPr lang="en-US" sz="1200" i="1" dirty="0">
                <a:solidFill>
                  <a:schemeClr val="tx1"/>
                </a:solidFill>
              </a:rPr>
              <a:t>Proved that blockchain immutability and the DPDP Right to Erasure can coexist via cryptographic abstraction.</a:t>
            </a:r>
            <a:endParaRPr lang="en-US" sz="1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txBox="1"/>
          <p:nvPr>
            <p:ph idx="101"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CHAPTER 6  |  CONCLUSION</a:t>
            </a:r>
            <a:endParaRPr lang="en-US" sz="1200" dirty="0"/>
          </a:p>
        </p:txBody>
      </p:sp>
      <p:sp>
        <p:nvSpPr>
          <p:cNvPr id="3" name="Text 1"/>
          <p:cNvSpPr txBox="1"/>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What EduCred Proves</a:t>
            </a:r>
            <a:endParaRPr lang="en-US" sz="3200" dirty="0"/>
          </a:p>
        </p:txBody>
      </p:sp>
      <p:sp>
        <p:nvSpPr>
          <p:cNvPr id="4" name="Conclusion card 1"/>
          <p:cNvSpPr/>
          <p:nvPr/>
        </p:nvSpPr>
        <p:spPr>
          <a:xfrm>
            <a:off x="548640" y="1508760"/>
            <a:ext cx="2103120" cy="3108960"/>
          </a:xfrm>
          <a:prstGeom prst="roundRect">
            <a:avLst>
              <a:gd name="adj" fmla="val 4348"/>
            </a:avLst>
          </a:prstGeom>
          <a:solidFill>
            <a:schemeClr val="bg1">
              <a:alpha val="8000"/>
            </a:schemeClr>
          </a:solidFill>
          <a:ln/>
        </p:spPr>
      </p:sp>
      <p:sp>
        <p:nvSpPr>
          <p:cNvPr id="5" name="Conclusion number 1"/>
          <p:cNvSpPr/>
          <p:nvPr/>
        </p:nvSpPr>
        <p:spPr>
          <a:xfrm>
            <a:off x="777240" y="173736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1</a:t>
            </a:r>
            <a:endParaRPr lang="en-US" sz="1800" dirty="0"/>
          </a:p>
        </p:txBody>
      </p:sp>
      <p:sp>
        <p:nvSpPr>
          <p:cNvPr id="6" name="Conclusion heading 1"/>
          <p:cNvSpPr txBox="1"/>
          <p:nvPr/>
        </p:nvSpPr>
        <p:spPr>
          <a:xfrm>
            <a:off x="777240" y="2423160"/>
            <a:ext cx="1691640" cy="5943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Fraud eliminated</a:t>
            </a:r>
            <a:endParaRPr lang="en-US" sz="1700" dirty="0"/>
          </a:p>
        </p:txBody>
      </p:sp>
      <p:sp>
        <p:nvSpPr>
          <p:cNvPr id="7" name="Conclusion text 1"/>
          <p:cNvSpPr txBox="1"/>
          <p:nvPr/>
        </p:nvSpPr>
        <p:spPr>
          <a:xfrm>
            <a:off x="777240" y="3108960"/>
            <a:ext cx="1691640" cy="1417320"/>
          </a:xfrm>
          <a:prstGeom prst="rect">
            <a:avLst/>
          </a:prstGeom>
          <a:noFill/>
          <a:ln/>
        </p:spPr>
        <p:txBody>
          <a:bodyPr wrap="square" lIns="0" tIns="0" rIns="0" bIns="0" rtlCol="0" anchor="t"/>
          <a:lstStyle/>
          <a:p>
            <a:pPr algn="l" indent="0" marL="0">
              <a:buNone/>
            </a:pPr>
            <a:r>
              <a:rPr lang="en-US" sz="1400" dirty="0">
                <a:solidFill>
                  <a:schemeClr val="bg2"/>
                </a:solidFill>
              </a:rPr>
              <a:t>SHA-256 hashing on an immutable ledger makes forgery mathematically impossible</a:t>
            </a:r>
            <a:endParaRPr lang="en-US" sz="1400" dirty="0"/>
          </a:p>
        </p:txBody>
      </p:sp>
      <p:sp>
        <p:nvSpPr>
          <p:cNvPr id="8" name="Conclusion card 2"/>
          <p:cNvSpPr/>
          <p:nvPr/>
        </p:nvSpPr>
        <p:spPr>
          <a:xfrm>
            <a:off x="2798064" y="1508760"/>
            <a:ext cx="2103120" cy="3108960"/>
          </a:xfrm>
          <a:prstGeom prst="roundRect">
            <a:avLst>
              <a:gd name="adj" fmla="val 4348"/>
            </a:avLst>
          </a:prstGeom>
          <a:solidFill>
            <a:schemeClr val="bg1">
              <a:alpha val="8000"/>
            </a:schemeClr>
          </a:solidFill>
          <a:ln/>
        </p:spPr>
      </p:sp>
      <p:sp>
        <p:nvSpPr>
          <p:cNvPr id="9" name="Conclusion number 2"/>
          <p:cNvSpPr/>
          <p:nvPr/>
        </p:nvSpPr>
        <p:spPr>
          <a:xfrm>
            <a:off x="3026664" y="173736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2</a:t>
            </a:r>
            <a:endParaRPr lang="en-US" sz="1800" dirty="0"/>
          </a:p>
        </p:txBody>
      </p:sp>
      <p:sp>
        <p:nvSpPr>
          <p:cNvPr id="10" name="Conclusion heading 2"/>
          <p:cNvSpPr txBox="1"/>
          <p:nvPr/>
        </p:nvSpPr>
        <p:spPr>
          <a:xfrm>
            <a:off x="3026664" y="2423160"/>
            <a:ext cx="1691640" cy="5943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Seconds, not weeks</a:t>
            </a:r>
            <a:endParaRPr lang="en-US" sz="1700" dirty="0"/>
          </a:p>
        </p:txBody>
      </p:sp>
      <p:sp>
        <p:nvSpPr>
          <p:cNvPr id="11" name="Conclusion text 2"/>
          <p:cNvSpPr txBox="1"/>
          <p:nvPr/>
        </p:nvSpPr>
        <p:spPr>
          <a:xfrm>
            <a:off x="3026664" y="3108960"/>
            <a:ext cx="1691640" cy="1417320"/>
          </a:xfrm>
          <a:prstGeom prst="rect">
            <a:avLst/>
          </a:prstGeom>
          <a:noFill/>
          <a:ln/>
        </p:spPr>
        <p:txBody>
          <a:bodyPr wrap="square" lIns="0" tIns="0" rIns="0" bIns="0" rtlCol="0" anchor="t"/>
          <a:lstStyle/>
          <a:p>
            <a:pPr algn="l" indent="0" marL="0">
              <a:buNone/>
            </a:pPr>
            <a:r>
              <a:rPr lang="en-US" sz="1400" dirty="0">
                <a:solidFill>
                  <a:schemeClr val="bg2"/>
                </a:solidFill>
              </a:rPr>
              <a:t>Verification drops from 14-30 days of paperwork to sub-second real time</a:t>
            </a:r>
            <a:endParaRPr lang="en-US" sz="1400" dirty="0"/>
          </a:p>
        </p:txBody>
      </p:sp>
      <p:sp>
        <p:nvSpPr>
          <p:cNvPr id="12" name="Conclusion card 3"/>
          <p:cNvSpPr/>
          <p:nvPr/>
        </p:nvSpPr>
        <p:spPr>
          <a:xfrm>
            <a:off x="5047488" y="1508760"/>
            <a:ext cx="2103120" cy="3108960"/>
          </a:xfrm>
          <a:prstGeom prst="roundRect">
            <a:avLst>
              <a:gd name="adj" fmla="val 4348"/>
            </a:avLst>
          </a:prstGeom>
          <a:solidFill>
            <a:schemeClr val="bg1">
              <a:alpha val="8000"/>
            </a:schemeClr>
          </a:solidFill>
          <a:ln/>
        </p:spPr>
      </p:sp>
      <p:sp>
        <p:nvSpPr>
          <p:cNvPr id="13" name="Conclusion number 3"/>
          <p:cNvSpPr/>
          <p:nvPr/>
        </p:nvSpPr>
        <p:spPr>
          <a:xfrm>
            <a:off x="5276088" y="173736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3</a:t>
            </a:r>
            <a:endParaRPr lang="en-US" sz="1800" dirty="0"/>
          </a:p>
        </p:txBody>
      </p:sp>
      <p:sp>
        <p:nvSpPr>
          <p:cNvPr id="14" name="Conclusion heading 3"/>
          <p:cNvSpPr txBox="1"/>
          <p:nvPr/>
        </p:nvSpPr>
        <p:spPr>
          <a:xfrm>
            <a:off x="5276088" y="2423160"/>
            <a:ext cx="1691640" cy="5943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Zero employer barrier</a:t>
            </a:r>
            <a:endParaRPr lang="en-US" sz="1700" dirty="0"/>
          </a:p>
        </p:txBody>
      </p:sp>
      <p:sp>
        <p:nvSpPr>
          <p:cNvPr id="15" name="Conclusion text 3"/>
          <p:cNvSpPr txBox="1"/>
          <p:nvPr/>
        </p:nvSpPr>
        <p:spPr>
          <a:xfrm>
            <a:off x="5276088" y="3108960"/>
            <a:ext cx="1691640" cy="1417320"/>
          </a:xfrm>
          <a:prstGeom prst="rect">
            <a:avLst/>
          </a:prstGeom>
          <a:noFill/>
          <a:ln/>
        </p:spPr>
        <p:txBody>
          <a:bodyPr wrap="square" lIns="0" tIns="0" rIns="0" bIns="0" rtlCol="0" anchor="t"/>
          <a:lstStyle/>
          <a:p>
            <a:pPr algn="l" indent="0" marL="0">
              <a:buNone/>
            </a:pPr>
            <a:r>
              <a:rPr lang="en-US" sz="1400" dirty="0">
                <a:solidFill>
                  <a:schemeClr val="bg2"/>
                </a:solidFill>
              </a:rPr>
              <a:t>0 gas fees and no Web3 onboarding for public verifiers</a:t>
            </a:r>
            <a:endParaRPr lang="en-US" sz="1400" dirty="0"/>
          </a:p>
        </p:txBody>
      </p:sp>
      <p:sp>
        <p:nvSpPr>
          <p:cNvPr id="16" name="Conclusion card 4"/>
          <p:cNvSpPr/>
          <p:nvPr/>
        </p:nvSpPr>
        <p:spPr>
          <a:xfrm>
            <a:off x="7296912" y="1508760"/>
            <a:ext cx="2103120" cy="3108960"/>
          </a:xfrm>
          <a:prstGeom prst="roundRect">
            <a:avLst>
              <a:gd name="adj" fmla="val 4348"/>
            </a:avLst>
          </a:prstGeom>
          <a:solidFill>
            <a:schemeClr val="bg1">
              <a:alpha val="8000"/>
            </a:schemeClr>
          </a:solidFill>
          <a:ln/>
        </p:spPr>
      </p:sp>
      <p:sp>
        <p:nvSpPr>
          <p:cNvPr id="17" name="Conclusion number 4"/>
          <p:cNvSpPr/>
          <p:nvPr/>
        </p:nvSpPr>
        <p:spPr>
          <a:xfrm>
            <a:off x="7525512" y="173736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4</a:t>
            </a:r>
            <a:endParaRPr lang="en-US" sz="1800" dirty="0"/>
          </a:p>
        </p:txBody>
      </p:sp>
      <p:sp>
        <p:nvSpPr>
          <p:cNvPr id="18" name="Conclusion heading 4"/>
          <p:cNvSpPr txBox="1"/>
          <p:nvPr/>
        </p:nvSpPr>
        <p:spPr>
          <a:xfrm>
            <a:off x="7525512" y="2423160"/>
            <a:ext cx="1691640" cy="5943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Production-ready code</a:t>
            </a:r>
            <a:endParaRPr lang="en-US" sz="1700" dirty="0"/>
          </a:p>
        </p:txBody>
      </p:sp>
      <p:sp>
        <p:nvSpPr>
          <p:cNvPr id="19" name="Conclusion text 4"/>
          <p:cNvSpPr txBox="1"/>
          <p:nvPr/>
        </p:nvSpPr>
        <p:spPr>
          <a:xfrm>
            <a:off x="7525512" y="3108960"/>
            <a:ext cx="1691640" cy="1417320"/>
          </a:xfrm>
          <a:prstGeom prst="rect">
            <a:avLst/>
          </a:prstGeom>
          <a:noFill/>
          <a:ln/>
        </p:spPr>
        <p:txBody>
          <a:bodyPr wrap="square" lIns="0" tIns="0" rIns="0" bIns="0" rtlCol="0" anchor="t"/>
          <a:lstStyle/>
          <a:p>
            <a:pPr algn="l" indent="0" marL="0">
              <a:buNone/>
            </a:pPr>
            <a:r>
              <a:rPr lang="en-US" sz="1400" dirty="0">
                <a:solidFill>
                  <a:schemeClr val="bg2"/>
                </a:solidFill>
              </a:rPr>
              <a:t>29 automated tests, 100% pass, with a full regression harness</a:t>
            </a:r>
            <a:endParaRPr lang="en-US" sz="1400" dirty="0"/>
          </a:p>
        </p:txBody>
      </p:sp>
      <p:sp>
        <p:nvSpPr>
          <p:cNvPr id="20" name="Conclusion card 5"/>
          <p:cNvSpPr/>
          <p:nvPr/>
        </p:nvSpPr>
        <p:spPr>
          <a:xfrm>
            <a:off x="9546336" y="1508760"/>
            <a:ext cx="2103120" cy="3108960"/>
          </a:xfrm>
          <a:prstGeom prst="roundRect">
            <a:avLst>
              <a:gd name="adj" fmla="val 4348"/>
            </a:avLst>
          </a:prstGeom>
          <a:solidFill>
            <a:schemeClr val="bg1">
              <a:alpha val="8000"/>
            </a:schemeClr>
          </a:solidFill>
          <a:ln/>
        </p:spPr>
      </p:sp>
      <p:sp>
        <p:nvSpPr>
          <p:cNvPr id="21" name="Conclusion number 5"/>
          <p:cNvSpPr/>
          <p:nvPr/>
        </p:nvSpPr>
        <p:spPr>
          <a:xfrm>
            <a:off x="9774936" y="173736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5</a:t>
            </a:r>
            <a:endParaRPr lang="en-US" sz="1800" dirty="0"/>
          </a:p>
        </p:txBody>
      </p:sp>
      <p:sp>
        <p:nvSpPr>
          <p:cNvPr id="22" name="Conclusion heading 5"/>
          <p:cNvSpPr txBox="1"/>
          <p:nvPr/>
        </p:nvSpPr>
        <p:spPr>
          <a:xfrm>
            <a:off x="9774936" y="2423160"/>
            <a:ext cx="1691640" cy="5943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Legally aligned</a:t>
            </a:r>
            <a:endParaRPr lang="en-US" sz="1700" dirty="0"/>
          </a:p>
        </p:txBody>
      </p:sp>
      <p:sp>
        <p:nvSpPr>
          <p:cNvPr id="23" name="Conclusion text 5"/>
          <p:cNvSpPr txBox="1"/>
          <p:nvPr/>
        </p:nvSpPr>
        <p:spPr>
          <a:xfrm>
            <a:off x="9774936" y="3108960"/>
            <a:ext cx="1691640" cy="1417320"/>
          </a:xfrm>
          <a:prstGeom prst="rect">
            <a:avLst/>
          </a:prstGeom>
          <a:noFill/>
          <a:ln/>
        </p:spPr>
        <p:txBody>
          <a:bodyPr wrap="square" lIns="0" tIns="0" rIns="0" bIns="0" rtlCol="0" anchor="t"/>
          <a:lstStyle/>
          <a:p>
            <a:pPr algn="l" indent="0" marL="0">
              <a:buNone/>
            </a:pPr>
            <a:r>
              <a:rPr lang="en-US" sz="1400" dirty="0">
                <a:solidFill>
                  <a:schemeClr val="bg2"/>
                </a:solidFill>
              </a:rPr>
              <a:t>Decoupled data model aligns with India’s DPDP Act 2023</a:t>
            </a:r>
            <a:endParaRPr lang="en-US" sz="1400" dirty="0"/>
          </a:p>
        </p:txBody>
      </p:sp>
      <p:sp>
        <p:nvSpPr>
          <p:cNvPr id="24" name="Conclusion banner"/>
          <p:cNvSpPr/>
          <p:nvPr/>
        </p:nvSpPr>
        <p:spPr>
          <a:xfrm>
            <a:off x="548640" y="4892040"/>
            <a:ext cx="11094415" cy="1371600"/>
          </a:xfrm>
          <a:prstGeom prst="roundRect">
            <a:avLst>
              <a:gd name="adj" fmla="val 6667"/>
            </a:avLst>
          </a:prstGeom>
          <a:solidFill>
            <a:schemeClr val="accent1"/>
          </a:solidFill>
          <a:ln/>
        </p:spPr>
      </p:sp>
      <p:sp>
        <p:nvSpPr>
          <p:cNvPr id="25" name="Conclusion statement"/>
          <p:cNvSpPr txBox="1"/>
          <p:nvPr/>
        </p:nvSpPr>
        <p:spPr>
          <a:xfrm>
            <a:off x="960120" y="4892040"/>
            <a:ext cx="10271455" cy="1371600"/>
          </a:xfrm>
          <a:prstGeom prst="rect">
            <a:avLst/>
          </a:prstGeom>
          <a:noFill/>
          <a:ln/>
        </p:spPr>
        <p:txBody>
          <a:bodyPr wrap="square" lIns="0" tIns="0" rIns="0" bIns="0" rtlCol="0" anchor="ctr"/>
          <a:lstStyle/>
          <a:p>
            <a:pPr algn="l" indent="0" marL="0">
              <a:buNone/>
            </a:pPr>
            <a:r>
              <a:rPr lang="en-US" sz="2000" b="1" dirty="0">
                <a:solidFill>
                  <a:schemeClr val="bg1"/>
                </a:solidFill>
              </a:rPr>
              <a:t>EduCred shows that decentralized cryptographic infrastructure can deliver an industry-ready, cost-effective way to secure educational credentials across Indian universities.</a:t>
            </a:r>
            <a:endParaRPr lang="en-US" sz="2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SCALABILITY ROADMAP  |  DE-III / CAPSTONE</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Roadmap to Live Deployment</a:t>
            </a:r>
            <a:endParaRPr lang="en-US" sz="3200" dirty="0"/>
          </a:p>
        </p:txBody>
      </p:sp>
      <p:sp>
        <p:nvSpPr>
          <p:cNvPr id="4" name="Timeline line"/>
          <p:cNvSpPr/>
          <p:nvPr/>
        </p:nvSpPr>
        <p:spPr>
          <a:xfrm>
            <a:off x="685800" y="2011680"/>
            <a:ext cx="8531352" cy="0"/>
          </a:xfrm>
          <a:prstGeom prst="line">
            <a:avLst/>
          </a:prstGeom>
          <a:noFill/>
          <a:ln w="25400">
            <a:solidFill>
              <a:schemeClr val="accent6"/>
            </a:solidFill>
            <a:prstDash val="dash"/>
          </a:ln>
        </p:spPr>
      </p:sp>
      <p:sp>
        <p:nvSpPr>
          <p:cNvPr id="5" name="Phase month 1"/>
          <p:cNvSpPr txBox="1"/>
          <p:nvPr/>
        </p:nvSpPr>
        <p:spPr>
          <a:xfrm>
            <a:off x="548640" y="1508760"/>
            <a:ext cx="2560320" cy="274320"/>
          </a:xfrm>
          <a:prstGeom prst="rect">
            <a:avLst/>
          </a:prstGeom>
          <a:noFill/>
          <a:ln/>
        </p:spPr>
        <p:txBody>
          <a:bodyPr wrap="square" lIns="0" tIns="0" rIns="0" bIns="0" rtlCol="0" anchor="t"/>
          <a:lstStyle/>
          <a:p>
            <a:pPr algn="l" indent="0" marL="0">
              <a:buNone/>
            </a:pPr>
            <a:r>
              <a:rPr lang="en-US" sz="1300" b="1" spc="200" kern="0" dirty="0">
                <a:solidFill>
                  <a:schemeClr val="accent1"/>
                </a:solidFill>
              </a:rPr>
              <a:t>MONTH 1</a:t>
            </a:r>
            <a:endParaRPr lang="en-US" sz="1300" dirty="0"/>
          </a:p>
        </p:txBody>
      </p:sp>
      <p:sp>
        <p:nvSpPr>
          <p:cNvPr id="6" name="Phase node 1"/>
          <p:cNvSpPr/>
          <p:nvPr/>
        </p:nvSpPr>
        <p:spPr>
          <a:xfrm>
            <a:off x="548640" y="1874520"/>
            <a:ext cx="274320" cy="274320"/>
          </a:xfrm>
          <a:prstGeom prst="ellipse">
            <a:avLst/>
          </a:prstGeom>
          <a:solidFill>
            <a:schemeClr val="accent1"/>
          </a:solidFill>
          <a:ln/>
        </p:spPr>
      </p:sp>
      <p:sp>
        <p:nvSpPr>
          <p:cNvPr id="7" name="Phase card 1"/>
          <p:cNvSpPr/>
          <p:nvPr/>
        </p:nvSpPr>
        <p:spPr>
          <a:xfrm>
            <a:off x="548640" y="2423160"/>
            <a:ext cx="2560320" cy="3520440"/>
          </a:xfrm>
          <a:prstGeom prst="roundRect">
            <a:avLst>
              <a:gd name="adj" fmla="val 3571"/>
            </a:avLst>
          </a:prstGeom>
          <a:solidFill>
            <a:schemeClr val="bg2"/>
          </a:solidFill>
          <a:ln/>
        </p:spPr>
      </p:sp>
      <p:sp>
        <p:nvSpPr>
          <p:cNvPr id="8" name="Phase icon 1 circle"/>
          <p:cNvSpPr/>
          <p:nvPr/>
        </p:nvSpPr>
        <p:spPr>
          <a:xfrm>
            <a:off x="777240" y="2651760"/>
            <a:ext cx="594360" cy="594360"/>
          </a:xfrm>
          <a:prstGeom prst="ellipse">
            <a:avLst/>
          </a:prstGeom>
          <a:solidFill>
            <a:schemeClr val="accent1"/>
          </a:solidFill>
          <a:ln/>
        </p:spPr>
      </p:sp>
      <p:pic>
        <p:nvPicPr>
          <p:cNvPr id="9" name="Phase icon 1" descr="Phase icon 1">    </p:cNvPr>
          <p:cNvPicPr>
            <a:picLocks noChangeAspect="1"/>
          </p:cNvPicPr>
          <p:nvPr/>
        </p:nvPicPr>
        <p:blipFill>
          <a:blip r:embed="rId1"/>
          <a:stretch>
            <a:fillRect/>
          </a:stretch>
        </p:blipFill>
        <p:spPr>
          <a:xfrm>
            <a:off x="931774" y="2806294"/>
            <a:ext cx="285293" cy="285293"/>
          </a:xfrm>
          <a:prstGeom prst="rect">
            <a:avLst/>
          </a:prstGeom>
        </p:spPr>
      </p:pic>
      <p:sp>
        <p:nvSpPr>
          <p:cNvPr id="10" name="Phase tag 1"/>
          <p:cNvSpPr txBox="1"/>
          <p:nvPr/>
        </p:nvSpPr>
        <p:spPr>
          <a:xfrm>
            <a:off x="1554480" y="2651760"/>
            <a:ext cx="1371600" cy="594360"/>
          </a:xfrm>
          <a:prstGeom prst="rect">
            <a:avLst/>
          </a:prstGeom>
          <a:noFill/>
          <a:ln/>
        </p:spPr>
        <p:txBody>
          <a:bodyPr wrap="square" lIns="0" tIns="0" rIns="0" bIns="0" rtlCol="0" anchor="ctr"/>
          <a:lstStyle/>
          <a:p>
            <a:pPr algn="l" indent="0" marL="0">
              <a:buNone/>
            </a:pPr>
            <a:r>
              <a:rPr lang="en-US" sz="1300" b="1" dirty="0">
                <a:solidFill>
                  <a:schemeClr val="accent6"/>
                </a:solidFill>
              </a:rPr>
              <a:t>Phase 1</a:t>
            </a:r>
            <a:endParaRPr lang="en-US" sz="1300" dirty="0"/>
          </a:p>
        </p:txBody>
      </p:sp>
      <p:sp>
        <p:nvSpPr>
          <p:cNvPr id="11" name="Phase title 1"/>
          <p:cNvSpPr txBox="1"/>
          <p:nvPr/>
        </p:nvSpPr>
        <p:spPr>
          <a:xfrm>
            <a:off x="777240" y="3474720"/>
            <a:ext cx="2148840" cy="822960"/>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Polygon Amoy testnet deployment</a:t>
            </a:r>
            <a:endParaRPr lang="en-US" sz="1800" dirty="0"/>
          </a:p>
        </p:txBody>
      </p:sp>
      <p:sp>
        <p:nvSpPr>
          <p:cNvPr id="12" name="Phase text 1"/>
          <p:cNvSpPr txBox="1"/>
          <p:nvPr/>
        </p:nvSpPr>
        <p:spPr>
          <a:xfrm>
            <a:off x="777240" y="4389120"/>
            <a:ext cx="2148840" cy="1463040"/>
          </a:xfrm>
          <a:prstGeom prst="rect">
            <a:avLst/>
          </a:prstGeom>
          <a:noFill/>
          <a:ln/>
        </p:spPr>
        <p:txBody>
          <a:bodyPr wrap="square" lIns="0" tIns="0" rIns="0" bIns="0" rtlCol="0" anchor="t"/>
          <a:lstStyle/>
          <a:p>
            <a:pPr algn="l" indent="0" marL="0">
              <a:buNone/>
            </a:pPr>
            <a:r>
              <a:rPr lang="en-US" sz="1500" dirty="0">
                <a:solidFill>
                  <a:schemeClr val="tx1"/>
                </a:solidFill>
              </a:rPr>
              <a:t>Benchmark live PoS finality, RPC node latency and gas under network congestion.</a:t>
            </a:r>
            <a:endParaRPr lang="en-US" sz="1500" dirty="0"/>
          </a:p>
        </p:txBody>
      </p:sp>
      <p:sp>
        <p:nvSpPr>
          <p:cNvPr id="13" name="Phase month 2"/>
          <p:cNvSpPr txBox="1"/>
          <p:nvPr/>
        </p:nvSpPr>
        <p:spPr>
          <a:xfrm>
            <a:off x="3392424" y="1508760"/>
            <a:ext cx="2560320" cy="274320"/>
          </a:xfrm>
          <a:prstGeom prst="rect">
            <a:avLst/>
          </a:prstGeom>
          <a:noFill/>
          <a:ln/>
        </p:spPr>
        <p:txBody>
          <a:bodyPr wrap="square" lIns="0" tIns="0" rIns="0" bIns="0" rtlCol="0" anchor="t"/>
          <a:lstStyle/>
          <a:p>
            <a:pPr algn="l" indent="0" marL="0">
              <a:buNone/>
            </a:pPr>
            <a:r>
              <a:rPr lang="en-US" sz="1300" b="1" spc="200" kern="0" dirty="0">
                <a:solidFill>
                  <a:schemeClr val="accent1"/>
                </a:solidFill>
              </a:rPr>
              <a:t>MONTHS 2-3</a:t>
            </a:r>
            <a:endParaRPr lang="en-US" sz="1300" dirty="0"/>
          </a:p>
        </p:txBody>
      </p:sp>
      <p:sp>
        <p:nvSpPr>
          <p:cNvPr id="14" name="Phase node 2"/>
          <p:cNvSpPr/>
          <p:nvPr/>
        </p:nvSpPr>
        <p:spPr>
          <a:xfrm>
            <a:off x="3392424" y="1874520"/>
            <a:ext cx="274320" cy="274320"/>
          </a:xfrm>
          <a:prstGeom prst="ellipse">
            <a:avLst/>
          </a:prstGeom>
          <a:solidFill>
            <a:schemeClr val="accent1"/>
          </a:solidFill>
          <a:ln/>
        </p:spPr>
      </p:sp>
      <p:sp>
        <p:nvSpPr>
          <p:cNvPr id="15" name="Phase card 2"/>
          <p:cNvSpPr/>
          <p:nvPr/>
        </p:nvSpPr>
        <p:spPr>
          <a:xfrm>
            <a:off x="3392424" y="2423160"/>
            <a:ext cx="2560320" cy="3520440"/>
          </a:xfrm>
          <a:prstGeom prst="roundRect">
            <a:avLst>
              <a:gd name="adj" fmla="val 3571"/>
            </a:avLst>
          </a:prstGeom>
          <a:solidFill>
            <a:schemeClr val="bg2"/>
          </a:solidFill>
          <a:ln/>
        </p:spPr>
      </p:sp>
      <p:sp>
        <p:nvSpPr>
          <p:cNvPr id="16" name="Phase icon 2 circle"/>
          <p:cNvSpPr/>
          <p:nvPr/>
        </p:nvSpPr>
        <p:spPr>
          <a:xfrm>
            <a:off x="3621024" y="2651760"/>
            <a:ext cx="594360" cy="594360"/>
          </a:xfrm>
          <a:prstGeom prst="ellipse">
            <a:avLst/>
          </a:prstGeom>
          <a:solidFill>
            <a:schemeClr val="accent1"/>
          </a:solidFill>
          <a:ln/>
        </p:spPr>
      </p:sp>
      <p:pic>
        <p:nvPicPr>
          <p:cNvPr id="17" name="Phase icon 2" descr="Phase icon 2">    </p:cNvPr>
          <p:cNvPicPr>
            <a:picLocks noChangeAspect="1"/>
          </p:cNvPicPr>
          <p:nvPr/>
        </p:nvPicPr>
        <p:blipFill>
          <a:blip r:embed="rId2"/>
          <a:stretch>
            <a:fillRect/>
          </a:stretch>
        </p:blipFill>
        <p:spPr>
          <a:xfrm>
            <a:off x="3775558" y="2806294"/>
            <a:ext cx="285293" cy="285293"/>
          </a:xfrm>
          <a:prstGeom prst="rect">
            <a:avLst/>
          </a:prstGeom>
        </p:spPr>
      </p:pic>
      <p:sp>
        <p:nvSpPr>
          <p:cNvPr id="18" name="Phase tag 2"/>
          <p:cNvSpPr txBox="1"/>
          <p:nvPr/>
        </p:nvSpPr>
        <p:spPr>
          <a:xfrm>
            <a:off x="4398264" y="2651760"/>
            <a:ext cx="1371600" cy="594360"/>
          </a:xfrm>
          <a:prstGeom prst="rect">
            <a:avLst/>
          </a:prstGeom>
          <a:noFill/>
          <a:ln/>
        </p:spPr>
        <p:txBody>
          <a:bodyPr wrap="square" lIns="0" tIns="0" rIns="0" bIns="0" rtlCol="0" anchor="ctr"/>
          <a:lstStyle/>
          <a:p>
            <a:pPr algn="l" indent="0" marL="0">
              <a:buNone/>
            </a:pPr>
            <a:r>
              <a:rPr lang="en-US" sz="1300" b="1" dirty="0">
                <a:solidFill>
                  <a:schemeClr val="accent6"/>
                </a:solidFill>
              </a:rPr>
              <a:t>Phase 2</a:t>
            </a:r>
            <a:endParaRPr lang="en-US" sz="1300" dirty="0"/>
          </a:p>
        </p:txBody>
      </p:sp>
      <p:sp>
        <p:nvSpPr>
          <p:cNvPr id="19" name="Phase title 2"/>
          <p:cNvSpPr txBox="1"/>
          <p:nvPr/>
        </p:nvSpPr>
        <p:spPr>
          <a:xfrm>
            <a:off x="3621024" y="3474720"/>
            <a:ext cx="2148840" cy="822960"/>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DigiLocker &amp; NAD API integration</a:t>
            </a:r>
            <a:endParaRPr lang="en-US" sz="1800" dirty="0"/>
          </a:p>
        </p:txBody>
      </p:sp>
      <p:sp>
        <p:nvSpPr>
          <p:cNvPr id="20" name="Phase text 2"/>
          <p:cNvSpPr txBox="1"/>
          <p:nvPr/>
        </p:nvSpPr>
        <p:spPr>
          <a:xfrm>
            <a:off x="3621024" y="4389120"/>
            <a:ext cx="2148840" cy="1463040"/>
          </a:xfrm>
          <a:prstGeom prst="rect">
            <a:avLst/>
          </a:prstGeom>
          <a:noFill/>
          <a:ln/>
        </p:spPr>
        <p:txBody>
          <a:bodyPr wrap="square" lIns="0" tIns="0" rIns="0" bIns="0" rtlCol="0" anchor="t"/>
          <a:lstStyle/>
          <a:p>
            <a:pPr algn="l" indent="0" marL="0">
              <a:buNone/>
            </a:pPr>
            <a:r>
              <a:rPr lang="en-US" sz="1500" dirty="0">
                <a:solidFill>
                  <a:schemeClr val="tx1"/>
                </a:solidFill>
              </a:rPr>
              <a:t>Middleware links university ERP (SAP Student Lifecycle) to the registry for automated graduation issuance.</a:t>
            </a:r>
            <a:endParaRPr lang="en-US" sz="1500" dirty="0"/>
          </a:p>
        </p:txBody>
      </p:sp>
      <p:sp>
        <p:nvSpPr>
          <p:cNvPr id="21" name="Phase month 3"/>
          <p:cNvSpPr txBox="1"/>
          <p:nvPr/>
        </p:nvSpPr>
        <p:spPr>
          <a:xfrm>
            <a:off x="6236208" y="1508760"/>
            <a:ext cx="2560320" cy="274320"/>
          </a:xfrm>
          <a:prstGeom prst="rect">
            <a:avLst/>
          </a:prstGeom>
          <a:noFill/>
          <a:ln/>
        </p:spPr>
        <p:txBody>
          <a:bodyPr wrap="square" lIns="0" tIns="0" rIns="0" bIns="0" rtlCol="0" anchor="t"/>
          <a:lstStyle/>
          <a:p>
            <a:pPr algn="l" indent="0" marL="0">
              <a:buNone/>
            </a:pPr>
            <a:r>
              <a:rPr lang="en-US" sz="1300" b="1" spc="200" kern="0" dirty="0">
                <a:solidFill>
                  <a:schemeClr val="accent1"/>
                </a:solidFill>
              </a:rPr>
              <a:t>MONTHS 4-5</a:t>
            </a:r>
            <a:endParaRPr lang="en-US" sz="1300" dirty="0"/>
          </a:p>
        </p:txBody>
      </p:sp>
      <p:sp>
        <p:nvSpPr>
          <p:cNvPr id="22" name="Phase node 3"/>
          <p:cNvSpPr/>
          <p:nvPr/>
        </p:nvSpPr>
        <p:spPr>
          <a:xfrm>
            <a:off x="6236208" y="1874520"/>
            <a:ext cx="274320" cy="274320"/>
          </a:xfrm>
          <a:prstGeom prst="ellipse">
            <a:avLst/>
          </a:prstGeom>
          <a:solidFill>
            <a:schemeClr val="accent1"/>
          </a:solidFill>
          <a:ln/>
        </p:spPr>
      </p:sp>
      <p:sp>
        <p:nvSpPr>
          <p:cNvPr id="23" name="Phase card 3"/>
          <p:cNvSpPr/>
          <p:nvPr/>
        </p:nvSpPr>
        <p:spPr>
          <a:xfrm>
            <a:off x="6236208" y="2423160"/>
            <a:ext cx="2560320" cy="3520440"/>
          </a:xfrm>
          <a:prstGeom prst="roundRect">
            <a:avLst>
              <a:gd name="adj" fmla="val 3571"/>
            </a:avLst>
          </a:prstGeom>
          <a:solidFill>
            <a:schemeClr val="bg2"/>
          </a:solidFill>
          <a:ln/>
        </p:spPr>
      </p:sp>
      <p:sp>
        <p:nvSpPr>
          <p:cNvPr id="24" name="Phase icon 3 circle"/>
          <p:cNvSpPr/>
          <p:nvPr/>
        </p:nvSpPr>
        <p:spPr>
          <a:xfrm>
            <a:off x="6464808" y="2651760"/>
            <a:ext cx="594360" cy="594360"/>
          </a:xfrm>
          <a:prstGeom prst="ellipse">
            <a:avLst/>
          </a:prstGeom>
          <a:solidFill>
            <a:schemeClr val="accent1"/>
          </a:solidFill>
          <a:ln/>
        </p:spPr>
      </p:sp>
      <p:pic>
        <p:nvPicPr>
          <p:cNvPr id="25" name="Phase icon 3" descr="Phase icon 3">    </p:cNvPr>
          <p:cNvPicPr>
            <a:picLocks noChangeAspect="1"/>
          </p:cNvPicPr>
          <p:nvPr/>
        </p:nvPicPr>
        <p:blipFill>
          <a:blip r:embed="rId3"/>
          <a:stretch>
            <a:fillRect/>
          </a:stretch>
        </p:blipFill>
        <p:spPr>
          <a:xfrm>
            <a:off x="6619342" y="2806294"/>
            <a:ext cx="285293" cy="285293"/>
          </a:xfrm>
          <a:prstGeom prst="rect">
            <a:avLst/>
          </a:prstGeom>
        </p:spPr>
      </p:pic>
      <p:sp>
        <p:nvSpPr>
          <p:cNvPr id="26" name="Phase tag 3"/>
          <p:cNvSpPr txBox="1"/>
          <p:nvPr/>
        </p:nvSpPr>
        <p:spPr>
          <a:xfrm>
            <a:off x="7242048" y="2651760"/>
            <a:ext cx="1371600" cy="594360"/>
          </a:xfrm>
          <a:prstGeom prst="rect">
            <a:avLst/>
          </a:prstGeom>
          <a:noFill/>
          <a:ln/>
        </p:spPr>
        <p:txBody>
          <a:bodyPr wrap="square" lIns="0" tIns="0" rIns="0" bIns="0" rtlCol="0" anchor="ctr"/>
          <a:lstStyle/>
          <a:p>
            <a:pPr algn="l" indent="0" marL="0">
              <a:buNone/>
            </a:pPr>
            <a:r>
              <a:rPr lang="en-US" sz="1300" b="1" dirty="0">
                <a:solidFill>
                  <a:schemeClr val="accent6"/>
                </a:solidFill>
              </a:rPr>
              <a:t>Phase 3</a:t>
            </a:r>
            <a:endParaRPr lang="en-US" sz="1300" dirty="0"/>
          </a:p>
        </p:txBody>
      </p:sp>
      <p:sp>
        <p:nvSpPr>
          <p:cNvPr id="27" name="Phase title 3"/>
          <p:cNvSpPr txBox="1"/>
          <p:nvPr/>
        </p:nvSpPr>
        <p:spPr>
          <a:xfrm>
            <a:off x="6464808" y="3474720"/>
            <a:ext cx="2148840" cy="822960"/>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Zero-knowledge privacy circuits</a:t>
            </a:r>
            <a:endParaRPr lang="en-US" sz="1800" dirty="0"/>
          </a:p>
        </p:txBody>
      </p:sp>
      <p:sp>
        <p:nvSpPr>
          <p:cNvPr id="28" name="Phase text 3"/>
          <p:cNvSpPr txBox="1"/>
          <p:nvPr/>
        </p:nvSpPr>
        <p:spPr>
          <a:xfrm>
            <a:off x="6464808" y="4389120"/>
            <a:ext cx="2148840" cy="1463040"/>
          </a:xfrm>
          <a:prstGeom prst="rect">
            <a:avLst/>
          </a:prstGeom>
          <a:noFill/>
          <a:ln/>
        </p:spPr>
        <p:txBody>
          <a:bodyPr wrap="square" lIns="0" tIns="0" rIns="0" bIns="0" rtlCol="0" anchor="t"/>
          <a:lstStyle/>
          <a:p>
            <a:pPr algn="l" indent="0" marL="0">
              <a:buNone/>
            </a:pPr>
            <a:r>
              <a:rPr lang="en-US" sz="1500" dirty="0">
                <a:solidFill>
                  <a:schemeClr val="tx1"/>
                </a:solidFill>
              </a:rPr>
              <a:t>Circom / snarkjs zk-SNARKs let students prove CGPA ≥ 8.0 without revealing transcripts.</a:t>
            </a:r>
            <a:endParaRPr lang="en-US" sz="1500" dirty="0"/>
          </a:p>
        </p:txBody>
      </p:sp>
      <p:sp>
        <p:nvSpPr>
          <p:cNvPr id="29" name="Phase month 4"/>
          <p:cNvSpPr txBox="1"/>
          <p:nvPr/>
        </p:nvSpPr>
        <p:spPr>
          <a:xfrm>
            <a:off x="9079992" y="1508760"/>
            <a:ext cx="2560320" cy="274320"/>
          </a:xfrm>
          <a:prstGeom prst="rect">
            <a:avLst/>
          </a:prstGeom>
          <a:noFill/>
          <a:ln/>
        </p:spPr>
        <p:txBody>
          <a:bodyPr wrap="square" lIns="0" tIns="0" rIns="0" bIns="0" rtlCol="0" anchor="t"/>
          <a:lstStyle/>
          <a:p>
            <a:pPr algn="l" indent="0" marL="0">
              <a:buNone/>
            </a:pPr>
            <a:r>
              <a:rPr lang="en-US" sz="1300" b="1" spc="200" kern="0" dirty="0">
                <a:solidFill>
                  <a:schemeClr val="accent1"/>
                </a:solidFill>
              </a:rPr>
              <a:t>MONTH 6</a:t>
            </a:r>
            <a:endParaRPr lang="en-US" sz="1300" dirty="0"/>
          </a:p>
        </p:txBody>
      </p:sp>
      <p:sp>
        <p:nvSpPr>
          <p:cNvPr id="30" name="Phase node 4"/>
          <p:cNvSpPr/>
          <p:nvPr/>
        </p:nvSpPr>
        <p:spPr>
          <a:xfrm>
            <a:off x="9079992" y="1874520"/>
            <a:ext cx="274320" cy="274320"/>
          </a:xfrm>
          <a:prstGeom prst="ellipse">
            <a:avLst/>
          </a:prstGeom>
          <a:solidFill>
            <a:schemeClr val="accent1"/>
          </a:solidFill>
          <a:ln/>
        </p:spPr>
      </p:sp>
      <p:sp>
        <p:nvSpPr>
          <p:cNvPr id="31" name="Phase card 4"/>
          <p:cNvSpPr/>
          <p:nvPr/>
        </p:nvSpPr>
        <p:spPr>
          <a:xfrm>
            <a:off x="9079992" y="2423160"/>
            <a:ext cx="2560320" cy="3520440"/>
          </a:xfrm>
          <a:prstGeom prst="roundRect">
            <a:avLst>
              <a:gd name="adj" fmla="val 3571"/>
            </a:avLst>
          </a:prstGeom>
          <a:solidFill>
            <a:schemeClr val="bg2"/>
          </a:solidFill>
          <a:ln/>
        </p:spPr>
      </p:sp>
      <p:sp>
        <p:nvSpPr>
          <p:cNvPr id="32" name="Phase icon 4 circle"/>
          <p:cNvSpPr/>
          <p:nvPr/>
        </p:nvSpPr>
        <p:spPr>
          <a:xfrm>
            <a:off x="9308592" y="2651760"/>
            <a:ext cx="594360" cy="594360"/>
          </a:xfrm>
          <a:prstGeom prst="ellipse">
            <a:avLst/>
          </a:prstGeom>
          <a:solidFill>
            <a:schemeClr val="accent1"/>
          </a:solidFill>
          <a:ln/>
        </p:spPr>
      </p:sp>
      <p:pic>
        <p:nvPicPr>
          <p:cNvPr id="33" name="Phase icon 4" descr="Phase icon 4">    </p:cNvPr>
          <p:cNvPicPr>
            <a:picLocks noChangeAspect="1"/>
          </p:cNvPicPr>
          <p:nvPr/>
        </p:nvPicPr>
        <p:blipFill>
          <a:blip r:embed="rId4"/>
          <a:stretch>
            <a:fillRect/>
          </a:stretch>
        </p:blipFill>
        <p:spPr>
          <a:xfrm>
            <a:off x="9463126" y="2806294"/>
            <a:ext cx="285293" cy="285293"/>
          </a:xfrm>
          <a:prstGeom prst="rect">
            <a:avLst/>
          </a:prstGeom>
        </p:spPr>
      </p:pic>
      <p:sp>
        <p:nvSpPr>
          <p:cNvPr id="34" name="Phase tag 4"/>
          <p:cNvSpPr txBox="1"/>
          <p:nvPr/>
        </p:nvSpPr>
        <p:spPr>
          <a:xfrm>
            <a:off x="10085832" y="2651760"/>
            <a:ext cx="1371600" cy="594360"/>
          </a:xfrm>
          <a:prstGeom prst="rect">
            <a:avLst/>
          </a:prstGeom>
          <a:noFill/>
          <a:ln/>
        </p:spPr>
        <p:txBody>
          <a:bodyPr wrap="square" lIns="0" tIns="0" rIns="0" bIns="0" rtlCol="0" anchor="ctr"/>
          <a:lstStyle/>
          <a:p>
            <a:pPr algn="l" indent="0" marL="0">
              <a:buNone/>
            </a:pPr>
            <a:r>
              <a:rPr lang="en-US" sz="1300" b="1" dirty="0">
                <a:solidFill>
                  <a:schemeClr val="accent6"/>
                </a:solidFill>
              </a:rPr>
              <a:t>Phase 4</a:t>
            </a:r>
            <a:endParaRPr lang="en-US" sz="1300" dirty="0"/>
          </a:p>
        </p:txBody>
      </p:sp>
      <p:sp>
        <p:nvSpPr>
          <p:cNvPr id="35" name="Phase title 4"/>
          <p:cNvSpPr txBox="1"/>
          <p:nvPr/>
        </p:nvSpPr>
        <p:spPr>
          <a:xfrm>
            <a:off x="9308592" y="3474720"/>
            <a:ext cx="2148840" cy="822960"/>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Mobile verifier application</a:t>
            </a:r>
            <a:endParaRPr lang="en-US" sz="1800" dirty="0"/>
          </a:p>
        </p:txBody>
      </p:sp>
      <p:sp>
        <p:nvSpPr>
          <p:cNvPr id="36" name="Phase text 4"/>
          <p:cNvSpPr txBox="1"/>
          <p:nvPr/>
        </p:nvSpPr>
        <p:spPr>
          <a:xfrm>
            <a:off x="9308592" y="4389120"/>
            <a:ext cx="2148840" cy="1463040"/>
          </a:xfrm>
          <a:prstGeom prst="rect">
            <a:avLst/>
          </a:prstGeom>
          <a:noFill/>
          <a:ln/>
        </p:spPr>
        <p:txBody>
          <a:bodyPr wrap="square" lIns="0" tIns="0" rIns="0" bIns="0" rtlCol="0" anchor="t"/>
          <a:lstStyle/>
          <a:p>
            <a:pPr algn="l" indent="0" marL="0">
              <a:buNone/>
            </a:pPr>
            <a:r>
              <a:rPr lang="en-US" sz="1500" dirty="0">
                <a:solidFill>
                  <a:schemeClr val="tx1"/>
                </a:solidFill>
              </a:rPr>
              <a:t>Offline-capable scanner authenticates paper-certificate QR codes during campus recruitment.</a:t>
            </a:r>
            <a:endParaRPr lang="en-US" sz="15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txBox="1"/>
          <p:nvPr>
            <p:ph idx="101"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LIVE PROTOTYPE DEMONSTRATION &amp; VIVA DEFENSE</a:t>
            </a:r>
            <a:endParaRPr lang="en-US" sz="1200" dirty="0"/>
          </a:p>
        </p:txBody>
      </p:sp>
      <p:sp>
        <p:nvSpPr>
          <p:cNvPr id="3" name="Text 1"/>
          <p:cNvSpPr txBox="1"/>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Live Demo: Issue, Verify, Detect</a:t>
            </a:r>
            <a:endParaRPr lang="en-US" sz="3200" dirty="0"/>
          </a:p>
        </p:txBody>
      </p:sp>
      <p:sp>
        <p:nvSpPr>
          <p:cNvPr id="4" name="Demo subtitle"/>
          <p:cNvSpPr txBox="1"/>
          <p:nvPr/>
        </p:nvSpPr>
        <p:spPr>
          <a:xfrm>
            <a:off x="548640" y="1234440"/>
            <a:ext cx="11094415" cy="365760"/>
          </a:xfrm>
          <a:prstGeom prst="rect">
            <a:avLst/>
          </a:prstGeom>
          <a:noFill/>
          <a:ln/>
        </p:spPr>
        <p:txBody>
          <a:bodyPr wrap="square" lIns="0" tIns="0" rIns="0" bIns="0" rtlCol="0" anchor="t"/>
          <a:lstStyle/>
          <a:p>
            <a:pPr algn="l" indent="0" marL="0">
              <a:buNone/>
            </a:pPr>
            <a:r>
              <a:rPr lang="en-US" sz="1600" dirty="0">
                <a:solidFill>
                  <a:schemeClr val="bg2"/>
                </a:solidFill>
              </a:rPr>
              <a:t>Interactive evaluation of credential issuance, O(1) verification and strict-avalanche forgery detection</a:t>
            </a:r>
            <a:endParaRPr lang="en-US" sz="1600" dirty="0"/>
          </a:p>
        </p:txBody>
      </p:sp>
      <p:sp>
        <p:nvSpPr>
          <p:cNvPr id="5" name="Demo card 1"/>
          <p:cNvSpPr/>
          <p:nvPr/>
        </p:nvSpPr>
        <p:spPr>
          <a:xfrm>
            <a:off x="548640" y="2011680"/>
            <a:ext cx="3520440" cy="3520440"/>
          </a:xfrm>
          <a:prstGeom prst="roundRect">
            <a:avLst>
              <a:gd name="adj" fmla="val 2597"/>
            </a:avLst>
          </a:prstGeom>
          <a:solidFill>
            <a:schemeClr val="bg1">
              <a:alpha val="8000"/>
            </a:schemeClr>
          </a:solidFill>
          <a:ln/>
        </p:spPr>
      </p:sp>
      <p:sp>
        <p:nvSpPr>
          <p:cNvPr id="6" name="Demo number 1"/>
          <p:cNvSpPr/>
          <p:nvPr/>
        </p:nvSpPr>
        <p:spPr>
          <a:xfrm>
            <a:off x="822960" y="2286000"/>
            <a:ext cx="548640" cy="54864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1</a:t>
            </a:r>
            <a:endParaRPr lang="en-US" sz="1800" dirty="0"/>
          </a:p>
        </p:txBody>
      </p:sp>
      <p:sp>
        <p:nvSpPr>
          <p:cNvPr id="7" name="Demo step tag 1"/>
          <p:cNvSpPr txBox="1"/>
          <p:nvPr/>
        </p:nvSpPr>
        <p:spPr>
          <a:xfrm>
            <a:off x="1554480" y="2286000"/>
            <a:ext cx="2194560"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Step 1</a:t>
            </a:r>
            <a:endParaRPr lang="en-US" sz="1200" dirty="0"/>
          </a:p>
        </p:txBody>
      </p:sp>
      <p:sp>
        <p:nvSpPr>
          <p:cNvPr id="8" name="Demo heading 1"/>
          <p:cNvSpPr txBox="1"/>
          <p:nvPr/>
        </p:nvSpPr>
        <p:spPr>
          <a:xfrm>
            <a:off x="1554480" y="2542032"/>
            <a:ext cx="2286000" cy="365760"/>
          </a:xfrm>
          <a:prstGeom prst="rect">
            <a:avLst/>
          </a:prstGeom>
          <a:noFill/>
          <a:ln/>
        </p:spPr>
        <p:txBody>
          <a:bodyPr wrap="square" lIns="0" tIns="0" rIns="0" bIns="0" rtlCol="0" anchor="t"/>
          <a:lstStyle/>
          <a:p>
            <a:pPr algn="l" indent="0" marL="0">
              <a:buNone/>
            </a:pPr>
            <a:r>
              <a:rPr lang="en-US" sz="1800" b="1" dirty="0">
                <a:solidFill>
                  <a:schemeClr val="bg1"/>
                </a:solidFill>
                <a:latin typeface="Cambria" pitchFamily="34" charset="0"/>
                <a:ea typeface="Cambria" pitchFamily="34" charset="-122"/>
                <a:cs typeface="Cambria" pitchFamily="34" charset="-120"/>
              </a:rPr>
              <a:t>Admin Issuance</a:t>
            </a:r>
            <a:endParaRPr lang="en-US" sz="1800" dirty="0"/>
          </a:p>
        </p:txBody>
      </p:sp>
      <p:sp>
        <p:nvSpPr>
          <p:cNvPr id="9" name="Demo bullets 1"/>
          <p:cNvSpPr txBox="1"/>
          <p:nvPr/>
        </p:nvSpPr>
        <p:spPr>
          <a:xfrm>
            <a:off x="822960" y="3154680"/>
            <a:ext cx="3017520" cy="214884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2"/>
                </a:solidFill>
              </a:rPr>
              <a:t>Connect the Hardhat / Polygon admin wallet</a:t>
            </a:r>
            <a:endParaRPr lang="en-US" sz="1400" dirty="0"/>
          </a:p>
          <a:p>
            <a:pPr algn="l" marL="342900" indent="-342900">
              <a:spcAft>
                <a:spcPts val="600"/>
              </a:spcAft>
              <a:buSzPct val="100000"/>
              <a:buChar char="•"/>
            </a:pPr>
            <a:r>
              <a:rPr lang="en-US" sz="1400" dirty="0">
                <a:solidFill>
                  <a:schemeClr val="bg2"/>
                </a:solidFill>
              </a:rPr>
              <a:t>Drop the sample grade card PDF into the dropzone</a:t>
            </a:r>
            <a:endParaRPr lang="en-US" sz="1400" dirty="0"/>
          </a:p>
          <a:p>
            <a:pPr algn="l" marL="342900" indent="-342900">
              <a:spcAft>
                <a:spcPts val="600"/>
              </a:spcAft>
              <a:buSzPct val="100000"/>
              <a:buChar char="•"/>
            </a:pPr>
            <a:r>
              <a:rPr lang="en-US" sz="1400" dirty="0">
                <a:solidFill>
                  <a:schemeClr val="bg2"/>
                </a:solidFill>
              </a:rPr>
              <a:t>Watch SHA-256 compute in under 15 ms</a:t>
            </a:r>
            <a:endParaRPr lang="en-US" sz="1400" dirty="0"/>
          </a:p>
          <a:p>
            <a:pPr algn="l" marL="342900" indent="-342900">
              <a:spcAft>
                <a:spcPts val="600"/>
              </a:spcAft>
              <a:buSzPct val="100000"/>
              <a:buChar char="•"/>
            </a:pPr>
            <a:r>
              <a:rPr lang="en-US" sz="1400" dirty="0">
                <a:solidFill>
                  <a:schemeClr val="bg2"/>
                </a:solidFill>
              </a:rPr>
              <a:t>Run issueCredential(); see the event and QR code</a:t>
            </a:r>
            <a:endParaRPr lang="en-US" sz="1400" dirty="0"/>
          </a:p>
        </p:txBody>
      </p:sp>
      <p:sp>
        <p:nvSpPr>
          <p:cNvPr id="10" name="Demo card 2"/>
          <p:cNvSpPr/>
          <p:nvPr/>
        </p:nvSpPr>
        <p:spPr>
          <a:xfrm>
            <a:off x="4334256" y="2011680"/>
            <a:ext cx="3520440" cy="3520440"/>
          </a:xfrm>
          <a:prstGeom prst="roundRect">
            <a:avLst>
              <a:gd name="adj" fmla="val 2597"/>
            </a:avLst>
          </a:prstGeom>
          <a:solidFill>
            <a:schemeClr val="bg1">
              <a:alpha val="8000"/>
            </a:schemeClr>
          </a:solidFill>
          <a:ln/>
        </p:spPr>
      </p:sp>
      <p:sp>
        <p:nvSpPr>
          <p:cNvPr id="11" name="Demo number 2"/>
          <p:cNvSpPr/>
          <p:nvPr/>
        </p:nvSpPr>
        <p:spPr>
          <a:xfrm>
            <a:off x="4608576" y="2286000"/>
            <a:ext cx="548640" cy="54864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2</a:t>
            </a:r>
            <a:endParaRPr lang="en-US" sz="1800" dirty="0"/>
          </a:p>
        </p:txBody>
      </p:sp>
      <p:sp>
        <p:nvSpPr>
          <p:cNvPr id="12" name="Demo step tag 2"/>
          <p:cNvSpPr txBox="1"/>
          <p:nvPr/>
        </p:nvSpPr>
        <p:spPr>
          <a:xfrm>
            <a:off x="5340096" y="2286000"/>
            <a:ext cx="2194560"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Step 2</a:t>
            </a:r>
            <a:endParaRPr lang="en-US" sz="1200" dirty="0"/>
          </a:p>
        </p:txBody>
      </p:sp>
      <p:sp>
        <p:nvSpPr>
          <p:cNvPr id="13" name="Demo heading 2"/>
          <p:cNvSpPr txBox="1"/>
          <p:nvPr/>
        </p:nvSpPr>
        <p:spPr>
          <a:xfrm>
            <a:off x="5340096" y="2542032"/>
            <a:ext cx="2286000" cy="365760"/>
          </a:xfrm>
          <a:prstGeom prst="rect">
            <a:avLst/>
          </a:prstGeom>
          <a:noFill/>
          <a:ln/>
        </p:spPr>
        <p:txBody>
          <a:bodyPr wrap="square" lIns="0" tIns="0" rIns="0" bIns="0" rtlCol="0" anchor="t"/>
          <a:lstStyle/>
          <a:p>
            <a:pPr algn="l" indent="0" marL="0">
              <a:buNone/>
            </a:pPr>
            <a:r>
              <a:rPr lang="en-US" sz="1800" b="1" dirty="0">
                <a:solidFill>
                  <a:schemeClr val="bg1"/>
                </a:solidFill>
                <a:latin typeface="Cambria" pitchFamily="34" charset="0"/>
                <a:ea typeface="Cambria" pitchFamily="34" charset="-122"/>
                <a:cs typeface="Cambria" pitchFamily="34" charset="-120"/>
              </a:rPr>
              <a:t>Instant Verification</a:t>
            </a:r>
            <a:endParaRPr lang="en-US" sz="1800" dirty="0"/>
          </a:p>
        </p:txBody>
      </p:sp>
      <p:sp>
        <p:nvSpPr>
          <p:cNvPr id="14" name="Demo bullets 2"/>
          <p:cNvSpPr txBox="1"/>
          <p:nvPr/>
        </p:nvSpPr>
        <p:spPr>
          <a:xfrm>
            <a:off x="4608576" y="3154680"/>
            <a:ext cx="3017520" cy="214884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2"/>
                </a:solidFill>
              </a:rPr>
              <a:t>Switch to recruiter mode, no wallet needed</a:t>
            </a:r>
            <a:endParaRPr lang="en-US" sz="1400" dirty="0"/>
          </a:p>
          <a:p>
            <a:pPr algn="l" marL="342900" indent="-342900">
              <a:spcAft>
                <a:spcPts val="600"/>
              </a:spcAft>
              <a:buSzPct val="100000"/>
              <a:buChar char="•"/>
            </a:pPr>
            <a:r>
              <a:rPr lang="en-US" sz="1400" dirty="0">
                <a:solidFill>
                  <a:schemeClr val="bg2"/>
                </a:solidFill>
              </a:rPr>
              <a:t>Drop the authentic PDF into the portal</a:t>
            </a:r>
            <a:endParaRPr lang="en-US" sz="1400" dirty="0"/>
          </a:p>
          <a:p>
            <a:pPr algn="l" marL="342900" indent="-342900">
              <a:spcAft>
                <a:spcPts val="600"/>
              </a:spcAft>
              <a:buSzPct val="100000"/>
              <a:buChar char="•"/>
            </a:pPr>
            <a:r>
              <a:rPr lang="en-US" sz="1400" dirty="0">
                <a:solidFill>
                  <a:schemeClr val="bg2"/>
                </a:solidFill>
              </a:rPr>
              <a:t>Green banner shows SAP ID, timestamp, issuer</a:t>
            </a:r>
            <a:endParaRPr lang="en-US" sz="1400" dirty="0"/>
          </a:p>
          <a:p>
            <a:pPr algn="l" marL="342900" indent="-342900">
              <a:spcAft>
                <a:spcPts val="600"/>
              </a:spcAft>
              <a:buSzPct val="100000"/>
              <a:buChar char="•"/>
            </a:pPr>
            <a:r>
              <a:rPr lang="en-US" sz="1400" dirty="0">
                <a:solidFill>
                  <a:schemeClr val="bg2"/>
                </a:solidFill>
              </a:rPr>
              <a:t>O(1) query with 0 gas</a:t>
            </a:r>
            <a:endParaRPr lang="en-US" sz="1400" dirty="0"/>
          </a:p>
        </p:txBody>
      </p:sp>
      <p:sp>
        <p:nvSpPr>
          <p:cNvPr id="15" name="Demo card 3"/>
          <p:cNvSpPr/>
          <p:nvPr/>
        </p:nvSpPr>
        <p:spPr>
          <a:xfrm>
            <a:off x="8119872" y="2011680"/>
            <a:ext cx="3520440" cy="3520440"/>
          </a:xfrm>
          <a:prstGeom prst="roundRect">
            <a:avLst>
              <a:gd name="adj" fmla="val 2597"/>
            </a:avLst>
          </a:prstGeom>
          <a:solidFill>
            <a:schemeClr val="bg1">
              <a:alpha val="8000"/>
            </a:schemeClr>
          </a:solidFill>
          <a:ln/>
        </p:spPr>
      </p:sp>
      <p:sp>
        <p:nvSpPr>
          <p:cNvPr id="16" name="Demo number 3"/>
          <p:cNvSpPr/>
          <p:nvPr/>
        </p:nvSpPr>
        <p:spPr>
          <a:xfrm>
            <a:off x="8394192" y="2286000"/>
            <a:ext cx="548640" cy="54864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Demo step tag 3"/>
          <p:cNvSpPr txBox="1"/>
          <p:nvPr/>
        </p:nvSpPr>
        <p:spPr>
          <a:xfrm>
            <a:off x="9125712" y="2286000"/>
            <a:ext cx="2194560"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Step 3</a:t>
            </a:r>
            <a:endParaRPr lang="en-US" sz="1200" dirty="0"/>
          </a:p>
        </p:txBody>
      </p:sp>
      <p:sp>
        <p:nvSpPr>
          <p:cNvPr id="18" name="Demo heading 3"/>
          <p:cNvSpPr txBox="1"/>
          <p:nvPr/>
        </p:nvSpPr>
        <p:spPr>
          <a:xfrm>
            <a:off x="9125712" y="2542032"/>
            <a:ext cx="2286000" cy="365760"/>
          </a:xfrm>
          <a:prstGeom prst="rect">
            <a:avLst/>
          </a:prstGeom>
          <a:noFill/>
          <a:ln/>
        </p:spPr>
        <p:txBody>
          <a:bodyPr wrap="square" lIns="0" tIns="0" rIns="0" bIns="0" rtlCol="0" anchor="t"/>
          <a:lstStyle/>
          <a:p>
            <a:pPr algn="l" indent="0" marL="0">
              <a:buNone/>
            </a:pPr>
            <a:r>
              <a:rPr lang="en-US" sz="1800" b="1" dirty="0">
                <a:solidFill>
                  <a:schemeClr val="bg1"/>
                </a:solidFill>
                <a:latin typeface="Cambria" pitchFamily="34" charset="0"/>
                <a:ea typeface="Cambria" pitchFamily="34" charset="-122"/>
                <a:cs typeface="Cambria" pitchFamily="34" charset="-120"/>
              </a:rPr>
              <a:t>Tamper Detection</a:t>
            </a:r>
            <a:endParaRPr lang="en-US" sz="1800" dirty="0"/>
          </a:p>
        </p:txBody>
      </p:sp>
      <p:sp>
        <p:nvSpPr>
          <p:cNvPr id="19" name="Demo bullets 3"/>
          <p:cNvSpPr txBox="1"/>
          <p:nvPr/>
        </p:nvSpPr>
        <p:spPr>
          <a:xfrm>
            <a:off x="8394192" y="3154680"/>
            <a:ext cx="3017520" cy="214884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2"/>
                </a:solidFill>
              </a:rPr>
              <a:t>Drop the tampered PDF (CGPA 9.99)</a:t>
            </a:r>
            <a:endParaRPr lang="en-US" sz="1400" dirty="0"/>
          </a:p>
          <a:p>
            <a:pPr algn="l" marL="342900" indent="-342900">
              <a:spcAft>
                <a:spcPts val="600"/>
              </a:spcAft>
              <a:buSzPct val="100000"/>
              <a:buChar char="•"/>
            </a:pPr>
            <a:r>
              <a:rPr lang="en-US" sz="1400" dirty="0">
                <a:solidFill>
                  <a:schemeClr val="bg2"/>
                </a:solidFill>
              </a:rPr>
              <a:t>Hash is recalculated locally in the browser</a:t>
            </a:r>
            <a:endParaRPr lang="en-US" sz="1400" dirty="0"/>
          </a:p>
          <a:p>
            <a:pPr algn="l" marL="342900" indent="-342900">
              <a:spcAft>
                <a:spcPts val="600"/>
              </a:spcAft>
              <a:buSzPct val="100000"/>
              <a:buChar char="•"/>
            </a:pPr>
            <a:r>
              <a:rPr lang="en-US" sz="1400" dirty="0">
                <a:solidFill>
                  <a:schemeClr val="bg2"/>
                </a:solidFill>
              </a:rPr>
              <a:t>Red banner: FORGERY DETECTED, 128/256 bits flipped</a:t>
            </a:r>
            <a:endParaRPr lang="en-US" sz="1400" dirty="0"/>
          </a:p>
          <a:p>
            <a:pPr algn="l" marL="342900" indent="-342900">
              <a:spcAft>
                <a:spcPts val="600"/>
              </a:spcAft>
              <a:buSzPct val="100000"/>
              <a:buChar char="•"/>
            </a:pPr>
            <a:r>
              <a:rPr lang="en-US" sz="1400" dirty="0">
                <a:solidFill>
                  <a:schemeClr val="bg2"/>
                </a:solidFill>
              </a:rPr>
              <a:t>Then test revocation and the circuit-breaker</a:t>
            </a:r>
            <a:endParaRPr lang="en-US" sz="1400" dirty="0"/>
          </a:p>
        </p:txBody>
      </p:sp>
      <p:sp>
        <p:nvSpPr>
          <p:cNvPr id="20" name="Closing line"/>
          <p:cNvSpPr txBox="1"/>
          <p:nvPr/>
        </p:nvSpPr>
        <p:spPr>
          <a:xfrm>
            <a:off x="548640" y="5760720"/>
            <a:ext cx="7315200" cy="502920"/>
          </a:xfrm>
          <a:prstGeom prst="rect">
            <a:avLst/>
          </a:prstGeom>
          <a:noFill/>
          <a:ln/>
        </p:spPr>
        <p:txBody>
          <a:bodyPr wrap="square" lIns="0" tIns="0" rIns="0" bIns="0" rtlCol="0" anchor="ctr"/>
          <a:lstStyle/>
          <a:p>
            <a:pPr algn="l" indent="0" marL="0">
              <a:buNone/>
            </a:pPr>
            <a:r>
              <a:rPr lang="en-US" sz="2400" b="1" dirty="0">
                <a:solidFill>
                  <a:schemeClr val="accent5"/>
                </a:solidFill>
                <a:latin typeface="Cambria" pitchFamily="34" charset="0"/>
                <a:ea typeface="Cambria" pitchFamily="34" charset="-122"/>
                <a:cs typeface="Cambria" pitchFamily="34" charset="-120"/>
              </a:rPr>
              <a:t>Thank you. Questions are welcome.</a:t>
            </a:r>
            <a:endParaRPr lang="en-US" sz="2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 Placeholder 1"/>
          <p:cNvSpPr>
            <a:spLocks noGrp="1"/>
          </p:cNvSpPr>
          <p:nvPr>
            <p:ph type="body" idx="100"/>
          </p:nvPr>
        </p:nvSpPr>
        <p:spPr/>
        <p:txBody>
          <a:bodyPr/>
          <a:lstStyle/>
          <a:p/>
        </p:txBody>
      </p:sp>
      <p:sp>
        <p:nvSpPr>
          <p:cNvPr id="3" name="Title 2"/>
          <p:cNvSpPr>
            <a:spLocks noGrp="1"/>
          </p:cNvSpPr>
          <p:nvPr>
            <p:ph type="title" idx="101"/>
          </p:nvPr>
        </p:nvSpPr>
        <p:spPr/>
        <p:txBody>
          <a:bodyPr/>
          <a:lstStyle/>
          <a:p/>
        </p:txBody>
      </p:sp>
      <p:sp>
        <p:nvSpPr>
          <p:cNvPr id="4" name="TextBox 3"/>
          <p:cNvSpPr txBox="1"/>
          <p:nvPr/>
        </p:nvSpPr>
        <p:spPr>
          <a:xfrm>
            <a:off x="548640" y="292608"/>
            <a:ext cx="11091672" cy="256032"/>
          </a:xfrm>
          <a:prstGeom prst="rect">
            <a:avLst/>
          </a:prstGeom>
          <a:noFill/>
        </p:spPr>
        <p:txBody>
          <a:bodyPr wrap="none">
            <a:spAutoFit/>
          </a:bodyPr>
          <a:lstStyle/>
          <a:p>
            <a:pPr algn="l">
              <a:defRPr sz="1100" b="1">
                <a:solidFill>
                  <a:srgbClr val="38BDF8"/>
                </a:solidFill>
                <a:latin typeface="Segoe UI"/>
              </a:defRPr>
            </a:pPr>
            <a:r>
              <a:t>ENTERPRISE ADOPTION &amp; CAMPUS SCALING  |  GOVERNANCE</a:t>
            </a:r>
          </a:p>
        </p:txBody>
      </p:sp>
      <p:sp>
        <p:nvSpPr>
          <p:cNvPr id="5" name="TextBox 4"/>
          <p:cNvSpPr txBox="1"/>
          <p:nvPr/>
        </p:nvSpPr>
        <p:spPr>
          <a:xfrm>
            <a:off x="548640" y="566928"/>
            <a:ext cx="11091672" cy="731520"/>
          </a:xfrm>
          <a:prstGeom prst="rect">
            <a:avLst/>
          </a:prstGeom>
          <a:noFill/>
        </p:spPr>
        <p:txBody>
          <a:bodyPr wrap="none">
            <a:spAutoFit/>
          </a:bodyPr>
          <a:lstStyle/>
          <a:p>
            <a:pPr algn="l">
              <a:defRPr sz="2400" b="1">
                <a:solidFill>
                  <a:srgbClr val="FFFFFF"/>
                </a:solidFill>
                <a:latin typeface="Segoe UI"/>
              </a:defRPr>
            </a:pPr>
            <a:r>
              <a:t>Tripartite Institutional Governance Framework</a:t>
            </a:r>
          </a:p>
        </p:txBody>
      </p:sp>
      <p:sp>
        <p:nvSpPr>
          <p:cNvPr id="6" name="Rounded Rectangle 5"/>
          <p:cNvSpPr/>
          <p:nvPr/>
        </p:nvSpPr>
        <p:spPr>
          <a:xfrm>
            <a:off x="548640" y="1463040"/>
            <a:ext cx="3593592" cy="4800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200"/>
            <a:ext cx="3227832" cy="4526280"/>
          </a:xfrm>
          <a:prstGeom prst="rect">
            <a:avLst/>
          </a:prstGeom>
          <a:noFill/>
        </p:spPr>
        <p:txBody>
          <a:bodyPr wrap="square">
            <a:spAutoFit/>
          </a:bodyPr>
          <a:lstStyle/>
          <a:p>
            <a:pPr algn="l">
              <a:defRPr sz="1100" b="1">
                <a:solidFill>
                  <a:srgbClr val="38BDF8"/>
                </a:solidFill>
                <a:latin typeface="Segoe UI"/>
              </a:defRPr>
            </a:pPr>
            <a:r>
              <a:t>PILLAR 1: ARCHITECTURE</a:t>
            </a:r>
          </a:p>
          <a:p>
            <a:pPr algn="l">
              <a:spcAft>
                <a:spcPts val="800"/>
              </a:spcAft>
              <a:defRPr sz="900" b="0">
                <a:solidFill>
                  <a:srgbClr val="94A3B8"/>
                </a:solidFill>
                <a:latin typeface="Segoe UI"/>
              </a:defRPr>
            </a:pPr>
            <a:r>
              <a:t>Technical Ledger Security</a:t>
            </a:r>
          </a:p>
          <a:p>
            <a:pPr algn="l">
              <a:spcBef>
                <a:spcPts val="600"/>
              </a:spcBef>
              <a:defRPr sz="950" b="1">
                <a:solidFill>
                  <a:srgbClr val="FFFFFF"/>
                </a:solidFill>
                <a:latin typeface="Segoe UI"/>
              </a:defRPr>
            </a:pPr>
            <a:r>
              <a:t>• Dual-Layer EVM + IPFS</a:t>
            </a:r>
          </a:p>
          <a:p>
            <a:pPr algn="l">
              <a:spcBef>
                <a:spcPts val="200"/>
              </a:spcBef>
              <a:defRPr sz="850" b="0">
                <a:solidFill>
                  <a:srgbClr val="CBD5E1"/>
                </a:solidFill>
                <a:latin typeface="Segoe UI"/>
              </a:defRPr>
            </a:pPr>
            <a:r>
              <a:t>Decouples heavy file storage from state mapping, achieving 99.99% data reduction.</a:t>
            </a:r>
          </a:p>
          <a:p>
            <a:pPr algn="l">
              <a:spcBef>
                <a:spcPts val="600"/>
              </a:spcBef>
              <a:defRPr sz="950" b="1">
                <a:solidFill>
                  <a:srgbClr val="FFFFFF"/>
                </a:solidFill>
                <a:latin typeface="Segoe UI"/>
              </a:defRPr>
            </a:pPr>
            <a:r>
              <a:t>• Gas Batch Optimization</a:t>
            </a:r>
          </a:p>
          <a:p>
            <a:pPr algn="l">
              <a:spcBef>
                <a:spcPts val="200"/>
              </a:spcBef>
              <a:defRPr sz="850" b="0">
                <a:solidFill>
                  <a:srgbClr val="CBD5E1"/>
                </a:solidFill>
                <a:latin typeface="Segoe UI"/>
              </a:defRPr>
            </a:pPr>
            <a:r>
              <a:t>Dynamic array memory packing reduces gas by 23.8% (52,100 gas/cert).</a:t>
            </a:r>
          </a:p>
          <a:p>
            <a:pPr algn="l">
              <a:spcBef>
                <a:spcPts val="600"/>
              </a:spcBef>
              <a:defRPr sz="950" b="1">
                <a:solidFill>
                  <a:srgbClr val="FFFFFF"/>
                </a:solidFill>
                <a:latin typeface="Segoe UI"/>
              </a:defRPr>
            </a:pPr>
            <a:r>
              <a:t>• Security Primitives</a:t>
            </a:r>
          </a:p>
          <a:p>
            <a:pPr algn="l">
              <a:spcBef>
                <a:spcPts val="200"/>
              </a:spcBef>
              <a:defRPr sz="850" b="0">
                <a:solidFill>
                  <a:srgbClr val="CBD5E1"/>
                </a:solidFill>
                <a:latin typeface="Segoe UI"/>
              </a:defRPr>
            </a:pPr>
            <a:r>
              <a:t>OpenZeppelin v5 ReentrancyGuard, Ownable, and Pausable circuit-breakers.</a:t>
            </a:r>
          </a:p>
        </p:txBody>
      </p:sp>
      <p:sp>
        <p:nvSpPr>
          <p:cNvPr id="8" name="Rounded Rectangle 7"/>
          <p:cNvSpPr/>
          <p:nvPr/>
        </p:nvSpPr>
        <p:spPr>
          <a:xfrm>
            <a:off x="4297680" y="1463040"/>
            <a:ext cx="3593592" cy="4800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600200"/>
            <a:ext cx="3227832" cy="4526280"/>
          </a:xfrm>
          <a:prstGeom prst="rect">
            <a:avLst/>
          </a:prstGeom>
          <a:noFill/>
        </p:spPr>
        <p:txBody>
          <a:bodyPr wrap="square">
            <a:spAutoFit/>
          </a:bodyPr>
          <a:lstStyle/>
          <a:p>
            <a:pPr algn="l">
              <a:defRPr sz="1100" b="1">
                <a:solidFill>
                  <a:srgbClr val="4ADE80"/>
                </a:solidFill>
                <a:latin typeface="Segoe UI"/>
              </a:defRPr>
            </a:pPr>
            <a:r>
              <a:t>PILLAR 2: DATA PROTECTION</a:t>
            </a:r>
          </a:p>
          <a:p>
            <a:pPr algn="l">
              <a:spcAft>
                <a:spcPts val="800"/>
              </a:spcAft>
              <a:defRPr sz="900" b="0">
                <a:solidFill>
                  <a:srgbClr val="94A3B8"/>
                </a:solidFill>
                <a:latin typeface="Segoe UI"/>
              </a:defRPr>
            </a:pPr>
            <a:r>
              <a:t>Statutory Privacy Governance</a:t>
            </a:r>
          </a:p>
          <a:p>
            <a:pPr algn="l">
              <a:spcBef>
                <a:spcPts val="600"/>
              </a:spcBef>
              <a:defRPr sz="950" b="1">
                <a:solidFill>
                  <a:srgbClr val="FFFFFF"/>
                </a:solidFill>
                <a:latin typeface="Segoe UI"/>
              </a:defRPr>
            </a:pPr>
            <a:r>
              <a:t>• Zero Cleartext PII</a:t>
            </a:r>
          </a:p>
          <a:p>
            <a:pPr algn="l">
              <a:spcBef>
                <a:spcPts val="200"/>
              </a:spcBef>
              <a:defRPr sz="850" b="0">
                <a:solidFill>
                  <a:srgbClr val="CBD5E1"/>
                </a:solidFill>
                <a:latin typeface="Segoe UI"/>
              </a:defRPr>
            </a:pPr>
            <a:r>
              <a:t>No student names, roll numbers or grades recorded on public distributed ledgers.</a:t>
            </a:r>
          </a:p>
          <a:p>
            <a:pPr algn="l">
              <a:spcBef>
                <a:spcPts val="600"/>
              </a:spcBef>
              <a:defRPr sz="950" b="1">
                <a:solidFill>
                  <a:srgbClr val="FFFFFF"/>
                </a:solidFill>
                <a:latin typeface="Segoe UI"/>
              </a:defRPr>
            </a:pPr>
            <a:r>
              <a:t>• DPDP Act Section 12</a:t>
            </a:r>
          </a:p>
          <a:p>
            <a:pPr algn="l">
              <a:spcBef>
                <a:spcPts val="200"/>
              </a:spcBef>
              <a:defRPr sz="850" b="0">
                <a:solidFill>
                  <a:srgbClr val="CBD5E1"/>
                </a:solidFill>
                <a:latin typeface="Segoe UI"/>
              </a:defRPr>
            </a:pPr>
            <a:r>
              <a:t>Formal Right to Erasure un-pinning protocol leaves only orphaned 32-byte hash.</a:t>
            </a:r>
          </a:p>
          <a:p>
            <a:pPr algn="l">
              <a:spcBef>
                <a:spcPts val="600"/>
              </a:spcBef>
              <a:defRPr sz="950" b="1">
                <a:solidFill>
                  <a:srgbClr val="FFFFFF"/>
                </a:solidFill>
                <a:latin typeface="Segoe UI"/>
              </a:defRPr>
            </a:pPr>
            <a:r>
              <a:t>• Data Minimization</a:t>
            </a:r>
          </a:p>
          <a:p>
            <a:pPr algn="l">
              <a:spcBef>
                <a:spcPts val="200"/>
              </a:spcBef>
              <a:defRPr sz="850" b="0">
                <a:solidFill>
                  <a:srgbClr val="CBD5E1"/>
                </a:solidFill>
                <a:latin typeface="Segoe UI"/>
              </a:defRPr>
            </a:pPr>
            <a:r>
              <a:t>Local browser Web Crypto hashing guarantees confidential files never leave device.</a:t>
            </a:r>
          </a:p>
        </p:txBody>
      </p:sp>
      <p:sp>
        <p:nvSpPr>
          <p:cNvPr id="10" name="Rounded Rectangle 9"/>
          <p:cNvSpPr/>
          <p:nvPr/>
        </p:nvSpPr>
        <p:spPr>
          <a:xfrm>
            <a:off x="8046720" y="1463040"/>
            <a:ext cx="3593592" cy="4800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227832" cy="4526280"/>
          </a:xfrm>
          <a:prstGeom prst="rect">
            <a:avLst/>
          </a:prstGeom>
          <a:noFill/>
        </p:spPr>
        <p:txBody>
          <a:bodyPr wrap="square">
            <a:spAutoFit/>
          </a:bodyPr>
          <a:lstStyle/>
          <a:p>
            <a:pPr algn="l">
              <a:defRPr sz="1100" b="1">
                <a:solidFill>
                  <a:srgbClr val="38BDF8"/>
                </a:solidFill>
                <a:latin typeface="Segoe UI"/>
              </a:defRPr>
            </a:pPr>
            <a:r>
              <a:t>PILLAR 3: OPERATIONS</a:t>
            </a:r>
          </a:p>
          <a:p>
            <a:pPr algn="l">
              <a:spcAft>
                <a:spcPts val="800"/>
              </a:spcAft>
              <a:defRPr sz="900" b="0">
                <a:solidFill>
                  <a:srgbClr val="94A3B8"/>
                </a:solidFill>
                <a:latin typeface="Segoe UI"/>
              </a:defRPr>
            </a:pPr>
            <a:r>
              <a:t>University Exam Cell Policy</a:t>
            </a:r>
          </a:p>
          <a:p>
            <a:pPr algn="l">
              <a:spcBef>
                <a:spcPts val="600"/>
              </a:spcBef>
              <a:defRPr sz="950" b="1">
                <a:solidFill>
                  <a:srgbClr val="FFFFFF"/>
                </a:solidFill>
                <a:latin typeface="Segoe UI"/>
              </a:defRPr>
            </a:pPr>
            <a:r>
              <a:t>• Multi-Signature Wallets</a:t>
            </a:r>
          </a:p>
          <a:p>
            <a:pPr algn="l">
              <a:spcBef>
                <a:spcPts val="200"/>
              </a:spcBef>
              <a:defRPr sz="850" b="0">
                <a:solidFill>
                  <a:srgbClr val="CBD5E1"/>
                </a:solidFill>
                <a:latin typeface="Segoe UI"/>
              </a:defRPr>
            </a:pPr>
            <a:r>
              <a:t>3-of-5 university deans via Gnosis Safe required to authorize admin changes.</a:t>
            </a:r>
          </a:p>
          <a:p>
            <a:pPr algn="l">
              <a:spcBef>
                <a:spcPts val="600"/>
              </a:spcBef>
              <a:defRPr sz="950" b="1">
                <a:solidFill>
                  <a:srgbClr val="FFFFFF"/>
                </a:solidFill>
                <a:latin typeface="Segoe UI"/>
              </a:defRPr>
            </a:pPr>
            <a:r>
              <a:t>• SAP ERP Integration</a:t>
            </a:r>
          </a:p>
          <a:p>
            <a:pPr algn="l">
              <a:spcBef>
                <a:spcPts val="200"/>
              </a:spcBef>
              <a:defRPr sz="850" b="0">
                <a:solidFill>
                  <a:srgbClr val="CBD5E1"/>
                </a:solidFill>
                <a:latin typeface="Segoe UI"/>
              </a:defRPr>
            </a:pPr>
            <a:r>
              <a:t>Automated middleware connects university SLCM database upon Senate result ratification.</a:t>
            </a:r>
          </a:p>
          <a:p>
            <a:pPr algn="l">
              <a:spcBef>
                <a:spcPts val="600"/>
              </a:spcBef>
              <a:defRPr sz="950" b="1">
                <a:solidFill>
                  <a:srgbClr val="FFFFFF"/>
                </a:solidFill>
                <a:latin typeface="Segoe UI"/>
              </a:defRPr>
            </a:pPr>
            <a:r>
              <a:t>• Key Security &amp; Audits</a:t>
            </a:r>
          </a:p>
          <a:p>
            <a:pPr algn="l">
              <a:spcBef>
                <a:spcPts val="200"/>
              </a:spcBef>
              <a:defRPr sz="850" b="0">
                <a:solidFill>
                  <a:srgbClr val="CBD5E1"/>
                </a:solidFill>
                <a:latin typeface="Segoe UI"/>
              </a:defRPr>
            </a:pPr>
            <a:r>
              <a:t>Hardware security modules (HSM) and periodic smart contract re-audits.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 Placeholder 1"/>
          <p:cNvSpPr>
            <a:spLocks noGrp="1"/>
          </p:cNvSpPr>
          <p:nvPr>
            <p:ph type="body" idx="100"/>
          </p:nvPr>
        </p:nvSpPr>
        <p:spPr/>
        <p:txBody>
          <a:bodyPr/>
          <a:lstStyle/>
          <a:p/>
        </p:txBody>
      </p:sp>
      <p:sp>
        <p:nvSpPr>
          <p:cNvPr id="3" name="Title 2"/>
          <p:cNvSpPr>
            <a:spLocks noGrp="1"/>
          </p:cNvSpPr>
          <p:nvPr>
            <p:ph type="title" idx="101"/>
          </p:nvPr>
        </p:nvSpPr>
        <p:spPr/>
        <p:txBody>
          <a:bodyPr/>
          <a:lstStyle/>
          <a:p/>
        </p:txBody>
      </p:sp>
      <p:sp>
        <p:nvSpPr>
          <p:cNvPr id="4" name="TextBox 3"/>
          <p:cNvSpPr txBox="1"/>
          <p:nvPr/>
        </p:nvSpPr>
        <p:spPr>
          <a:xfrm>
            <a:off x="548640" y="292608"/>
            <a:ext cx="11091672" cy="256032"/>
          </a:xfrm>
          <a:prstGeom prst="rect">
            <a:avLst/>
          </a:prstGeom>
          <a:noFill/>
        </p:spPr>
        <p:txBody>
          <a:bodyPr wrap="none">
            <a:spAutoFit/>
          </a:bodyPr>
          <a:lstStyle/>
          <a:p>
            <a:pPr algn="l">
              <a:defRPr sz="1100" b="1">
                <a:solidFill>
                  <a:srgbClr val="38BDF8"/>
                </a:solidFill>
                <a:latin typeface="Segoe UI"/>
              </a:defRPr>
            </a:pPr>
            <a:r>
              <a:t>CAPSTONE DEFENSE  |  EXAMINER VIVA CHEAT SHEET</a:t>
            </a:r>
          </a:p>
        </p:txBody>
      </p:sp>
      <p:sp>
        <p:nvSpPr>
          <p:cNvPr id="5" name="TextBox 4"/>
          <p:cNvSpPr txBox="1"/>
          <p:nvPr/>
        </p:nvSpPr>
        <p:spPr>
          <a:xfrm>
            <a:off x="548640" y="566928"/>
            <a:ext cx="11091672" cy="731520"/>
          </a:xfrm>
          <a:prstGeom prst="rect">
            <a:avLst/>
          </a:prstGeom>
          <a:noFill/>
        </p:spPr>
        <p:txBody>
          <a:bodyPr wrap="none">
            <a:spAutoFit/>
          </a:bodyPr>
          <a:lstStyle/>
          <a:p>
            <a:pPr algn="l">
              <a:defRPr sz="2400" b="1">
                <a:solidFill>
                  <a:srgbClr val="FFFFFF"/>
                </a:solidFill>
                <a:latin typeface="Segoe UI"/>
              </a:defRPr>
            </a:pPr>
            <a:r>
              <a:t>Top 4 Tough Evaluator Questions &amp; Verbatim Model Answers</a:t>
            </a:r>
          </a:p>
        </p:txBody>
      </p:sp>
      <p:sp>
        <p:nvSpPr>
          <p:cNvPr id="6" name="Rounded Rectangle 5"/>
          <p:cNvSpPr/>
          <p:nvPr/>
        </p:nvSpPr>
        <p:spPr>
          <a:xfrm>
            <a:off x="548640" y="1463040"/>
            <a:ext cx="5422392" cy="23317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5148072" cy="2148840"/>
          </a:xfrm>
          <a:prstGeom prst="rect">
            <a:avLst/>
          </a:prstGeom>
          <a:noFill/>
        </p:spPr>
        <p:txBody>
          <a:bodyPr wrap="square">
            <a:spAutoFit/>
          </a:bodyPr>
          <a:lstStyle/>
          <a:p>
            <a:pPr algn="l">
              <a:spcAft>
                <a:spcPts val="300"/>
              </a:spcAft>
              <a:defRPr sz="950" b="1">
                <a:solidFill>
                  <a:srgbClr val="38BDF8"/>
                </a:solidFill>
                <a:latin typeface="Segoe UI"/>
              </a:defRPr>
            </a:pPr>
            <a:r>
              <a:t>Q1: Why not a centralized MySQL database with digital signatures? Wouldn't it be cheaper?</a:t>
            </a:r>
          </a:p>
          <a:p>
            <a:pPr algn="l">
              <a:defRPr sz="800" b="0">
                <a:solidFill>
                  <a:srgbClr val="CBD5E1"/>
                </a:solidFill>
                <a:latin typeface="Segoe UI"/>
              </a:defRPr>
            </a:pPr>
            <a:r>
              <a:t>A centralized database has three fatal flaws: (1) Single Point of Failure—server crashes or outages halt verification; (2) Insider Tamper Risk—corrupt registrar admins can silently modify SQL records; and (3) Verification Friction—third parties cannot verify records without querying private university servers. Blockchain provides decentralized consensus: once anchored, smart contract state cannot be altered by anyone, including the university chancellor. Furthermore, third parties verify credentials globally in constant time O(1) with zero gas fees.</a:t>
            </a:r>
          </a:p>
        </p:txBody>
      </p:sp>
      <p:sp>
        <p:nvSpPr>
          <p:cNvPr id="8" name="Rounded Rectangle 7"/>
          <p:cNvSpPr/>
          <p:nvPr/>
        </p:nvSpPr>
        <p:spPr>
          <a:xfrm>
            <a:off x="6217920" y="1463040"/>
            <a:ext cx="5422392" cy="23317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554480"/>
            <a:ext cx="5148072" cy="2148840"/>
          </a:xfrm>
          <a:prstGeom prst="rect">
            <a:avLst/>
          </a:prstGeom>
          <a:noFill/>
        </p:spPr>
        <p:txBody>
          <a:bodyPr wrap="square">
            <a:spAutoFit/>
          </a:bodyPr>
          <a:lstStyle/>
          <a:p>
            <a:pPr algn="l">
              <a:spcAft>
                <a:spcPts val="300"/>
              </a:spcAft>
              <a:defRPr sz="950" b="1">
                <a:solidFill>
                  <a:srgbClr val="4ADE80"/>
                </a:solidFill>
                <a:latin typeface="Segoe UI"/>
              </a:defRPr>
            </a:pPr>
            <a:r>
              <a:t>Q2: What happens if a registrar's private key is compromised or stolen?</a:t>
            </a:r>
          </a:p>
          <a:p>
            <a:pPr algn="l">
              <a:defRPr sz="800" b="0">
                <a:solidFill>
                  <a:srgbClr val="CBD5E1"/>
                </a:solidFill>
                <a:latin typeface="Segoe UI"/>
              </a:defRPr>
            </a:pPr>
            <a:r>
              <a:t>We implemented defense-in-depth: (1) CredentialRegistry.sol inherits OpenZeppelin's Pausable.sol. On suspected breach, admin calls pause() to immediately freeze all issuance and revocation writes; (2) Role-Based Access Control (RBAC)—owner calls removeIssuer(compromisedAddress) to revoke authorization instantly without contract redeployment; and (3) In production, the owner address is governed by a Gnosis Safe multi-signature wallet requiring 3-of-5 deans to approve administrative changes.</a:t>
            </a:r>
          </a:p>
        </p:txBody>
      </p:sp>
      <p:sp>
        <p:nvSpPr>
          <p:cNvPr id="10" name="Rounded Rectangle 9"/>
          <p:cNvSpPr/>
          <p:nvPr/>
        </p:nvSpPr>
        <p:spPr>
          <a:xfrm>
            <a:off x="548640" y="3977639"/>
            <a:ext cx="5422392" cy="23317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69079"/>
            <a:ext cx="5148072" cy="2148840"/>
          </a:xfrm>
          <a:prstGeom prst="rect">
            <a:avLst/>
          </a:prstGeom>
          <a:noFill/>
        </p:spPr>
        <p:txBody>
          <a:bodyPr wrap="square">
            <a:spAutoFit/>
          </a:bodyPr>
          <a:lstStyle/>
          <a:p>
            <a:pPr algn="l">
              <a:spcAft>
                <a:spcPts val="300"/>
              </a:spcAft>
              <a:defRPr sz="950" b="1">
                <a:solidFill>
                  <a:srgbClr val="38BDF8"/>
                </a:solidFill>
                <a:latin typeface="Segoe UI"/>
              </a:defRPr>
            </a:pPr>
            <a:r>
              <a:t>Q3: How do you comply with the DPDP 2023 'Right to Erasure' if blockchain records are immutable?</a:t>
            </a:r>
          </a:p>
          <a:p>
            <a:pPr algn="l">
              <a:defRPr sz="800" b="0">
                <a:solidFill>
                  <a:srgbClr val="CBD5E1"/>
                </a:solidFill>
                <a:latin typeface="Segoe UI"/>
              </a:defRPr>
            </a:pPr>
            <a:r>
              <a:t>EduCred stores zero cleartext student PII on-chain. We only store a one-way 32-byte SHA-256 cryptographic digest. When a student exercises their statutory Right to Erasure under Section 12 of the DPDP Act 2023, the university removes internal ERP records and un-pins the PDF marksheet from IPFS. The orphaned 32-byte hash remaining on the blockchain contains zero personal information, achieving complete statutory compliance and avoiding penalties up to INR 250 Crores.</a:t>
            </a:r>
          </a:p>
        </p:txBody>
      </p:sp>
      <p:sp>
        <p:nvSpPr>
          <p:cNvPr id="12" name="Rounded Rectangle 11"/>
          <p:cNvSpPr/>
          <p:nvPr/>
        </p:nvSpPr>
        <p:spPr>
          <a:xfrm>
            <a:off x="6217920" y="3977639"/>
            <a:ext cx="5422392" cy="23317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069079"/>
            <a:ext cx="5148072" cy="2148840"/>
          </a:xfrm>
          <a:prstGeom prst="rect">
            <a:avLst/>
          </a:prstGeom>
          <a:noFill/>
        </p:spPr>
        <p:txBody>
          <a:bodyPr wrap="square">
            <a:spAutoFit/>
          </a:bodyPr>
          <a:lstStyle/>
          <a:p>
            <a:pPr algn="l">
              <a:spcAft>
                <a:spcPts val="300"/>
              </a:spcAft>
              <a:defRPr sz="950" b="1">
                <a:solidFill>
                  <a:srgbClr val="4ADE80"/>
                </a:solidFill>
                <a:latin typeface="Segoe UI"/>
              </a:defRPr>
            </a:pPr>
            <a:r>
              <a:t>Q4: What prevents a corrupt registrar from issuing a fake degree on-chain in the first place?</a:t>
            </a:r>
          </a:p>
          <a:p>
            <a:pPr algn="l">
              <a:defRPr sz="800" b="0">
                <a:solidFill>
                  <a:srgbClr val="CBD5E1"/>
                </a:solidFill>
                <a:latin typeface="Segoe UI"/>
              </a:defRPr>
            </a:pPr>
            <a:r>
              <a:t>Blockchain guarantees that an issued record cannot be tampered with after issuance; it cannot verify whether the input data was true off-chain ('Garbage-In, Garbage-Out'). To prevent registrar fraud, EduCred incorporates: (1) Senate ERP Middleware Ratification—degrees can only be batch-issued via automated pipelines linked to Senate-ratified exam results; (2) Multi-signature authorization; and (3) Permanent Non-Destructive Revocation that preserves an indelible audit trail if malpractice is later detected.</a:t>
            </a:r>
          </a:p>
        </p:txBody>
      </p:sp>
    </p:spTree>
  </p:cSld>
  <p:clrMapOvr>
    <a:masterClrMapping/>
  </p:clrMapOvr>
</p:sld>
</file>

<file path=ppt/theme/theme1.xml><?xml version="1.0" encoding="utf-8"?>
<a:theme xmlns:a="http://schemas.openxmlformats.org/drawingml/2006/main" name="EduCred Navy Teal">
  <a:themeElements>
    <a:clrScheme name="EduCred Navy Teal">
      <a:dk1>
        <a:srgbClr val="1E293B"/>
      </a:dk1>
      <a:lt1>
        <a:srgbClr val="FFFFFF"/>
      </a:lt1>
      <a:dk2>
        <a:srgbClr val="0B1B3A"/>
      </a:dk2>
      <a:lt2>
        <a:srgbClr val="F1F5F9"/>
      </a:lt2>
      <a:accent1>
        <a:srgbClr val="0F766E"/>
      </a:accent1>
      <a:accent2>
        <a:srgbClr val="F59E0B"/>
      </a:accent2>
      <a:accent3>
        <a:srgbClr val="DC2626"/>
      </a:accent3>
      <a:accent4>
        <a:srgbClr val="16A34A"/>
      </a:accent4>
      <a:accent5>
        <a:srgbClr val="5EEAD4"/>
      </a:accent5>
      <a:accent6>
        <a:srgbClr val="64748B"/>
      </a:accent6>
      <a:hlink>
        <a:srgbClr val="0F766E"/>
      </a:hlink>
      <a:folHlink>
        <a:srgbClr val="64748B"/>
      </a:folHlink>
    </a:clrScheme>
    <a:fontScheme name="EduCred Navy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EduCred - DE-II Final Project Defense</dc:title>
  <dc:subject>PptxGenJS Presentation</dc:subject>
  <dc:creator>Himanshu Garg</dc:creator>
  <cp:lastModifiedBy>Himanshu Garg</cp:lastModifiedBy>
  <cp:revision>1</cp:revision>
  <dcterms:created xsi:type="dcterms:W3CDTF">2026-10-26T18:28:07Z</dcterms:created>
  <dcterms:modified xsi:type="dcterms:W3CDTF">2026-10-26T18:28:07Z</dcterms:modified>
</cp:coreProperties>
</file>