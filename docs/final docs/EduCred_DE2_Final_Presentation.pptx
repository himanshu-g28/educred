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4" r:id="rId25"/>
    <p:sldId id="268" r:id="rId14"/>
    <p:sldId id="269" r:id="rId15"/>
    <p:sldId id="270" r:id="rId16"/>
    <p:sldId id="271" r:id="rId17"/>
    <p:sldId id="272" r:id="rId23"/>
    <p:sldId id="273" r:id="rId24"/>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7d4489d-0b0c-d3c0-1a42-33b0954af354}">
          <p14:sldIdLst>
            <p14:sldId id="256"/>
          </p14:sldIdLst>
        </p14:section>
        <p14:section name="Problem &amp; Approach" id="{9db9c92e-b198-73b0-4916-df1434c53d64}">
          <p14:sldIdLst>
            <p14:sldId id="257"/>
            <p14:sldId id="258"/>
            <p14:sldId id="259"/>
          </p14:sldIdLst>
        </p14:section>
        <p14:section name="Literature &amp; Design" id="{114016dd-5331-2dc3-ac0a-6546b867d834}">
          <p14:sldIdLst>
            <p14:sldId id="260"/>
            <p14:sldId id="261"/>
            <p14:sldId id="262"/>
            <p14:sldId id="263"/>
          </p14:sldIdLst>
        </p14:section>
        <p14:section name="Evaluation" id="{39277894-5ba2-635c-047e-e91d91dea676}">
          <p14:sldIdLst>
            <p14:sldId id="264"/>
            <p14:sldId id="265"/>
            <p14:sldId id="266"/>
          </p14:sldIdLst>
        </p14:section>
        <p14:section name="Compliance &amp; Team" id="{49b9d9f7-c213-ac7c-3935-b60f3ccddf0b}">
          <p14:sldIdLst>
            <p14:sldId id="267"/>
            <p14:sldId id="268"/>
          </p14:sldIdLst>
        </p14:section>
        <p14:section name="Conclusion" id="{eabb92cd-f502-5e3e-0274-806e91e190dc}">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B3A"/>
                </a:solidFill>
                <a:latin typeface="+mn-lt"/>
              </a:defRPr>
            </a:pPr>
            <a:r>
              <a:rPr sz="1400" b="0" i="0" u="none" strike="noStrike">
                <a:solidFill>
                  <a:srgbClr val="0B1B3A"/>
                </a:solidFill>
                <a:latin typeface="+mn-lt"/>
              </a:rPr>
              <a:t>Bits flipped by a 1-character grade edit (%)</a:t>
            </a:r>
          </a:p>
        </c:rich>
      </c:tx>
      <c:layout/>
      <c:overlay val="0"/>
    </c:title>
    <c:autoTitleDeleted val="0"/>
    <c:plotArea>
      <c:layout/>
      <c:barChart>
        <c:barDir val="col"/>
        <c:grouping val="clustered"/>
        <c:varyColors val="0"/>
        <c:ser>
          <c:idx val="0"/>
          <c:order val="0"/>
          <c:tx>
            <c:strRef>
              <c:f>Sheet1!$B$1</c:f>
              <c:strCache>
                <c:ptCount val="1"/>
                <c:pt idx="0">
                  <c:v>Bits flipped (%)</c:v>
                </c:pt>
              </c:strCache>
            </c:strRef>
          </c:tx>
          <c:spPr>
            <a:solidFill>
              <a:srgbClr val="0F766E"/>
            </a:solidFill>
            <a:effectLst/>
          </c:spPr>
          <c:invertIfNegative val="0"/>
          <c:dLbls>
            <c:numFmt formatCode="0.0&quot;%&quot;"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Bytes 0-7</c:v>
                  </c:pt>
                  <c:pt idx="1">
                    <c:v>Bytes 8-15</c:v>
                  </c:pt>
                  <c:pt idx="2">
                    <c:v>Bytes 16-23</c:v>
                  </c:pt>
                  <c:pt idx="3">
                    <c:v>Bytes 24-31</c:v>
                  </c:pt>
                  <c:pt idx="4">
                    <c:v>Total hash</c:v>
                  </c:pt>
                </c:lvl>
              </c:multiLvlStrCache>
            </c:multiLvlStrRef>
          </c:cat>
          <c:val>
            <c:numRef>
              <c:f>Sheet1!$B$2:$B$6</c:f>
              <c:numCache>
                <c:formatCode>General</c:formatCode>
                <c:ptCount val="5"/>
                <c:pt idx="0">
                  <c:v>48.4</c:v>
                </c:pt>
                <c:pt idx="1">
                  <c:v>51.6</c:v>
                </c:pt>
                <c:pt idx="2">
                  <c:v>53.1</c:v>
                </c:pt>
                <c:pt idx="3">
                  <c:v>46.9</c:v>
                </c:pt>
                <c:pt idx="4">
                  <c:v>50</c:v>
                </c:pt>
              </c:numCache>
            </c:numRef>
          </c:val>
        </c:ser>
        <c:dLbls>
          <c:numFmt formatCode="0.0&quot;%&quot;"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gapWidth val="55"/>
        <c:overlap val="0"/>
        <c:axId val="2094734554"/>
        <c:axId val="2094734552"/>
        <c:axId val="2094734556"/>
      </c:barChart>
      <c:lineChart>
        <c:varyColors val="0"/>
        <c:ser>
          <c:idx val="1"/>
          <c:order val="1"/>
          <c:tx>
            <c:strRef>
              <c:f>Sheet1!$C$1</c:f>
              <c:strCache>
                <c:ptCount val="1"/>
                <c:pt idx="0">
                  <c:v>Strict Avalanche ideal (50%)</c:v>
                </c:pt>
              </c:strCache>
            </c:strRef>
          </c:tx>
          <c:spPr>
            <a:solidFill>
              <a:srgbClr val="DC2626"/>
            </a:solidFill>
            <a:ln w="25400" cap="flat">
              <a:solidFill>
                <a:srgbClr val="DC26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C2626"/>
              </a:solidFill>
              <a:ln w="9525" cap="flat">
                <a:solidFill>
                  <a:srgbClr val="DC2626"/>
                </a:solidFill>
                <a:prstDash val="solid"/>
                <a:round/>
              </a:ln>
              <a:effectLst/>
            </c:spPr>
          </c:marker>
          <c:cat>
            <c:multiLvlStrRef>
              <c:f>Sheet1!$A$2:$A$6</c:f>
              <c:multiLvlStrCache>
                <c:ptCount val="5"/>
                <c:lvl>
                  <c:pt idx="0">
                    <c:v>Bytes 0-7</c:v>
                  </c:pt>
                  <c:pt idx="1">
                    <c:v>Bytes 8-15</c:v>
                  </c:pt>
                  <c:pt idx="2">
                    <c:v>Bytes 16-23</c:v>
                  </c:pt>
                  <c:pt idx="3">
                    <c:v>Bytes 24-31</c:v>
                  </c:pt>
                  <c:pt idx="4">
                    <c:v>Total hash</c:v>
                  </c:pt>
                </c:lvl>
              </c:multiLvlStrCache>
            </c:multiLvlStrRef>
          </c:cat>
          <c:val>
            <c:numRef>
              <c:f>Sheet1!$C$2:$C$6</c:f>
              <c:numCache>
                <c:formatCode>General</c:formatCode>
                <c:ptCount val="5"/>
                <c:pt idx="0">
                  <c:v>50</c:v>
                </c:pt>
                <c:pt idx="1">
                  <c:v>50</c:v>
                </c:pt>
                <c:pt idx="2">
                  <c:v>50</c:v>
                </c:pt>
                <c:pt idx="3">
                  <c:v>50</c:v>
                </c:pt>
                <c:pt idx="4">
                  <c:v>50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max val="70"/>
          <c:min val="0"/>
        </c:scaling>
        <c:delete val="0"/>
        <c:axPos val="l"/>
        <c:majorGridlines>
          <c:spPr>
            <a:ln w="9525"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200">
              <a:solidFill>
                <a:srgbClr val="64748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B3A"/>
                </a:solidFill>
                <a:latin typeface="+mn-lt"/>
              </a:defRPr>
            </a:pPr>
            <a:r>
              <a:rPr sz="1400" b="0" i="0" u="none" strike="noStrike">
                <a:solidFill>
                  <a:srgbClr val="0B1B3A"/>
                </a:solidFill>
                <a:latin typeface="+mn-lt"/>
              </a:rPr>
              <a:t>Gas used per operation</a:t>
            </a:r>
          </a:p>
        </c:rich>
      </c:tx>
      <c:layout/>
      <c:overlay val="0"/>
    </c:title>
    <c:autoTitleDeleted val="0"/>
    <c:plotArea>
      <c:layout/>
      <c:barChart>
        <c:barDir val="col"/>
        <c:grouping val="clustered"/>
        <c:varyColors val="0"/>
        <c:ser>
          <c:idx val="0"/>
          <c:order val="0"/>
          <c:tx>
            <c:strRef>
              <c:f>Sheet1!$B$1</c:f>
              <c:strCache>
                <c:ptCount val="1"/>
                <c:pt idx="0">
                  <c:v>Gas used</c:v>
                </c:pt>
              </c:strCache>
            </c:strRef>
          </c:tx>
          <c:spPr>
            <a:solidFill>
              <a:srgbClr val="0F766E"/>
            </a:solidFill>
            <a:effectLst/>
          </c:spPr>
          <c:invertIfNegative val="0"/>
          <c:dLbls>
            <c:numFmt formatCode="#,##0" sourceLinked="0"/>
            <c:txPr>
              <a:bodyPr/>
              <a:lstStyle/>
              <a:p>
                <a:pPr>
                  <a:defRPr b="0" i="0" strike="noStrike" sz="1300" u="none">
                    <a:solidFill>
                      <a:srgbClr val="0B1B3A"/>
                    </a:solidFill>
                    <a:latin typeface="+mn-lt"/>
                  </a:defRPr>
                </a:pPr>
              </a:p>
            </c:txPr>
            <c:showLegendKey val="0"/>
            <c:showVal val="1"/>
            <c:showCatName val="0"/>
            <c:showSerName val="0"/>
            <c:showPercent val="0"/>
            <c:showBubbleSize val="0"/>
            <c:showLeaderLines val="0"/>
          </c:dLbls>
          <c:dPt>
            <c:idx val="0"/>
            <c:invertIfNegative val="0"/>
            <c:bubble3D val="0"/>
            <c:spPr>
              <a:solidFill>
                <a:srgbClr val="0F766E"/>
              </a:solidFill>
              <a:effectLst/>
            </c:spPr>
          </c:dPt>
          <c:dPt>
            <c:idx val="1"/>
            <c:invertIfNegative val="0"/>
            <c:bubble3D val="0"/>
            <c:spPr>
              <a:solidFill>
                <a:srgbClr val="16A34A"/>
              </a:solidFill>
              <a:effectLst/>
            </c:spPr>
          </c:dPt>
          <c:dPt>
            <c:idx val="2"/>
            <c:invertIfNegative val="0"/>
            <c:bubble3D val="0"/>
            <c:spPr>
              <a:solidFill>
                <a:srgbClr val="64748B"/>
              </a:solidFill>
              <a:effectLst/>
            </c:spPr>
          </c:dPt>
          <c:cat>
            <c:multiLvlStrRef>
              <c:f>Sheet1!$A$2:$A$4</c:f>
              <c:multiLvlStrCache>
                <c:ptCount val="3"/>
                <c:lvl>
                  <c:pt idx="0">
                    <c:v>Single issuance</c:v>
                  </c:pt>
                  <c:pt idx="1">
                    <c:v>Batch issuance (per cert)</c:v>
                  </c:pt>
                  <c:pt idx="2">
                    <c:v>Revoke credential</c:v>
                  </c:pt>
                </c:lvl>
              </c:multiLvlStrCache>
            </c:multiLvlStrRef>
          </c:cat>
          <c:val>
            <c:numRef>
              <c:f>Sheet1!$B$2:$B$4</c:f>
              <c:numCache>
                <c:formatCode>General</c:formatCode>
                <c:ptCount val="3"/>
                <c:pt idx="0">
                  <c:v>68420</c:v>
                </c:pt>
                <c:pt idx="1">
                  <c:v>52100</c:v>
                </c:pt>
                <c:pt idx="2">
                  <c:v>31250</c:v>
                </c:pt>
              </c:numCache>
            </c:numRef>
          </c:val>
        </c:ser>
        <c:dLbls>
          <c:numFmt formatCode="#,##0" sourceLinked="0"/>
          <c:txPr>
            <a:bodyPr/>
            <a:lstStyle/>
            <a:p>
              <a:pPr>
                <a:defRPr b="0" i="0" strike="noStrike" sz="1300" u="none">
                  <a:solidFill>
                    <a:srgbClr val="0B1B3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max val="80000"/>
          <c:min val="0"/>
        </c:scaling>
        <c:delete val="0"/>
        <c:axPos val="l"/>
        <c:majorGridlines>
          <c:spPr>
            <a:ln w="9525" cap="flat">
              <a:solidFill>
                <a:srgbClr val="E2E8F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majorUnit val="2000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respected faculty coordinator Dr. Srikanth Pullipeti and evaluators. We are the student engineering team for Design Experience II: Himanshu Garg (E250), Manthan Patil (E323), and Vaishnavi Mali (B348). Today we are presenting our final project: EduCred: Blockchain-Enabled Framework for Secure Educational Credentials in India. This project presents a production-grade, decentralized credential issuance and instant verification framework that eliminates certificate forgery while adhering strictly to India's DPDP Act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Chapter 1, we establish the real-world crisis: over 40 million students are enrolled in Indian higher education. Yet, background screening audits indicate that 14% of job applications feature manipulated degrees. Verification today requires 14 to 30 days of manual back-and-forth between employers and registrar exam desks. Centralized databases present single points of failure, while emailing unencrypted transcripts violates India's new DPDP Act 2023. EduCred solves this complete problem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methodology breaks the traditional blockchain paradox. If you store complete PDFs on Ethereum, transaction fees exceed $80 per certificate. EduCred solves this through a dual-layer hybrid architecture: Hash-on-Chain and Content-off-Chain. Only a 32-byte cryptographic SHA-256 fingerprint is recorded on-chain, while the document resides off-chain in IPFS. This guarantees sub-second O(1) verification, zero gas fees for verifiers, and complete compliance with the DPDP Act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explains the core idea. Only a 32-byte SHA-256 hash, the student’s SAP ID and the issuer’s authorization are stored on-chain. The PDF itself stays off-chain on IPFS, or with the student. This cuts on-chain data by 99.994%, lets anyone verify in constant time without paying gas, and makes any edit easy to spot, because changing one character flips about half of the hash bits.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synthesizes eight existing frameworks across the literature. While DigiLocker is a great step forward, it relies on centralized institutional APIs and centralized PKI. Academic projects like Roy &amp; Mahindru stored raw student names and marks on Ethereum, which leaked sensitive personal data and cost over $80 per transaction. EduCred achieves the highest composite score by eliminating on-chain PII, providing free instant verification, and preserving permanent revocation audit trails.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our end-to-end data flow. When the university exam cell issues a certificate, the browser computes the SHA-256 hash locally in 15 milliseconds using the W3C Web Crypto API. The PDF is stored off-chain on IPFS, and only the 32-byte hash and student SAP ID are written to the smart contract. When a recruiter receives a PDF, they simply drop it into the portal. The browser hashes it locally and calls verifyByHash. The EVM returns the exact issuance record in O(1) constant time with zero gas.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smart contract design. CredentialRegistry.sol is written in Solidity 0.8.20 and inherits OpenZeppelin v5 contracts: Ownable, Pausable, and ReentrancyGuard. Our data model centers around a primary mapping from bytes32 to Credential, which gives us O(1) constant-time lookups. Notice our state machine: credentials transition from Draft to Active. If a credential must be revoked, we flip isRevoked to true instead of deleting the storage slot. This ensures an immutable forensic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frontend, we engineered a clean, single-page Web3 dashboard using React 18, Vite, and Tailwind CSS. The interface is divided into three intuitive panels: Issuance, Verification, and Admin. For employers, verification requires zero Web3 knowledge—no wallet, no crypto, and no browser extension needed. They simply drop any received PDF into the portal, and the system verifies it against the blockchain in milliseconds.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satisfy IEEE 730 software quality standards, we constructed a comprehensive automated unit test suite containing 29 test scenarios in Mocha and Chai. Every single test passed in just 317 milliseconds. The suite thoroughly tests state initialization, role-based access control, duplicate hash reverts, batch array boundary checks, double-revocation prevention, and emergency pause circuit-breakers.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provides empirical proof of our tamper detection. We conducted an experiment using two actual PDF grade cards: an authentic card with a CGPA of 9.42, and a counterfeit where we changed just one character to 9.99. Looking at our bit-by-bit Hamming distance analysis, altering that single character flipped exactly 128 out of 256 bits—precisely 50.0%. This matches the theoretical ideal of the Strict Avalanche Criterion, proving that any grade alteration is mathematically caught on-chain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Economic feasibility is critical for university adoption. We profiled the gas consumption across every function. Deploying the contract takes 1.18 million gas—on Polygon, that costs only 2 cents. Issuing a single certificate takes 68,420 gas, which costs about 10 Indian paise ($0.0012). With batch issuance, we reduced this to 52,100 gas—a 23.8% cost savings. Most importantly, verifying a degree consumes 0 gas, meaning employers verify credentials completely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critical differentiator of our project is strict compliance with India's DPDP Act 2023. Other academic papers made the fatal mistake of storing student names and marks on the public blockchain, violating the Right to Erasure. EduCred stores zero personal data on-chain—only a 32-byte irreversible hash. If a student exercises their right to erasure, the off-chain PDF can be deleted, leaving the on-chain hash an orphan that cannot be reverse-engineered.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Chapter 5, we present our team structure and the Individual Evidence Register (IER). Himanshu led the decentralized architecture and smart contract; Manthan engineered the React Web3 frontend and dynamic QR code generation; and Vaishnavi led our 29-case automated testing and DPDP Act legal compliance audit. This clear division of responsibilities ensured rigorous engineering across all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EduCred demonstrates that blockchain and client-side cryptographic hashing can stop forged credentials from passing verification while slashing verification turnaround from weeks to seconds with zero cost to employers. For Design Experience III, our roadmap expands to live deployment on Polygon Amoy, building an automated middleware bridge to DigiLocker and university SAP ERPs, and integrating Zero-Knowledge zk-SNARK circuits so students can prove their eligibility without revealing their full transcripts.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Design Experience III we plan four phases over six months: deploy on the Polygon Amoy testnet, integrate with DigiLocker, NAD and the university SAP ERP, add zero-knowledge proofs so students can prove eligibility (for example CGPA of at least 8.0) without sharing transcripts, and build a mobile verifier app.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respected evaluators. I am now ready to conduct the live prototype demonstration showing the three steps: issuing an authentic grade card, verifying it instantly with zero gas, and testing our 1-character tampered grade card to demonstrate instant Strict Avalanche forgery detection. I welcome your questions for the viva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Besides the DPDP Act, the design follows recognised standards: NIST FIPS 180-4 for SHA-256, IEEE 1471 / ISO 42010 for architecture views, and IEEE 730-2014 for software quality assurance. It also aligns with UGC / NAD requirements and supports UN SDG 4 and SDG 9.</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Respected evaluators, this appendix slide outlines our Tripartite Institutional Governance Framework, derived from our systematic literature review. It addresses how a university can scale decentralized credentialing in practice across three distinct pillars: Pillar 1 ensures technical ledger security and gas efficiency through OpenZeppelin v5 security primitives and batch loop amortization. Pillar 2 guarantees statutory privacy compliance under Section 12 of India's DPDP Act 2023 through client-side Web Crypto hashing and off-chain IPFS un-pinning. Pillar 3 establishes university operational governance, requiring multi-signature authorization from 3 of 5 deans via Gnosis Safe to prevent unauthorized single-admin issuance, paired with automated SAP SLCM ERP ratification middleware.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serves as our defense quick-reference cheat sheet for the four toughest architectural questions examiners typically ask: (1) Why decentralized consensus outperforms centralized SQL databases by eliminating single points of failure, insider tampering, and server downtime; (2) How our defense-in-depth security handles compromised registrar private keys using OpenZeppelin Pausable circuit-breakers and instant role revocation; (3) How we reconcile immutable blockchain records with the DPDP Act 2023 Right to Erasure by keeping all cleartext PII off-chain; and (4) How we prevent registrar fraud at source using automated Academic Senate ERP integration and multi-signature approvals.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56032"/>
          </a:xfrm>
          <a:prstGeom prst="rect">
            <a:avLst/>
          </a:prstGeom>
          <a:noFill/>
          <a:ln/>
        </p:spPr>
        <p:txBody>
          <a:bodyPr wrap="square" rtlCol="0"/>
          <a:lstStyle>
            <a:lvl1pPr algn="l" indent="0" marL="0">
              <a:buNone/>
              <a:defRPr lang="en-US" sz="1200" b="1" spc="20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548640" y="566928"/>
            <a:ext cx="11094415" cy="73152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4"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EduCred  |  DE-II Final Project Defense  |  MPSTME, NMIMS Shirpur</a:t>
            </a:r>
            <a:endParaRPr lang="en-US" sz="10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Text 1"/>
          <p:cNvSpPr/>
          <p:nvPr>
            <p:ph idx="101" type="body" hasCustomPrompt="1"/>
          </p:nvPr>
        </p:nvSpPr>
        <p:spPr>
          <a:xfrm>
            <a:off x="548640" y="292608"/>
            <a:ext cx="11094415" cy="256032"/>
          </a:xfrm>
          <a:prstGeom prst="rect">
            <a:avLst/>
          </a:prstGeom>
          <a:noFill/>
          <a:ln/>
        </p:spPr>
        <p:txBody>
          <a:bodyPr wrap="square" rtlCol="0"/>
          <a:lstStyle>
            <a:lvl1pPr algn="l" indent="0" marL="0">
              <a:buNone/>
              <a:defRPr lang="en-US" sz="1200" b="1" spc="200" kern="0" dirty="0">
                <a:solidFill>
                  <a:schemeClr val="accent5"/>
                </a:solidFill>
              </a:defRPr>
            </a:lvl1pPr>
          </a:lstStyle>
          <a:p>
            <a:pPr algn="l" indent="0" marL="0">
              <a:buNone/>
            </a:pPr>
            <a:endParaRPr lang="en-US" sz="1200" dirty="0"/>
          </a:p>
        </p:txBody>
      </p:sp>
      <p:sp>
        <p:nvSpPr>
          <p:cNvPr id="4" name="Text 1"/>
          <p:cNvSpPr/>
          <p:nvPr>
            <p:ph idx="102" type="title" hasCustomPrompt="1"/>
          </p:nvPr>
        </p:nvSpPr>
        <p:spPr>
          <a:xfrm>
            <a:off x="548640" y="566928"/>
            <a:ext cx="11094415"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5" name="Text 1"/>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EduCred  |  DE-II Final Project Defense  |  MPSTME, NMIMS Shirpur</a:t>
            </a:r>
            <a:endParaRPr lang="en-US" sz="10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Text 1"/>
          <p:cNvSpPr/>
          <p:nvPr>
            <p:ph idx="101" type="body" hasCustomPrompt="1"/>
          </p:nvPr>
        </p:nvSpPr>
        <p:spPr>
          <a:xfrm>
            <a:off x="548640" y="548640"/>
            <a:ext cx="10058400" cy="274320"/>
          </a:xfrm>
          <a:prstGeom prst="rect">
            <a:avLst/>
          </a:prstGeom>
          <a:noFill/>
          <a:ln/>
        </p:spPr>
        <p:txBody>
          <a:bodyPr wrap="square" rtlCol="0"/>
          <a:lstStyle>
            <a:lvl1pPr algn="l" indent="0" marL="0">
              <a:buNone/>
              <a:defRPr lang="en-US" sz="1200" b="1" spc="300" kern="0" dirty="0">
                <a:solidFill>
                  <a:schemeClr val="accent5"/>
                </a:solidFill>
              </a:defRPr>
            </a:lvl1pPr>
          </a:lstStyle>
          <a:p>
            <a:pPr algn="l" indent="0" marL="0">
              <a:buNone/>
            </a:pPr>
            <a:endParaRPr lang="en-US" sz="1200" dirty="0"/>
          </a:p>
        </p:txBody>
      </p:sp>
      <p:sp>
        <p:nvSpPr>
          <p:cNvPr id="4" name="Text 1"/>
          <p:cNvSpPr/>
          <p:nvPr>
            <p:ph idx="102" type="title" hasCustomPrompt="1"/>
          </p:nvPr>
        </p:nvSpPr>
        <p:spPr>
          <a:xfrm>
            <a:off x="548640" y="1097280"/>
            <a:ext cx="8046720" cy="219456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5" name="Text 1"/>
          <p:cNvSpPr/>
          <p:nvPr>
            <p:ph idx="103" type="body" hasCustomPrompt="1"/>
          </p:nvPr>
        </p:nvSpPr>
        <p:spPr>
          <a:xfrm>
            <a:off x="548640" y="3429000"/>
            <a:ext cx="8046720" cy="731520"/>
          </a:xfrm>
          <a:prstGeom prst="rect">
            <a:avLst/>
          </a:prstGeom>
          <a:noFill/>
          <a:ln/>
        </p:spPr>
        <p:txBody>
          <a:bodyPr wrap="square" rtlCol="0"/>
          <a:lstStyle>
            <a:lvl1pPr algn="l" indent="0" marL="0">
              <a:buNone/>
              <a:defRPr lang="en-US" sz="1600" dirty="0">
                <a:solidFill>
                  <a:schemeClr val="bg2"/>
                </a:solidFill>
              </a:defRPr>
            </a:lvl1pPr>
          </a:lstStyle>
          <a:p>
            <a:pPr algn="l" indent="0" marL="0">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2.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 Id="rId7"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 Id="rId6"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 Id="rId8"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txBox="1"/>
          <p:nvPr>
            <p:ph idx="101" type="body" hasCustomPrompt="1"/>
          </p:nvPr>
        </p:nvSpPr>
        <p:spPr>
          <a:xfrm>
            <a:off x="548640" y="548640"/>
            <a:ext cx="10058400" cy="274320"/>
          </a:xfrm>
          <a:prstGeom prst="rect">
            <a:avLst/>
          </a:prstGeom>
          <a:noFill/>
          <a:ln/>
        </p:spPr>
        <p:txBody>
          <a:bodyPr wrap="square" lIns="0" tIns="0" rIns="0" bIns="0" rtlCol="0" anchor="t"/>
          <a:lstStyle/>
          <a:p>
            <a:pPr algn="l" indent="0" marL="0">
              <a:buNone/>
            </a:pPr>
            <a:r>
              <a:rPr lang="en-US" sz="1200" b="1" spc="300" kern="0" dirty="0">
                <a:solidFill>
                  <a:schemeClr val="accent5"/>
                </a:solidFill>
              </a:rPr>
              <a:t>DESIGN EXPERIENCE II (DE-2)  |  FINAL PROJECT DEFENSE  |  AY 2026-27</a:t>
            </a:r>
            <a:endParaRPr lang="en-US" sz="1200" dirty="0"/>
          </a:p>
        </p:txBody>
      </p:sp>
      <p:sp>
        <p:nvSpPr>
          <p:cNvPr id="3" name="Text 1"/>
          <p:cNvSpPr/>
          <p:nvPr>
            <p:ph idx="102" type="title" hasCustomPrompt="1"/>
          </p:nvPr>
        </p:nvSpPr>
        <p:spPr>
          <a:xfrm>
            <a:off x="548640" y="1097280"/>
            <a:ext cx="8046720" cy="2194560"/>
          </a:xfrm>
          <a:prstGeom prst="rect">
            <a:avLst/>
          </a:prstGeom>
          <a:noFill/>
          <a:ln/>
        </p:spPr>
        <p:txBody>
          <a:bodyPr wrap="square" lIns="0" tIns="0" rIns="0" bIns="0" rtlCol="0" anchor="t"/>
          <a:lstStyle/>
          <a:p>
            <a:pPr algn="l" indent="0" marL="0">
              <a:buNone/>
            </a:pPr>
            <a:r>
              <a:rPr lang="en-US" sz="5600" b="1" dirty="0">
                <a:solidFill>
                  <a:schemeClr val="accent5"/>
                </a:solidFill>
              </a:rPr>
              <a:t>EduCred</a:t>
            </a:r>
            <a:endParaRPr lang="en-US" sz="3000" dirty="0"/>
          </a:p>
          <a:p>
            <a:pPr algn="l" indent="0" marL="0">
              <a:buNone/>
            </a:pPr>
            <a:r>
              <a:rPr lang="en-US" sz="3000" b="1" dirty="0">
                <a:solidFill>
                  <a:schemeClr val="bg1"/>
                </a:solidFill>
              </a:rPr>
              <a:t>Blockchain-Enabled Framework for Secure Educational Credentials in India</a:t>
            </a:r>
            <a:endParaRPr lang="en-US" sz="3000" dirty="0"/>
          </a:p>
        </p:txBody>
      </p:sp>
      <p:sp>
        <p:nvSpPr>
          <p:cNvPr id="4" name="Text 1"/>
          <p:cNvSpPr txBox="1"/>
          <p:nvPr>
            <p:ph idx="103" type="body" hasCustomPrompt="1"/>
          </p:nvPr>
        </p:nvSpPr>
        <p:spPr>
          <a:xfrm>
            <a:off x="548640" y="3429000"/>
            <a:ext cx="8046720" cy="731520"/>
          </a:xfrm>
          <a:prstGeom prst="rect">
            <a:avLst/>
          </a:prstGeom>
          <a:noFill/>
          <a:ln/>
        </p:spPr>
        <p:txBody>
          <a:bodyPr wrap="square" lIns="0" tIns="0" rIns="0" bIns="0" rtlCol="0" anchor="t"/>
          <a:lstStyle/>
          <a:p>
            <a:pPr algn="l" indent="0" marL="0">
              <a:buNone/>
            </a:pPr>
            <a:r>
              <a:rPr lang="en-US" sz="1600" dirty="0">
                <a:solidFill>
                  <a:schemeClr val="bg2"/>
                </a:solidFill>
              </a:rPr>
              <a:t>A dual-layer hybrid architecture (hash-on-chain, content-off-chain) with instant O(1) verification and DPDP Act 2023 compliance</a:t>
            </a:r>
            <a:endParaRPr lang="en-US" sz="1600" dirty="0"/>
          </a:p>
        </p:txBody>
      </p:sp>
      <p:sp>
        <p:nvSpPr>
          <p:cNvPr id="5" name="Program line"/>
          <p:cNvSpPr txBox="1"/>
          <p:nvPr/>
        </p:nvSpPr>
        <p:spPr>
          <a:xfrm>
            <a:off x="548640" y="4114800"/>
            <a:ext cx="8046720" cy="274320"/>
          </a:xfrm>
          <a:prstGeom prst="rect">
            <a:avLst/>
          </a:prstGeom>
          <a:noFill/>
          <a:ln/>
        </p:spPr>
        <p:txBody>
          <a:bodyPr wrap="square" lIns="0" tIns="0" rIns="0" bIns="0" rtlCol="0" anchor="t"/>
          <a:lstStyle/>
          <a:p>
            <a:pPr algn="l" indent="0" marL="0">
              <a:buNone/>
            </a:pPr>
            <a:r>
              <a:rPr lang="en-US" sz="1400" b="1" dirty="0">
                <a:solidFill>
                  <a:schemeClr val="accent5"/>
                </a:solidFill>
              </a:rPr>
              <a:t>Third Year B.Tech (Semester V)   |   Vertical: Industry Research</a:t>
            </a:r>
            <a:endParaRPr lang="en-US" sz="1400" dirty="0"/>
          </a:p>
        </p:txBody>
      </p:sp>
      <p:sp>
        <p:nvSpPr>
          <p:cNvPr id="6" name="Ring outer"/>
          <p:cNvSpPr/>
          <p:nvPr/>
        </p:nvSpPr>
        <p:spPr>
          <a:xfrm>
            <a:off x="9281160" y="1097280"/>
            <a:ext cx="2286000" cy="2286000"/>
          </a:xfrm>
          <a:prstGeom prst="ellipse">
            <a:avLst/>
          </a:prstGeom>
          <a:solidFill>
            <a:schemeClr val="accent1"/>
          </a:solidFill>
          <a:ln/>
        </p:spPr>
      </p:sp>
      <p:sp>
        <p:nvSpPr>
          <p:cNvPr id="7" name="Ring inner"/>
          <p:cNvSpPr/>
          <p:nvPr/>
        </p:nvSpPr>
        <p:spPr>
          <a:xfrm>
            <a:off x="9509760" y="1325880"/>
            <a:ext cx="1828800" cy="1828800"/>
          </a:xfrm>
          <a:prstGeom prst="ellipse">
            <a:avLst/>
          </a:prstGeom>
          <a:solidFill>
            <a:schemeClr val="tx2"/>
          </a:solidFill>
          <a:ln/>
        </p:spPr>
      </p:sp>
      <p:pic>
        <p:nvPicPr>
          <p:cNvPr id="8" name="Shield icon" descr="Shield icon">    </p:cNvPr>
          <p:cNvPicPr>
            <a:picLocks noChangeAspect="1"/>
          </p:cNvPicPr>
          <p:nvPr/>
        </p:nvPicPr>
        <p:blipFill>
          <a:blip r:embed="rId1"/>
          <a:stretch>
            <a:fillRect/>
          </a:stretch>
        </p:blipFill>
        <p:spPr>
          <a:xfrm>
            <a:off x="9921240" y="1737360"/>
            <a:ext cx="1005840" cy="1005840"/>
          </a:xfrm>
          <a:prstGeom prst="rect">
            <a:avLst/>
          </a:prstGeom>
        </p:spPr>
      </p:pic>
      <p:sp>
        <p:nvSpPr>
          <p:cNvPr id="9" name="Hash caption"/>
          <p:cNvSpPr txBox="1"/>
          <p:nvPr/>
        </p:nvSpPr>
        <p:spPr>
          <a:xfrm>
            <a:off x="8915400" y="3429000"/>
            <a:ext cx="3017520" cy="274320"/>
          </a:xfrm>
          <a:prstGeom prst="rect">
            <a:avLst/>
          </a:prstGeom>
          <a:noFill/>
          <a:ln/>
        </p:spPr>
        <p:txBody>
          <a:bodyPr wrap="square" lIns="0" tIns="0" rIns="0" bIns="0" rtlCol="0" anchor="t"/>
          <a:lstStyle/>
          <a:p>
            <a:pPr algn="ctr" indent="0" marL="0">
              <a:buNone/>
            </a:pPr>
            <a:r>
              <a:rPr lang="en-US" sz="1200" dirty="0">
                <a:solidFill>
                  <a:schemeClr val="accent5"/>
                </a:solidFill>
                <a:latin typeface="Courier New" pitchFamily="34" charset="0"/>
                <a:ea typeface="Courier New" pitchFamily="34" charset="-122"/>
                <a:cs typeface="Courier New" pitchFamily="34" charset="-120"/>
              </a:rPr>
              <a:t>SHA-256  0xb89ce30b75b5...</a:t>
            </a:r>
            <a:endParaRPr lang="en-US" sz="1200" dirty="0"/>
          </a:p>
        </p:txBody>
      </p:sp>
      <p:sp>
        <p:nvSpPr>
          <p:cNvPr id="10" name="Team card"/>
          <p:cNvSpPr/>
          <p:nvPr/>
        </p:nvSpPr>
        <p:spPr>
          <a:xfrm>
            <a:off x="548640" y="4572000"/>
            <a:ext cx="6675120" cy="1783080"/>
          </a:xfrm>
          <a:prstGeom prst="roundRect">
            <a:avLst>
              <a:gd name="adj" fmla="val 5128"/>
            </a:avLst>
          </a:prstGeom>
          <a:solidFill>
            <a:schemeClr val="bg1">
              <a:alpha val="8000"/>
            </a:schemeClr>
          </a:solidFill>
          <a:ln/>
        </p:spPr>
      </p:sp>
      <p:sp>
        <p:nvSpPr>
          <p:cNvPr id="11" name="Team heading"/>
          <p:cNvSpPr txBox="1"/>
          <p:nvPr/>
        </p:nvSpPr>
        <p:spPr>
          <a:xfrm>
            <a:off x="822960" y="4709160"/>
            <a:ext cx="612648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STUDENT ENGINEERING TEAM</a:t>
            </a:r>
            <a:endParaRPr lang="en-US" sz="1200" dirty="0"/>
          </a:p>
        </p:txBody>
      </p:sp>
      <p:sp>
        <p:nvSpPr>
          <p:cNvPr id="12" name="Member 1"/>
          <p:cNvSpPr txBox="1"/>
          <p:nvPr/>
        </p:nvSpPr>
        <p:spPr>
          <a:xfrm>
            <a:off x="822960" y="5074920"/>
            <a:ext cx="6217920" cy="310896"/>
          </a:xfrm>
          <a:prstGeom prst="rect">
            <a:avLst/>
          </a:prstGeom>
          <a:noFill/>
          <a:ln/>
        </p:spPr>
        <p:txBody>
          <a:bodyPr wrap="square" lIns="0" tIns="0" rIns="0" bIns="0" rtlCol="0" anchor="ctr"/>
          <a:lstStyle/>
          <a:p>
            <a:pPr algn="l" indent="0" marL="0">
              <a:buNone/>
            </a:pPr>
            <a:r>
              <a:rPr lang="en-US" sz="1500" b="1" dirty="0">
                <a:solidFill>
                  <a:schemeClr val="bg1"/>
                </a:solidFill>
              </a:rPr>
              <a:t>Himanshu Garg   </a:t>
            </a:r>
            <a:pPr algn="l" indent="0" marL="0">
              <a:buNone/>
            </a:pPr>
            <a:r>
              <a:rPr lang="en-US" sz="1300" dirty="0">
                <a:solidFill>
                  <a:schemeClr val="bg2"/>
                </a:solidFill>
              </a:rPr>
              <a:t>Roll E250  |  SAP 70552400057  |  CS Div B</a:t>
            </a:r>
            <a:endParaRPr lang="en-US" sz="1500" dirty="0"/>
          </a:p>
        </p:txBody>
      </p:sp>
      <p:sp>
        <p:nvSpPr>
          <p:cNvPr id="13" name="Member 2"/>
          <p:cNvSpPr txBox="1"/>
          <p:nvPr/>
        </p:nvSpPr>
        <p:spPr>
          <a:xfrm>
            <a:off x="822960" y="5440680"/>
            <a:ext cx="6217920" cy="310896"/>
          </a:xfrm>
          <a:prstGeom prst="rect">
            <a:avLst/>
          </a:prstGeom>
          <a:noFill/>
          <a:ln/>
        </p:spPr>
        <p:txBody>
          <a:bodyPr wrap="square" lIns="0" tIns="0" rIns="0" bIns="0" rtlCol="0" anchor="ctr"/>
          <a:lstStyle/>
          <a:p>
            <a:pPr algn="l" indent="0" marL="0">
              <a:buNone/>
            </a:pPr>
            <a:r>
              <a:rPr lang="en-US" sz="1500" b="1" dirty="0">
                <a:solidFill>
                  <a:schemeClr val="bg1"/>
                </a:solidFill>
              </a:rPr>
              <a:t>Manthan Patil   </a:t>
            </a:r>
            <a:pPr algn="l" indent="0" marL="0">
              <a:buNone/>
            </a:pPr>
            <a:r>
              <a:rPr lang="en-US" sz="1300" dirty="0">
                <a:solidFill>
                  <a:schemeClr val="bg2"/>
                </a:solidFill>
              </a:rPr>
              <a:t>Roll E323  |  SAP 70552400133  |  CS Div B</a:t>
            </a:r>
            <a:endParaRPr lang="en-US" sz="1500" dirty="0"/>
          </a:p>
        </p:txBody>
      </p:sp>
      <p:sp>
        <p:nvSpPr>
          <p:cNvPr id="14" name="Member 3"/>
          <p:cNvSpPr txBox="1"/>
          <p:nvPr/>
        </p:nvSpPr>
        <p:spPr>
          <a:xfrm>
            <a:off x="822960" y="5806440"/>
            <a:ext cx="6217920" cy="310896"/>
          </a:xfrm>
          <a:prstGeom prst="rect">
            <a:avLst/>
          </a:prstGeom>
          <a:noFill/>
          <a:ln/>
        </p:spPr>
        <p:txBody>
          <a:bodyPr wrap="square" lIns="0" tIns="0" rIns="0" bIns="0" rtlCol="0" anchor="ctr"/>
          <a:lstStyle/>
          <a:p>
            <a:pPr algn="l" indent="0" marL="0">
              <a:buNone/>
            </a:pPr>
            <a:r>
              <a:rPr lang="en-US" sz="1500" b="1" dirty="0">
                <a:solidFill>
                  <a:schemeClr val="bg1"/>
                </a:solidFill>
              </a:rPr>
              <a:t>Vaishnavi Mali   </a:t>
            </a:r>
            <a:pPr algn="l" indent="0" marL="0">
              <a:buNone/>
            </a:pPr>
            <a:r>
              <a:rPr lang="en-US" sz="1300" dirty="0">
                <a:solidFill>
                  <a:schemeClr val="bg2"/>
                </a:solidFill>
              </a:rPr>
              <a:t>Roll B348  |  SAP 70022400767  |  CE Div B</a:t>
            </a:r>
            <a:endParaRPr lang="en-US" sz="1500" dirty="0"/>
          </a:p>
        </p:txBody>
      </p:sp>
      <p:sp>
        <p:nvSpPr>
          <p:cNvPr id="15" name="Faculty card"/>
          <p:cNvSpPr/>
          <p:nvPr/>
        </p:nvSpPr>
        <p:spPr>
          <a:xfrm>
            <a:off x="7498080" y="4572000"/>
            <a:ext cx="4142232" cy="1783080"/>
          </a:xfrm>
          <a:prstGeom prst="roundRect">
            <a:avLst>
              <a:gd name="adj" fmla="val 5128"/>
            </a:avLst>
          </a:prstGeom>
          <a:solidFill>
            <a:schemeClr val="bg1">
              <a:alpha val="8000"/>
            </a:schemeClr>
          </a:solidFill>
          <a:ln/>
        </p:spPr>
      </p:sp>
      <p:sp>
        <p:nvSpPr>
          <p:cNvPr id="16" name="Faculty heading"/>
          <p:cNvSpPr txBox="1"/>
          <p:nvPr/>
        </p:nvSpPr>
        <p:spPr>
          <a:xfrm>
            <a:off x="7772400" y="4709160"/>
            <a:ext cx="365760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FACULTY &amp; INSTITUTION</a:t>
            </a:r>
            <a:endParaRPr lang="en-US" sz="1200" dirty="0"/>
          </a:p>
        </p:txBody>
      </p:sp>
      <p:sp>
        <p:nvSpPr>
          <p:cNvPr id="17" name="Faculty details"/>
          <p:cNvSpPr txBox="1"/>
          <p:nvPr/>
        </p:nvSpPr>
        <p:spPr>
          <a:xfrm>
            <a:off x="7772400" y="5047488"/>
            <a:ext cx="3657600" cy="1234440"/>
          </a:xfrm>
          <a:prstGeom prst="rect">
            <a:avLst/>
          </a:prstGeom>
          <a:noFill/>
          <a:ln/>
        </p:spPr>
        <p:txBody>
          <a:bodyPr wrap="square" lIns="0" tIns="0" rIns="0" bIns="0" rtlCol="0" anchor="t"/>
          <a:lstStyle/>
          <a:p>
            <a:pPr algn="l" indent="0" marL="0">
              <a:spcAft>
                <a:spcPts val="200"/>
              </a:spcAft>
              <a:buNone/>
            </a:pPr>
            <a:r>
              <a:rPr lang="en-US" sz="1300" b="1" dirty="0">
                <a:solidFill>
                  <a:schemeClr val="bg1"/>
                </a:solidFill>
              </a:rPr>
              <a:t>Mentor: </a:t>
            </a:r>
            <a:pPr algn="l" indent="0" marL="0">
              <a:spcAft>
                <a:spcPts val="200"/>
              </a:spcAft>
              <a:buNone/>
            </a:pPr>
            <a:r>
              <a:rPr lang="en-US" sz="1300" dirty="0">
                <a:solidFill>
                  <a:schemeClr val="bg2"/>
                </a:solidFill>
              </a:rPr>
              <a:t>Dr. Srikanth Pullipeti, Associate Professor</a:t>
            </a:r>
            <a:endParaRPr lang="en-US" sz="1300" dirty="0"/>
          </a:p>
          <a:p>
            <a:pPr algn="l" indent="0" marL="0">
              <a:spcAft>
                <a:spcPts val="200"/>
              </a:spcAft>
              <a:buNone/>
            </a:pPr>
            <a:r>
              <a:rPr lang="en-US" sz="1300" dirty="0">
                <a:solidFill>
                  <a:schemeClr val="bg2"/>
                </a:solidFill>
              </a:rPr>
              <a:t>Dept. of Computer Science &amp; Engineering</a:t>
            </a:r>
            <a:endParaRPr lang="en-US" sz="1300" dirty="0"/>
          </a:p>
          <a:p>
            <a:pPr algn="l" indent="0" marL="0">
              <a:spcAft>
                <a:spcPts val="200"/>
              </a:spcAft>
              <a:buNone/>
            </a:pPr>
            <a:r>
              <a:rPr lang="en-US" sz="1300" dirty="0">
                <a:solidFill>
                  <a:schemeClr val="bg2"/>
                </a:solidFill>
              </a:rPr>
              <a:t>MPSTME, SVKM’s NMIMS, Shirpur Campus</a:t>
            </a:r>
            <a:endParaRPr lang="en-US" sz="1300" dirty="0"/>
          </a:p>
          <a:p>
            <a:pPr algn="l" indent="0" marL="0">
              <a:spcAft>
                <a:spcPts val="200"/>
              </a:spcAft>
              <a:buNone/>
            </a:pPr>
            <a:r>
              <a:rPr lang="en-US" sz="1300" b="1" dirty="0">
                <a:solidFill>
                  <a:schemeClr val="bg1"/>
                </a:solidFill>
              </a:rPr>
              <a:t>Defense: </a:t>
            </a:r>
            <a:pPr algn="l" indent="0" marL="0">
              <a:spcAft>
                <a:spcPts val="200"/>
              </a:spcAft>
              <a:buNone/>
            </a:pPr>
            <a:r>
              <a:rPr lang="en-US" sz="1300" dirty="0">
                <a:solidFill>
                  <a:schemeClr val="bg2"/>
                </a:solidFill>
              </a:rPr>
              <a:t>Wed, 28 October 2026</a:t>
            </a:r>
            <a:endParaRPr lang="en-US" sz="1300" dirty="0"/>
          </a:p>
        </p:txBody>
      </p:sp>
      <p:pic>
        <p:nvPicPr>
          <p:cNvPr id="18" name="Picture 17" descr="College logo.png"/>
          <p:cNvPicPr>
            <a:picLocks noChangeAspect="1"/>
          </p:cNvPicPr>
          <p:nvPr/>
        </p:nvPicPr>
        <p:blipFill>
          <a:blip r:embed="rId4"/>
          <a:stretch>
            <a:fillRect/>
          </a:stretch>
        </p:blipFill>
        <p:spPr>
          <a:xfrm>
            <a:off x="9784080" y="160020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ph idx="100" type="body" hasCustomPrompt="1"/>
          </p:nvPr>
        </p:nvSpPr>
        <p:spPr>
          <a:xfrm>
            <a:off x="548640" y="292608"/>
            <a:ext cx="11094415"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CHAPTER 1  |  INTRODUCTION &amp; PROBLEM DEFINITION</a:t>
            </a:r>
            <a:endParaRPr lang="en-US" sz="1200" dirty="0"/>
          </a:p>
        </p:txBody>
      </p:sp>
      <p:sp>
        <p:nvSpPr>
          <p:cNvPr id="3" name="Text 0"/>
          <p:cNvSpPr txBox="1"/>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The Problem of Educational Credential Fraud</a:t>
            </a:r>
            <a:endParaRPr lang="en-US" sz="3200" dirty="0"/>
          </a:p>
        </p:txBody>
      </p:sp>
      <p:sp>
        <p:nvSpPr>
          <p:cNvPr id="4" name="Problem card 1"/>
          <p:cNvSpPr/>
          <p:nvPr/>
        </p:nvSpPr>
        <p:spPr>
          <a:xfrm>
            <a:off x="548640" y="1463040"/>
            <a:ext cx="3520440" cy="4800600"/>
          </a:xfrm>
          <a:prstGeom prst="roundRect">
            <a:avLst>
              <a:gd name="adj" fmla="val 2597"/>
            </a:avLst>
          </a:prstGeom>
          <a:solidFill>
            <a:schemeClr val="bg2"/>
          </a:solidFill>
          <a:ln/>
        </p:spPr>
      </p:sp>
      <p:sp>
        <p:nvSpPr>
          <p:cNvPr id="5" name="Problem icon 1 circle"/>
          <p:cNvSpPr/>
          <p:nvPr/>
        </p:nvSpPr>
        <p:spPr>
          <a:xfrm>
            <a:off x="3200400" y="1737360"/>
            <a:ext cx="594360" cy="594360"/>
          </a:xfrm>
          <a:prstGeom prst="ellipse">
            <a:avLst/>
          </a:prstGeom>
          <a:solidFill>
            <a:schemeClr val="accent3"/>
          </a:solidFill>
          <a:ln/>
        </p:spPr>
      </p:sp>
      <p:pic>
        <p:nvPicPr>
          <p:cNvPr id="6" name="Problem icon 1" descr="Problem icon 1">    </p:cNvPr>
          <p:cNvPicPr>
            <a:picLocks noChangeAspect="1"/>
          </p:cNvPicPr>
          <p:nvPr/>
        </p:nvPicPr>
        <p:blipFill>
          <a:blip r:embed="rId1"/>
          <a:stretch>
            <a:fillRect/>
          </a:stretch>
        </p:blipFill>
        <p:spPr>
          <a:xfrm>
            <a:off x="3354934" y="1891894"/>
            <a:ext cx="285293" cy="285293"/>
          </a:xfrm>
          <a:prstGeom prst="rect">
            <a:avLst/>
          </a:prstGeom>
        </p:spPr>
      </p:pic>
      <p:sp>
        <p:nvSpPr>
          <p:cNvPr id="7" name="Problem stat 1"/>
          <p:cNvSpPr txBox="1"/>
          <p:nvPr/>
        </p:nvSpPr>
        <p:spPr>
          <a:xfrm>
            <a:off x="822960" y="1783080"/>
            <a:ext cx="2560320" cy="5943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14%</a:t>
            </a:r>
            <a:endParaRPr lang="en-US" sz="3600" dirty="0"/>
          </a:p>
        </p:txBody>
      </p:sp>
      <p:sp>
        <p:nvSpPr>
          <p:cNvPr id="8" name="Problem label 1"/>
          <p:cNvSpPr txBox="1"/>
          <p:nvPr/>
        </p:nvSpPr>
        <p:spPr>
          <a:xfrm>
            <a:off x="822960" y="2514600"/>
            <a:ext cx="2971800" cy="594360"/>
          </a:xfrm>
          <a:prstGeom prst="rect">
            <a:avLst/>
          </a:prstGeom>
          <a:noFill/>
          <a:ln/>
        </p:spPr>
        <p:txBody>
          <a:bodyPr wrap="square" lIns="0" tIns="0" rIns="0" bIns="0" rtlCol="0" anchor="t"/>
          <a:lstStyle/>
          <a:p>
            <a:pPr algn="l" indent="0" marL="0">
              <a:buNone/>
            </a:pPr>
            <a:r>
              <a:rPr lang="en-US" sz="1400" dirty="0">
                <a:solidFill>
                  <a:schemeClr val="accent6"/>
                </a:solidFill>
              </a:rPr>
              <a:t>of academic resumes show altered degrees or fake marksheets</a:t>
            </a:r>
            <a:endParaRPr lang="en-US" sz="1400" dirty="0"/>
          </a:p>
        </p:txBody>
      </p:sp>
      <p:sp>
        <p:nvSpPr>
          <p:cNvPr id="9" name="Problem heading 1"/>
          <p:cNvSpPr txBox="1"/>
          <p:nvPr/>
        </p:nvSpPr>
        <p:spPr>
          <a:xfrm>
            <a:off x="822960" y="3246120"/>
            <a:ext cx="2971800" cy="320040"/>
          </a:xfrm>
          <a:prstGeom prst="rect">
            <a:avLst/>
          </a:prstGeom>
          <a:noFill/>
          <a:ln/>
        </p:spPr>
        <p:txBody>
          <a:bodyPr wrap="square" lIns="0" tIns="0" rIns="0" bIns="0" rtlCol="0" anchor="t"/>
          <a:lstStyle/>
          <a:p>
            <a:pPr algn="l" indent="0" marL="0">
              <a:buNone/>
            </a:pPr>
            <a:r>
              <a:rPr lang="en-US" sz="1800" b="1" dirty="0">
                <a:solidFill>
                  <a:schemeClr val="accent1"/>
                </a:solidFill>
              </a:rPr>
              <a:t>Certificate Forgery</a:t>
            </a:r>
            <a:endParaRPr lang="en-US" sz="1800" dirty="0"/>
          </a:p>
        </p:txBody>
      </p:sp>
      <p:sp>
        <p:nvSpPr>
          <p:cNvPr id="10" name="Problem bullets 1"/>
          <p:cNvSpPr txBox="1"/>
          <p:nvPr/>
        </p:nvSpPr>
        <p:spPr>
          <a:xfrm>
            <a:off x="822960" y="3749040"/>
            <a:ext cx="2971800" cy="2377440"/>
          </a:xfrm>
          <a:prstGeom prst="rect">
            <a:avLst/>
          </a:prstGeom>
          <a:noFill/>
          <a:ln/>
        </p:spPr>
        <p:txBody>
          <a:bodyPr wrap="square" lIns="0" tIns="0" rIns="0" bIns="0" rtlCol="0" anchor="t"/>
          <a:lstStyle/>
          <a:p>
            <a:pPr algn="l" marL="342900" indent="-342900">
              <a:spcAft>
                <a:spcPts val="1000"/>
              </a:spcAft>
              <a:buSzPct val="100000"/>
              <a:buChar char="•"/>
            </a:pPr>
            <a:r>
              <a:rPr lang="en-US" sz="1600" dirty="0">
                <a:solidFill>
                  <a:schemeClr val="tx1"/>
                </a:solidFill>
              </a:rPr>
              <a:t>AI tools and PDF editors can change CGPA, roll numbers and names in minutes</a:t>
            </a:r>
            <a:endParaRPr lang="en-US" sz="1600" dirty="0"/>
          </a:p>
          <a:p>
            <a:pPr algn="l" marL="342900" indent="-342900">
              <a:spcAft>
                <a:spcPts val="1000"/>
              </a:spcAft>
              <a:buSzPct val="100000"/>
              <a:buChar char="•"/>
            </a:pPr>
            <a:r>
              <a:rPr lang="en-US" sz="1600" dirty="0">
                <a:solidFill>
                  <a:schemeClr val="tx1"/>
                </a:solidFill>
              </a:rPr>
              <a:t>Watermarks, foil crests and signatures no longer protect digital PDFs</a:t>
            </a:r>
            <a:endParaRPr lang="en-US" sz="1600" dirty="0"/>
          </a:p>
        </p:txBody>
      </p:sp>
      <p:sp>
        <p:nvSpPr>
          <p:cNvPr id="11" name="Problem card 2"/>
          <p:cNvSpPr/>
          <p:nvPr/>
        </p:nvSpPr>
        <p:spPr>
          <a:xfrm>
            <a:off x="4334256" y="1463040"/>
            <a:ext cx="3520440" cy="4800600"/>
          </a:xfrm>
          <a:prstGeom prst="roundRect">
            <a:avLst>
              <a:gd name="adj" fmla="val 2597"/>
            </a:avLst>
          </a:prstGeom>
          <a:solidFill>
            <a:schemeClr val="bg2"/>
          </a:solidFill>
          <a:ln/>
        </p:spPr>
      </p:sp>
      <p:sp>
        <p:nvSpPr>
          <p:cNvPr id="12" name="Problem icon 2 circle"/>
          <p:cNvSpPr/>
          <p:nvPr/>
        </p:nvSpPr>
        <p:spPr>
          <a:xfrm>
            <a:off x="6986016" y="1737360"/>
            <a:ext cx="594360" cy="594360"/>
          </a:xfrm>
          <a:prstGeom prst="ellipse">
            <a:avLst/>
          </a:prstGeom>
          <a:solidFill>
            <a:schemeClr val="accent2"/>
          </a:solidFill>
          <a:ln/>
        </p:spPr>
      </p:sp>
      <p:pic>
        <p:nvPicPr>
          <p:cNvPr id="13" name="Problem icon 2" descr="Problem icon 2">    </p:cNvPr>
          <p:cNvPicPr>
            <a:picLocks noChangeAspect="1"/>
          </p:cNvPicPr>
          <p:nvPr/>
        </p:nvPicPr>
        <p:blipFill>
          <a:blip r:embed="rId2"/>
          <a:stretch>
            <a:fillRect/>
          </a:stretch>
        </p:blipFill>
        <p:spPr>
          <a:xfrm>
            <a:off x="7140550" y="1891894"/>
            <a:ext cx="285293" cy="285293"/>
          </a:xfrm>
          <a:prstGeom prst="rect">
            <a:avLst/>
          </a:prstGeom>
        </p:spPr>
      </p:pic>
      <p:sp>
        <p:nvSpPr>
          <p:cNvPr id="14" name="Problem stat 2"/>
          <p:cNvSpPr txBox="1"/>
          <p:nvPr/>
        </p:nvSpPr>
        <p:spPr>
          <a:xfrm>
            <a:off x="4608576" y="1783080"/>
            <a:ext cx="2560320" cy="5943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14-30 days</a:t>
            </a:r>
            <a:endParaRPr lang="en-US" sz="3600" dirty="0"/>
          </a:p>
        </p:txBody>
      </p:sp>
      <p:sp>
        <p:nvSpPr>
          <p:cNvPr id="15" name="Problem label 2"/>
          <p:cNvSpPr txBox="1"/>
          <p:nvPr/>
        </p:nvSpPr>
        <p:spPr>
          <a:xfrm>
            <a:off x="4608576" y="2514600"/>
            <a:ext cx="2971800" cy="594360"/>
          </a:xfrm>
          <a:prstGeom prst="rect">
            <a:avLst/>
          </a:prstGeom>
          <a:noFill/>
          <a:ln/>
        </p:spPr>
        <p:txBody>
          <a:bodyPr wrap="square" lIns="0" tIns="0" rIns="0" bIns="0" rtlCol="0" anchor="t"/>
          <a:lstStyle/>
          <a:p>
            <a:pPr algn="l" indent="0" marL="0">
              <a:buNone/>
            </a:pPr>
            <a:r>
              <a:rPr lang="en-US" sz="1400" dirty="0">
                <a:solidFill>
                  <a:schemeClr val="accent6"/>
                </a:solidFill>
              </a:rPr>
              <a:t>manual background-verification turnaround</a:t>
            </a:r>
            <a:endParaRPr lang="en-US" sz="1400" dirty="0"/>
          </a:p>
        </p:txBody>
      </p:sp>
      <p:sp>
        <p:nvSpPr>
          <p:cNvPr id="16" name="Problem heading 2"/>
          <p:cNvSpPr txBox="1"/>
          <p:nvPr/>
        </p:nvSpPr>
        <p:spPr>
          <a:xfrm>
            <a:off x="4608576" y="3246120"/>
            <a:ext cx="2971800" cy="320040"/>
          </a:xfrm>
          <a:prstGeom prst="rect">
            <a:avLst/>
          </a:prstGeom>
          <a:noFill/>
          <a:ln/>
        </p:spPr>
        <p:txBody>
          <a:bodyPr wrap="square" lIns="0" tIns="0" rIns="0" bIns="0" rtlCol="0" anchor="t"/>
          <a:lstStyle/>
          <a:p>
            <a:pPr algn="l" indent="0" marL="0">
              <a:buNone/>
            </a:pPr>
            <a:r>
              <a:rPr lang="en-US" sz="1800" b="1" dirty="0">
                <a:solidFill>
                  <a:schemeClr val="accent1"/>
                </a:solidFill>
              </a:rPr>
              <a:t>Administrative Delay &amp; Cost</a:t>
            </a:r>
            <a:endParaRPr lang="en-US" sz="1800" dirty="0"/>
          </a:p>
        </p:txBody>
      </p:sp>
      <p:sp>
        <p:nvSpPr>
          <p:cNvPr id="17" name="Problem bullets 2"/>
          <p:cNvSpPr txBox="1"/>
          <p:nvPr/>
        </p:nvSpPr>
        <p:spPr>
          <a:xfrm>
            <a:off x="4608576" y="3749040"/>
            <a:ext cx="2971800" cy="2377440"/>
          </a:xfrm>
          <a:prstGeom prst="rect">
            <a:avLst/>
          </a:prstGeom>
          <a:noFill/>
          <a:ln/>
        </p:spPr>
        <p:txBody>
          <a:bodyPr wrap="square" lIns="0" tIns="0" rIns="0" bIns="0" rtlCol="0" anchor="t"/>
          <a:lstStyle/>
          <a:p>
            <a:pPr algn="l" marL="342900" indent="-342900">
              <a:spcAft>
                <a:spcPts val="1000"/>
              </a:spcAft>
              <a:buSzPct val="100000"/>
              <a:buChar char="•"/>
            </a:pPr>
            <a:r>
              <a:rPr lang="en-US" sz="1600" dirty="0">
                <a:solidFill>
                  <a:schemeClr val="tx1"/>
                </a:solidFill>
              </a:rPr>
              <a:t>Postal inquiries and emails to registrar exam cells delay campus onboarding</a:t>
            </a:r>
            <a:endParaRPr lang="en-US" sz="1600" dirty="0"/>
          </a:p>
          <a:p>
            <a:pPr algn="l" marL="342900" indent="-342900">
              <a:spcAft>
                <a:spcPts val="1000"/>
              </a:spcAft>
              <a:buSzPct val="100000"/>
              <a:buChar char="•"/>
            </a:pPr>
            <a:r>
              <a:rPr lang="en-US" sz="1600" dirty="0">
                <a:solidFill>
                  <a:schemeClr val="tx1"/>
                </a:solidFill>
              </a:rPr>
              <a:t>Universities dedicate full-time staff to verification requests</a:t>
            </a:r>
            <a:endParaRPr lang="en-US" sz="1600" dirty="0"/>
          </a:p>
        </p:txBody>
      </p:sp>
      <p:sp>
        <p:nvSpPr>
          <p:cNvPr id="18" name="Problem card 3"/>
          <p:cNvSpPr/>
          <p:nvPr/>
        </p:nvSpPr>
        <p:spPr>
          <a:xfrm>
            <a:off x="8119872" y="1463040"/>
            <a:ext cx="3520440" cy="4800600"/>
          </a:xfrm>
          <a:prstGeom prst="roundRect">
            <a:avLst>
              <a:gd name="adj" fmla="val 2597"/>
            </a:avLst>
          </a:prstGeom>
          <a:solidFill>
            <a:schemeClr val="bg2"/>
          </a:solidFill>
          <a:ln/>
        </p:spPr>
      </p:sp>
      <p:sp>
        <p:nvSpPr>
          <p:cNvPr id="19" name="Problem icon 3 circle"/>
          <p:cNvSpPr/>
          <p:nvPr/>
        </p:nvSpPr>
        <p:spPr>
          <a:xfrm>
            <a:off x="10771632" y="1737360"/>
            <a:ext cx="594360" cy="594360"/>
          </a:xfrm>
          <a:prstGeom prst="ellipse">
            <a:avLst/>
          </a:prstGeom>
          <a:solidFill>
            <a:schemeClr val="accent1"/>
          </a:solidFill>
          <a:ln/>
        </p:spPr>
      </p:sp>
      <p:pic>
        <p:nvPicPr>
          <p:cNvPr id="20" name="Problem icon 3" descr="Problem icon 3">    </p:cNvPr>
          <p:cNvPicPr>
            <a:picLocks noChangeAspect="1"/>
          </p:cNvPicPr>
          <p:nvPr/>
        </p:nvPicPr>
        <p:blipFill>
          <a:blip r:embed="rId3"/>
          <a:stretch>
            <a:fillRect/>
          </a:stretch>
        </p:blipFill>
        <p:spPr>
          <a:xfrm>
            <a:off x="10926166" y="1891894"/>
            <a:ext cx="285293" cy="285293"/>
          </a:xfrm>
          <a:prstGeom prst="rect">
            <a:avLst/>
          </a:prstGeom>
        </p:spPr>
      </p:pic>
      <p:sp>
        <p:nvSpPr>
          <p:cNvPr id="21" name="Problem stat 3"/>
          <p:cNvSpPr txBox="1"/>
          <p:nvPr/>
        </p:nvSpPr>
        <p:spPr>
          <a:xfrm>
            <a:off x="8394192" y="1783080"/>
            <a:ext cx="2560320" cy="5943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DPDP 2023</a:t>
            </a:r>
            <a:endParaRPr lang="en-US" sz="3600" dirty="0"/>
          </a:p>
        </p:txBody>
      </p:sp>
      <p:sp>
        <p:nvSpPr>
          <p:cNvPr id="22" name="Problem label 3"/>
          <p:cNvSpPr txBox="1"/>
          <p:nvPr/>
        </p:nvSpPr>
        <p:spPr>
          <a:xfrm>
            <a:off x="8394192" y="2514600"/>
            <a:ext cx="2971800" cy="594360"/>
          </a:xfrm>
          <a:prstGeom prst="rect">
            <a:avLst/>
          </a:prstGeom>
          <a:noFill/>
          <a:ln/>
        </p:spPr>
        <p:txBody>
          <a:bodyPr wrap="square" lIns="0" tIns="0" rIns="0" bIns="0" rtlCol="0" anchor="t"/>
          <a:lstStyle/>
          <a:p>
            <a:pPr algn="l" indent="0" marL="0">
              <a:buNone/>
            </a:pPr>
            <a:r>
              <a:rPr lang="en-US" sz="1400" dirty="0">
                <a:solidFill>
                  <a:schemeClr val="accent6"/>
                </a:solidFill>
              </a:rPr>
              <a:t>legal exposure from emailing unencrypted transcripts</a:t>
            </a:r>
            <a:endParaRPr lang="en-US" sz="1400" dirty="0"/>
          </a:p>
        </p:txBody>
      </p:sp>
      <p:sp>
        <p:nvSpPr>
          <p:cNvPr id="23" name="Problem heading 3"/>
          <p:cNvSpPr txBox="1"/>
          <p:nvPr/>
        </p:nvSpPr>
        <p:spPr>
          <a:xfrm>
            <a:off x="8394192" y="3246120"/>
            <a:ext cx="2971800" cy="320040"/>
          </a:xfrm>
          <a:prstGeom prst="rect">
            <a:avLst/>
          </a:prstGeom>
          <a:noFill/>
          <a:ln/>
        </p:spPr>
        <p:txBody>
          <a:bodyPr wrap="square" lIns="0" tIns="0" rIns="0" bIns="0" rtlCol="0" anchor="t"/>
          <a:lstStyle/>
          <a:p>
            <a:pPr algn="l" indent="0" marL="0">
              <a:buNone/>
            </a:pPr>
            <a:r>
              <a:rPr lang="en-US" sz="1800" b="1" dirty="0">
                <a:solidFill>
                  <a:schemeClr val="accent1"/>
                </a:solidFill>
              </a:rPr>
              <a:t>Database &amp; Privacy Risks</a:t>
            </a:r>
            <a:endParaRPr lang="en-US" sz="1800" dirty="0"/>
          </a:p>
        </p:txBody>
      </p:sp>
      <p:sp>
        <p:nvSpPr>
          <p:cNvPr id="24" name="Problem bullets 3"/>
          <p:cNvSpPr txBox="1"/>
          <p:nvPr/>
        </p:nvSpPr>
        <p:spPr>
          <a:xfrm>
            <a:off x="8394192" y="3749040"/>
            <a:ext cx="2971800" cy="2377440"/>
          </a:xfrm>
          <a:prstGeom prst="rect">
            <a:avLst/>
          </a:prstGeom>
          <a:noFill/>
          <a:ln/>
        </p:spPr>
        <p:txBody>
          <a:bodyPr wrap="square" lIns="0" tIns="0" rIns="0" bIns="0" rtlCol="0" anchor="t"/>
          <a:lstStyle/>
          <a:p>
            <a:pPr algn="l" marL="342900" indent="-342900">
              <a:spcAft>
                <a:spcPts val="1000"/>
              </a:spcAft>
              <a:buSzPct val="100000"/>
              <a:buChar char="•"/>
            </a:pPr>
            <a:r>
              <a:rPr lang="en-US" sz="1600" dirty="0">
                <a:solidFill>
                  <a:schemeClr val="tx1"/>
                </a:solidFill>
              </a:rPr>
              <a:t>Central SQL servers are exposed to insider bribery, ransomware and crashes</a:t>
            </a:r>
            <a:endParaRPr lang="en-US" sz="1600" dirty="0"/>
          </a:p>
          <a:p>
            <a:pPr algn="l" marL="342900" indent="-342900">
              <a:spcAft>
                <a:spcPts val="1000"/>
              </a:spcAft>
              <a:buSzPct val="100000"/>
              <a:buChar char="•"/>
            </a:pPr>
            <a:r>
              <a:rPr lang="en-US" sz="1600" dirty="0">
                <a:solidFill>
                  <a:schemeClr val="tx1"/>
                </a:solidFill>
              </a:rPr>
              <a:t>Leaked personal data can lead to legal fines</a:t>
            </a:r>
            <a:endParaRPr lang="en-US" sz="1600" dirty="0"/>
          </a:p>
          <a:p>
            <a:pPr algn="l" marL="342900" indent="-342900">
              <a:spcAft>
                <a:spcPts val="1000"/>
              </a:spcAft>
              <a:buSzPct val="100000"/>
              <a:buChar char="•"/>
            </a:pPr>
            <a:r>
              <a:rPr lang="en-US" sz="1600" dirty="0">
                <a:solidFill>
                  <a:schemeClr val="tx1"/>
                </a:solidFill>
              </a:rPr>
              <a:t>Destructive revocation erases audit evidence</a:t>
            </a:r>
            <a:endParaRPr lang="en-US" sz="16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ph idx="100" type="body" hasCustomPrompt="1"/>
          </p:nvPr>
        </p:nvSpPr>
        <p:spPr>
          <a:xfrm>
            <a:off x="548640" y="292608"/>
            <a:ext cx="11094415"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TECHNICAL OBJECTIVES  [IA, OC]</a:t>
            </a:r>
            <a:endParaRPr lang="en-US" sz="1200" dirty="0"/>
          </a:p>
        </p:txBody>
      </p:sp>
      <p:sp>
        <p:nvSpPr>
          <p:cNvPr id="3" name="Text 0"/>
          <p:cNvSpPr txBox="1"/>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Five Technical Objectives</a:t>
            </a:r>
            <a:endParaRPr lang="en-US" sz="3200" dirty="0"/>
          </a:p>
        </p:txBody>
      </p:sp>
      <p:sp>
        <p:nvSpPr>
          <p:cNvPr id="4" name="Objective card 1"/>
          <p:cNvSpPr/>
          <p:nvPr/>
        </p:nvSpPr>
        <p:spPr>
          <a:xfrm>
            <a:off x="548640" y="1463040"/>
            <a:ext cx="6858000" cy="868680"/>
          </a:xfrm>
          <a:prstGeom prst="roundRect">
            <a:avLst>
              <a:gd name="adj" fmla="val 10526"/>
            </a:avLst>
          </a:prstGeom>
          <a:solidFill>
            <a:schemeClr val="bg2"/>
          </a:solidFill>
          <a:ln/>
        </p:spPr>
      </p:sp>
      <p:sp>
        <p:nvSpPr>
          <p:cNvPr id="5" name="Objective number 1"/>
          <p:cNvSpPr/>
          <p:nvPr/>
        </p:nvSpPr>
        <p:spPr>
          <a:xfrm>
            <a:off x="731520" y="166878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Objective text 1"/>
          <p:cNvSpPr txBox="1"/>
          <p:nvPr/>
        </p:nvSpPr>
        <p:spPr>
          <a:xfrm>
            <a:off x="1417320" y="1554480"/>
            <a:ext cx="5852160" cy="713232"/>
          </a:xfrm>
          <a:prstGeom prst="rect">
            <a:avLst/>
          </a:prstGeom>
          <a:noFill/>
          <a:ln/>
        </p:spPr>
        <p:txBody>
          <a:bodyPr wrap="square" lIns="0" tIns="0" rIns="0" bIns="0" rtlCol="0" anchor="t"/>
          <a:lstStyle/>
          <a:p>
            <a:pPr algn="l" indent="0" marL="0">
              <a:buNone/>
            </a:pPr>
            <a:r>
              <a:rPr lang="en-US" sz="1400" b="1" dirty="0">
                <a:solidFill>
                  <a:schemeClr val="tx2"/>
                </a:solidFill>
              </a:rPr>
              <a:t>Smart Contract Engineering</a:t>
            </a:r>
            <a:endParaRPr lang="en-US" sz="1400" dirty="0"/>
          </a:p>
          <a:p>
            <a:pPr algn="l" indent="0" marL="0">
              <a:buNone/>
            </a:pPr>
            <a:r>
              <a:rPr lang="en-US" sz="1300" dirty="0">
                <a:solidFill>
                  <a:schemeClr val="tx1"/>
                </a:solidFill>
              </a:rPr>
              <a:t>Solidity 0.8.20 CredentialRegistry.sol on OpenZeppelin v5: O(1) issuance, batch processing, non-destructive revocation</a:t>
            </a:r>
            <a:endParaRPr lang="en-US" sz="1400" dirty="0"/>
          </a:p>
        </p:txBody>
      </p:sp>
      <p:sp>
        <p:nvSpPr>
          <p:cNvPr id="7" name="Objective card 2"/>
          <p:cNvSpPr/>
          <p:nvPr/>
        </p:nvSpPr>
        <p:spPr>
          <a:xfrm>
            <a:off x="548640" y="2441448"/>
            <a:ext cx="6858000" cy="868680"/>
          </a:xfrm>
          <a:prstGeom prst="roundRect">
            <a:avLst>
              <a:gd name="adj" fmla="val 10526"/>
            </a:avLst>
          </a:prstGeom>
          <a:solidFill>
            <a:schemeClr val="bg2"/>
          </a:solidFill>
          <a:ln/>
        </p:spPr>
      </p:sp>
      <p:sp>
        <p:nvSpPr>
          <p:cNvPr id="8" name="Objective number 2"/>
          <p:cNvSpPr/>
          <p:nvPr/>
        </p:nvSpPr>
        <p:spPr>
          <a:xfrm>
            <a:off x="731520" y="2647188"/>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Objective text 2"/>
          <p:cNvSpPr txBox="1"/>
          <p:nvPr/>
        </p:nvSpPr>
        <p:spPr>
          <a:xfrm>
            <a:off x="1417320" y="2532888"/>
            <a:ext cx="5852160" cy="713232"/>
          </a:xfrm>
          <a:prstGeom prst="rect">
            <a:avLst/>
          </a:prstGeom>
          <a:noFill/>
          <a:ln/>
        </p:spPr>
        <p:txBody>
          <a:bodyPr wrap="square" lIns="0" tIns="0" rIns="0" bIns="0" rtlCol="0" anchor="t"/>
          <a:lstStyle/>
          <a:p>
            <a:pPr algn="l" indent="0" marL="0">
              <a:buNone/>
            </a:pPr>
            <a:r>
              <a:rPr lang="en-US" sz="1400" b="1" dirty="0">
                <a:solidFill>
                  <a:schemeClr val="tx2"/>
                </a:solidFill>
              </a:rPr>
              <a:t>Client-Side Cryptography</a:t>
            </a:r>
            <a:endParaRPr lang="en-US" sz="1400" dirty="0"/>
          </a:p>
          <a:p>
            <a:pPr algn="l" indent="0" marL="0">
              <a:buNone/>
            </a:pPr>
            <a:r>
              <a:rPr lang="en-US" sz="1300" dirty="0">
                <a:solidFill>
                  <a:schemeClr val="tx1"/>
                </a:solidFill>
              </a:rPr>
              <a:t>Browser-native SHA-256 via W3C Web Crypto API in under 50 ms; raw files are never transmitted</a:t>
            </a:r>
            <a:endParaRPr lang="en-US" sz="1400" dirty="0"/>
          </a:p>
        </p:txBody>
      </p:sp>
      <p:sp>
        <p:nvSpPr>
          <p:cNvPr id="10" name="Objective card 3"/>
          <p:cNvSpPr/>
          <p:nvPr/>
        </p:nvSpPr>
        <p:spPr>
          <a:xfrm>
            <a:off x="548640" y="3419856"/>
            <a:ext cx="6858000" cy="868680"/>
          </a:xfrm>
          <a:prstGeom prst="roundRect">
            <a:avLst>
              <a:gd name="adj" fmla="val 10526"/>
            </a:avLst>
          </a:prstGeom>
          <a:solidFill>
            <a:schemeClr val="bg2"/>
          </a:solidFill>
          <a:ln/>
        </p:spPr>
      </p:sp>
      <p:sp>
        <p:nvSpPr>
          <p:cNvPr id="11" name="Objective number 3"/>
          <p:cNvSpPr/>
          <p:nvPr/>
        </p:nvSpPr>
        <p:spPr>
          <a:xfrm>
            <a:off x="731520" y="3625596"/>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2" name="Objective text 3"/>
          <p:cNvSpPr txBox="1"/>
          <p:nvPr/>
        </p:nvSpPr>
        <p:spPr>
          <a:xfrm>
            <a:off x="1417320" y="3511296"/>
            <a:ext cx="5852160" cy="713232"/>
          </a:xfrm>
          <a:prstGeom prst="rect">
            <a:avLst/>
          </a:prstGeom>
          <a:noFill/>
          <a:ln/>
        </p:spPr>
        <p:txBody>
          <a:bodyPr wrap="square" lIns="0" tIns="0" rIns="0" bIns="0" rtlCol="0" anchor="t"/>
          <a:lstStyle/>
          <a:p>
            <a:pPr algn="l" indent="0" marL="0">
              <a:buNone/>
            </a:pPr>
            <a:r>
              <a:rPr lang="en-US" sz="1400" b="1" dirty="0">
                <a:solidFill>
                  <a:schemeClr val="tx2"/>
                </a:solidFill>
              </a:rPr>
              <a:t>Decentralized Storage Decoupling</a:t>
            </a:r>
            <a:endParaRPr lang="en-US" sz="1400" dirty="0"/>
          </a:p>
          <a:p>
            <a:pPr algn="l" indent="0" marL="0">
              <a:buNone/>
            </a:pPr>
            <a:r>
              <a:rPr lang="en-US" sz="1300" dirty="0">
                <a:solidFill>
                  <a:schemeClr val="tx1"/>
                </a:solidFill>
              </a:rPr>
              <a:t>Off-chain IPFS (CID) keeps heavy PDF files off the ledger, which cuts gas costs</a:t>
            </a:r>
            <a:endParaRPr lang="en-US" sz="1400" dirty="0"/>
          </a:p>
        </p:txBody>
      </p:sp>
      <p:sp>
        <p:nvSpPr>
          <p:cNvPr id="13" name="Objective card 4"/>
          <p:cNvSpPr/>
          <p:nvPr/>
        </p:nvSpPr>
        <p:spPr>
          <a:xfrm>
            <a:off x="548640" y="4398264"/>
            <a:ext cx="6858000" cy="868680"/>
          </a:xfrm>
          <a:prstGeom prst="roundRect">
            <a:avLst>
              <a:gd name="adj" fmla="val 10526"/>
            </a:avLst>
          </a:prstGeom>
          <a:solidFill>
            <a:schemeClr val="bg2"/>
          </a:solidFill>
          <a:ln/>
        </p:spPr>
      </p:sp>
      <p:sp>
        <p:nvSpPr>
          <p:cNvPr id="14" name="Objective number 4"/>
          <p:cNvSpPr/>
          <p:nvPr/>
        </p:nvSpPr>
        <p:spPr>
          <a:xfrm>
            <a:off x="731520" y="4604004"/>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5" name="Objective text 4"/>
          <p:cNvSpPr txBox="1"/>
          <p:nvPr/>
        </p:nvSpPr>
        <p:spPr>
          <a:xfrm>
            <a:off x="1417320" y="4489704"/>
            <a:ext cx="5852160" cy="713232"/>
          </a:xfrm>
          <a:prstGeom prst="rect">
            <a:avLst/>
          </a:prstGeom>
          <a:noFill/>
          <a:ln/>
        </p:spPr>
        <p:txBody>
          <a:bodyPr wrap="square" lIns="0" tIns="0" rIns="0" bIns="0" rtlCol="0" anchor="t"/>
          <a:lstStyle/>
          <a:p>
            <a:pPr algn="l" indent="0" marL="0">
              <a:buNone/>
            </a:pPr>
            <a:r>
              <a:rPr lang="en-US" sz="1400" b="1" dirty="0">
                <a:solidFill>
                  <a:schemeClr val="tx2"/>
                </a:solidFill>
              </a:rPr>
              <a:t>Automated Testing</a:t>
            </a:r>
            <a:endParaRPr lang="en-US" sz="1400" dirty="0"/>
          </a:p>
          <a:p>
            <a:pPr algn="l" indent="0" marL="0">
              <a:buNone/>
            </a:pPr>
            <a:r>
              <a:rPr lang="en-US" sz="1300" dirty="0">
                <a:solidFill>
                  <a:schemeClr val="tx1"/>
                </a:solidFill>
              </a:rPr>
              <a:t>25+ scenario Hardhat &amp; Chai test suite covering normal flows, boundary checks and circuit-breaker states</a:t>
            </a:r>
            <a:endParaRPr lang="en-US" sz="1400" dirty="0"/>
          </a:p>
        </p:txBody>
      </p:sp>
      <p:sp>
        <p:nvSpPr>
          <p:cNvPr id="16" name="Objective card 5"/>
          <p:cNvSpPr/>
          <p:nvPr/>
        </p:nvSpPr>
        <p:spPr>
          <a:xfrm>
            <a:off x="548640" y="5376672"/>
            <a:ext cx="6858000" cy="868680"/>
          </a:xfrm>
          <a:prstGeom prst="roundRect">
            <a:avLst>
              <a:gd name="adj" fmla="val 10526"/>
            </a:avLst>
          </a:prstGeom>
          <a:solidFill>
            <a:schemeClr val="bg2"/>
          </a:solidFill>
          <a:ln/>
        </p:spPr>
      </p:sp>
      <p:sp>
        <p:nvSpPr>
          <p:cNvPr id="17" name="Objective number 5"/>
          <p:cNvSpPr/>
          <p:nvPr/>
        </p:nvSpPr>
        <p:spPr>
          <a:xfrm>
            <a:off x="731520" y="5582412"/>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8" name="Objective text 5"/>
          <p:cNvSpPr txBox="1"/>
          <p:nvPr/>
        </p:nvSpPr>
        <p:spPr>
          <a:xfrm>
            <a:off x="1417320" y="5468112"/>
            <a:ext cx="5852160" cy="713232"/>
          </a:xfrm>
          <a:prstGeom prst="rect">
            <a:avLst/>
          </a:prstGeom>
          <a:noFill/>
          <a:ln/>
        </p:spPr>
        <p:txBody>
          <a:bodyPr wrap="square" lIns="0" tIns="0" rIns="0" bIns="0" rtlCol="0" anchor="t"/>
          <a:lstStyle/>
          <a:p>
            <a:pPr algn="l" indent="0" marL="0">
              <a:buNone/>
            </a:pPr>
            <a:r>
              <a:rPr lang="en-US" sz="1400" b="1" dirty="0">
                <a:solidFill>
                  <a:schemeClr val="tx2"/>
                </a:solidFill>
              </a:rPr>
              <a:t>DPDP Act Compliance</a:t>
            </a:r>
            <a:endParaRPr lang="en-US" sz="1400" dirty="0"/>
          </a:p>
          <a:p>
            <a:pPr algn="l" indent="0" marL="0">
              <a:buNone/>
            </a:pPr>
            <a:r>
              <a:rPr lang="en-US" sz="1300" dirty="0">
                <a:solidFill>
                  <a:schemeClr val="tx1"/>
                </a:solidFill>
              </a:rPr>
              <a:t>Zero cleartext PII anchored to the immutable ledger</a:t>
            </a:r>
            <a:endParaRPr lang="en-US" sz="1400" dirty="0"/>
          </a:p>
        </p:txBody>
      </p:sp>
      <p:sp>
        <p:nvSpPr>
          <p:cNvPr id="19" name="Innovation panel"/>
          <p:cNvSpPr/>
          <p:nvPr/>
        </p:nvSpPr>
        <p:spPr>
          <a:xfrm>
            <a:off x="7680960" y="1463040"/>
            <a:ext cx="3959352" cy="4782312"/>
          </a:xfrm>
          <a:prstGeom prst="roundRect">
            <a:avLst>
              <a:gd name="adj" fmla="val 2309"/>
            </a:avLst>
          </a:prstGeom>
          <a:solidFill>
            <a:schemeClr val="tx2"/>
          </a:solidFill>
          <a:ln/>
        </p:spPr>
      </p:sp>
      <p:sp>
        <p:nvSpPr>
          <p:cNvPr id="20" name="Innovation eyebrow"/>
          <p:cNvSpPr txBox="1"/>
          <p:nvPr/>
        </p:nvSpPr>
        <p:spPr>
          <a:xfrm>
            <a:off x="8001000" y="1737360"/>
            <a:ext cx="338328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THE HASH-ON-CHAIN APPROACH</a:t>
            </a:r>
            <a:endParaRPr lang="en-US" sz="1200" dirty="0"/>
          </a:p>
        </p:txBody>
      </p:sp>
      <p:sp>
        <p:nvSpPr>
          <p:cNvPr id="21" name="Innovation stat"/>
          <p:cNvSpPr txBox="1"/>
          <p:nvPr/>
        </p:nvSpPr>
        <p:spPr>
          <a:xfrm>
            <a:off x="8001000" y="2148840"/>
            <a:ext cx="3383280" cy="777240"/>
          </a:xfrm>
          <a:prstGeom prst="rect">
            <a:avLst/>
          </a:prstGeom>
          <a:noFill/>
          <a:ln/>
        </p:spPr>
        <p:txBody>
          <a:bodyPr wrap="square" lIns="0" tIns="0" rIns="0" bIns="0" rtlCol="0" anchor="t"/>
          <a:lstStyle/>
          <a:p>
            <a:pPr algn="l" indent="0" marL="0">
              <a:buNone/>
            </a:pPr>
            <a:r>
              <a:rPr lang="en-US" sz="5400" b="1" dirty="0">
                <a:solidFill>
                  <a:schemeClr val="bg1"/>
                </a:solidFill>
                <a:latin typeface="Cambria" pitchFamily="34" charset="0"/>
                <a:ea typeface="Cambria" pitchFamily="34" charset="-122"/>
                <a:cs typeface="Cambria" pitchFamily="34" charset="-120"/>
              </a:rPr>
              <a:t>32 bytes</a:t>
            </a:r>
            <a:endParaRPr lang="en-US" sz="5400" dirty="0"/>
          </a:p>
        </p:txBody>
      </p:sp>
      <p:sp>
        <p:nvSpPr>
          <p:cNvPr id="22" name="Innovation caption"/>
          <p:cNvSpPr txBox="1"/>
          <p:nvPr/>
        </p:nvSpPr>
        <p:spPr>
          <a:xfrm>
            <a:off x="8001000" y="3017520"/>
            <a:ext cx="3337560" cy="914400"/>
          </a:xfrm>
          <a:prstGeom prst="rect">
            <a:avLst/>
          </a:prstGeom>
          <a:noFill/>
          <a:ln/>
        </p:spPr>
        <p:txBody>
          <a:bodyPr wrap="square" lIns="0" tIns="0" rIns="0" bIns="0" rtlCol="0" anchor="t"/>
          <a:lstStyle/>
          <a:p>
            <a:pPr algn="l" indent="0" marL="0">
              <a:buNone/>
            </a:pPr>
            <a:r>
              <a:rPr lang="en-US" sz="1500" dirty="0">
                <a:solidFill>
                  <a:schemeClr val="bg2"/>
                </a:solidFill>
              </a:rPr>
              <a:t>is the on-chain footprint of a credential: a SHA-256 digest, student SAP ID and issuer authorization.</a:t>
            </a:r>
            <a:endParaRPr lang="en-US" sz="1500" dirty="0"/>
          </a:p>
        </p:txBody>
      </p:sp>
      <p:sp>
        <p:nvSpPr>
          <p:cNvPr id="23" name="Innovation contrast"/>
          <p:cNvSpPr txBox="1"/>
          <p:nvPr/>
        </p:nvSpPr>
        <p:spPr>
          <a:xfrm>
            <a:off x="8001000" y="4160520"/>
            <a:ext cx="3337560" cy="640080"/>
          </a:xfrm>
          <a:prstGeom prst="rect">
            <a:avLst/>
          </a:prstGeom>
          <a:noFill/>
          <a:ln/>
        </p:spPr>
        <p:txBody>
          <a:bodyPr wrap="square" lIns="0" tIns="0" rIns="0" bIns="0" rtlCol="0" anchor="t"/>
          <a:lstStyle/>
          <a:p>
            <a:pPr algn="l" indent="0" marL="0">
              <a:buNone/>
            </a:pPr>
            <a:r>
              <a:rPr lang="en-US" sz="1500" b="1" dirty="0">
                <a:solidFill>
                  <a:schemeClr val="accent5"/>
                </a:solidFill>
              </a:rPr>
              <a:t>Storing full PDFs on Ethereum costs over $80 per certificate.</a:t>
            </a:r>
            <a:endParaRPr lang="en-US" sz="1500" dirty="0"/>
          </a:p>
        </p:txBody>
      </p:sp>
      <p:sp>
        <p:nvSpPr>
          <p:cNvPr id="24" name="Innovation trilemma"/>
          <p:cNvSpPr txBox="1"/>
          <p:nvPr/>
        </p:nvSpPr>
        <p:spPr>
          <a:xfrm>
            <a:off x="8001000" y="4983480"/>
            <a:ext cx="3337560" cy="1005840"/>
          </a:xfrm>
          <a:prstGeom prst="rect">
            <a:avLst/>
          </a:prstGeom>
          <a:noFill/>
          <a:ln/>
        </p:spPr>
        <p:txBody>
          <a:bodyPr wrap="square" lIns="0" tIns="0" rIns="0" bIns="0" rtlCol="0" anchor="t"/>
          <a:lstStyle/>
          <a:p>
            <a:pPr algn="l" indent="0" marL="0">
              <a:buNone/>
            </a:pPr>
            <a:r>
              <a:rPr lang="en-US" sz="1400" dirty="0">
                <a:solidFill>
                  <a:schemeClr val="bg2"/>
                </a:solidFill>
              </a:rPr>
              <a:t>Together this gives tamper-proof EVM immutability, zero-gas view queries and legal privacy compliance.</a:t>
            </a:r>
            <a:endParaRPr lang="en-US" sz="14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ph idx="100" type="body" hasCustomPrompt="1"/>
          </p:nvPr>
        </p:nvSpPr>
        <p:spPr>
          <a:xfrm>
            <a:off x="548640" y="292608"/>
            <a:ext cx="11094415"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CORE METHODOLOGY</a:t>
            </a:r>
            <a:endParaRPr lang="en-US" sz="1200" dirty="0"/>
          </a:p>
        </p:txBody>
      </p:sp>
      <p:sp>
        <p:nvSpPr>
          <p:cNvPr id="3" name="Text 0"/>
          <p:cNvSpPr txBox="1"/>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The Dual-Layer Hybrid Architecture</a:t>
            </a:r>
            <a:endParaRPr lang="en-US" sz="3200" dirty="0"/>
          </a:p>
        </p:txBody>
      </p:sp>
      <p:sp>
        <p:nvSpPr>
          <p:cNvPr id="4" name="On-chain card"/>
          <p:cNvSpPr/>
          <p:nvPr/>
        </p:nvSpPr>
        <p:spPr>
          <a:xfrm>
            <a:off x="548640" y="1463040"/>
            <a:ext cx="5120640" cy="2743200"/>
          </a:xfrm>
          <a:prstGeom prst="roundRect">
            <a:avLst>
              <a:gd name="adj" fmla="val 3333"/>
            </a:avLst>
          </a:prstGeom>
          <a:solidFill>
            <a:schemeClr val="accent1">
              <a:alpha val="10000"/>
            </a:schemeClr>
          </a:solidFill>
          <a:ln/>
        </p:spPr>
      </p:sp>
      <p:sp>
        <p:nvSpPr>
          <p:cNvPr id="5" name="Off-chain card"/>
          <p:cNvSpPr/>
          <p:nvPr/>
        </p:nvSpPr>
        <p:spPr>
          <a:xfrm>
            <a:off x="6522415" y="1463040"/>
            <a:ext cx="5120640" cy="2743200"/>
          </a:xfrm>
          <a:prstGeom prst="roundRect">
            <a:avLst>
              <a:gd name="adj" fmla="val 3333"/>
            </a:avLst>
          </a:prstGeom>
          <a:solidFill>
            <a:schemeClr val="accent4">
              <a:alpha val="10000"/>
            </a:schemeClr>
          </a:solidFill>
          <a:ln/>
        </p:spPr>
      </p:sp>
      <p:sp>
        <p:nvSpPr>
          <p:cNvPr id="6" name="On-chain label"/>
          <p:cNvSpPr txBox="1"/>
          <p:nvPr/>
        </p:nvSpPr>
        <p:spPr>
          <a:xfrm>
            <a:off x="868680" y="1691640"/>
            <a:ext cx="2743200"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ON-CHAIN</a:t>
            </a:r>
            <a:endParaRPr lang="en-US" sz="1200" dirty="0"/>
          </a:p>
        </p:txBody>
      </p:sp>
      <p:sp>
        <p:nvSpPr>
          <p:cNvPr id="7" name="On-chain heading"/>
          <p:cNvSpPr txBox="1"/>
          <p:nvPr/>
        </p:nvSpPr>
        <p:spPr>
          <a:xfrm>
            <a:off x="868680" y="1965960"/>
            <a:ext cx="4389120" cy="457200"/>
          </a:xfrm>
          <a:prstGeom prst="rect">
            <a:avLst/>
          </a:prstGeom>
          <a:noFill/>
          <a:ln/>
        </p:spPr>
        <p:txBody>
          <a:bodyPr wrap="square" lIns="0" tIns="0" rIns="0" bIns="0" rtlCol="0" anchor="t"/>
          <a:lstStyle/>
          <a:p>
            <a:pPr algn="l" indent="0" marL="0">
              <a:buNone/>
            </a:pPr>
            <a:r>
              <a:rPr lang="en-US" sz="2400" b="1" dirty="0">
                <a:solidFill>
                  <a:schemeClr val="tx2"/>
                </a:solidFill>
                <a:latin typeface="Cambria" pitchFamily="34" charset="0"/>
                <a:ea typeface="Cambria" pitchFamily="34" charset="-122"/>
                <a:cs typeface="Cambria" pitchFamily="34" charset="-120"/>
              </a:rPr>
              <a:t>Hash-on-Chain</a:t>
            </a:r>
            <a:endParaRPr lang="en-US" sz="2400" dirty="0"/>
          </a:p>
        </p:txBody>
      </p:sp>
      <p:sp>
        <p:nvSpPr>
          <p:cNvPr id="8" name="Check 32-byte SHA-256 digest circle"/>
          <p:cNvSpPr/>
          <p:nvPr/>
        </p:nvSpPr>
        <p:spPr>
          <a:xfrm>
            <a:off x="868680" y="2624328"/>
            <a:ext cx="310896" cy="310896"/>
          </a:xfrm>
          <a:prstGeom prst="ellipse">
            <a:avLst/>
          </a:prstGeom>
          <a:solidFill>
            <a:schemeClr val="accent1"/>
          </a:solidFill>
          <a:ln/>
        </p:spPr>
      </p:sp>
      <p:pic>
        <p:nvPicPr>
          <p:cNvPr id="9" name="Check 32-byte SHA-256 digest" descr="Check 32-byte SHA-256 digest">    </p:cNvPr>
          <p:cNvPicPr>
            <a:picLocks noChangeAspect="1"/>
          </p:cNvPicPr>
          <p:nvPr/>
        </p:nvPicPr>
        <p:blipFill>
          <a:blip r:embed="rId1"/>
          <a:stretch>
            <a:fillRect/>
          </a:stretch>
        </p:blipFill>
        <p:spPr>
          <a:xfrm>
            <a:off x="949513" y="2705161"/>
            <a:ext cx="149230" cy="149230"/>
          </a:xfrm>
          <a:prstGeom prst="rect">
            <a:avLst/>
          </a:prstGeom>
        </p:spPr>
      </p:pic>
      <p:sp>
        <p:nvSpPr>
          <p:cNvPr id="10" name="On-chain item 1"/>
          <p:cNvSpPr txBox="1"/>
          <p:nvPr/>
        </p:nvSpPr>
        <p:spPr>
          <a:xfrm>
            <a:off x="1316736" y="2606040"/>
            <a:ext cx="4032504" cy="502920"/>
          </a:xfrm>
          <a:prstGeom prst="rect">
            <a:avLst/>
          </a:prstGeom>
          <a:noFill/>
          <a:ln/>
        </p:spPr>
        <p:txBody>
          <a:bodyPr wrap="square" lIns="0" tIns="0" rIns="0" bIns="0" rtlCol="0" anchor="t"/>
          <a:lstStyle/>
          <a:p>
            <a:pPr algn="l" indent="0" marL="0">
              <a:buNone/>
            </a:pPr>
            <a:r>
              <a:rPr lang="en-US" sz="1400" b="1" dirty="0">
                <a:solidFill>
                  <a:schemeClr val="tx2"/>
                </a:solidFill>
              </a:rPr>
              <a:t>32-byte SHA-256 digest</a:t>
            </a:r>
            <a:endParaRPr lang="en-US" sz="1400" dirty="0"/>
          </a:p>
          <a:p>
            <a:pPr algn="l" indent="0" marL="0">
              <a:buNone/>
            </a:pPr>
            <a:r>
              <a:rPr lang="en-US" sz="1300" dirty="0">
                <a:solidFill>
                  <a:schemeClr val="tx1"/>
                </a:solidFill>
              </a:rPr>
              <a:t>stored as bytes32 sha256Hash</a:t>
            </a:r>
            <a:endParaRPr lang="en-US" sz="1400" dirty="0"/>
          </a:p>
        </p:txBody>
      </p:sp>
      <p:sp>
        <p:nvSpPr>
          <p:cNvPr id="11" name="Check Student SAP ID circle"/>
          <p:cNvSpPr/>
          <p:nvPr/>
        </p:nvSpPr>
        <p:spPr>
          <a:xfrm>
            <a:off x="868680" y="3127248"/>
            <a:ext cx="310896" cy="310896"/>
          </a:xfrm>
          <a:prstGeom prst="ellipse">
            <a:avLst/>
          </a:prstGeom>
          <a:solidFill>
            <a:schemeClr val="accent1"/>
          </a:solidFill>
          <a:ln/>
        </p:spPr>
      </p:sp>
      <p:pic>
        <p:nvPicPr>
          <p:cNvPr id="12" name="Check Student SAP ID" descr="Check Student SAP ID">    </p:cNvPr>
          <p:cNvPicPr>
            <a:picLocks noChangeAspect="1"/>
          </p:cNvPicPr>
          <p:nvPr/>
        </p:nvPicPr>
        <p:blipFill>
          <a:blip r:embed="rId2"/>
          <a:stretch>
            <a:fillRect/>
          </a:stretch>
        </p:blipFill>
        <p:spPr>
          <a:xfrm>
            <a:off x="949513" y="3208081"/>
            <a:ext cx="149230" cy="149230"/>
          </a:xfrm>
          <a:prstGeom prst="rect">
            <a:avLst/>
          </a:prstGeom>
        </p:spPr>
      </p:pic>
      <p:sp>
        <p:nvSpPr>
          <p:cNvPr id="13" name="On-chain item 2"/>
          <p:cNvSpPr txBox="1"/>
          <p:nvPr/>
        </p:nvSpPr>
        <p:spPr>
          <a:xfrm>
            <a:off x="1316736" y="3108960"/>
            <a:ext cx="4032504" cy="502920"/>
          </a:xfrm>
          <a:prstGeom prst="rect">
            <a:avLst/>
          </a:prstGeom>
          <a:noFill/>
          <a:ln/>
        </p:spPr>
        <p:txBody>
          <a:bodyPr wrap="square" lIns="0" tIns="0" rIns="0" bIns="0" rtlCol="0" anchor="t"/>
          <a:lstStyle/>
          <a:p>
            <a:pPr algn="l" indent="0" marL="0">
              <a:buNone/>
            </a:pPr>
            <a:r>
              <a:rPr lang="en-US" sz="1400" b="1" dirty="0">
                <a:solidFill>
                  <a:schemeClr val="tx2"/>
                </a:solidFill>
              </a:rPr>
              <a:t>Student SAP ID</a:t>
            </a:r>
            <a:endParaRPr lang="en-US" sz="1400" dirty="0"/>
          </a:p>
          <a:p>
            <a:pPr algn="l" indent="0" marL="0">
              <a:buNone/>
            </a:pPr>
            <a:r>
              <a:rPr lang="en-US" sz="1300" dirty="0">
                <a:solidFill>
                  <a:schemeClr val="tx1"/>
                </a:solidFill>
              </a:rPr>
              <a:t>institutional identifier, no names or grades</a:t>
            </a:r>
            <a:endParaRPr lang="en-US" sz="1400" dirty="0"/>
          </a:p>
        </p:txBody>
      </p:sp>
      <p:sp>
        <p:nvSpPr>
          <p:cNvPr id="14" name="Check Issuer authorization circle"/>
          <p:cNvSpPr/>
          <p:nvPr/>
        </p:nvSpPr>
        <p:spPr>
          <a:xfrm>
            <a:off x="868680" y="3630168"/>
            <a:ext cx="310896" cy="310896"/>
          </a:xfrm>
          <a:prstGeom prst="ellipse">
            <a:avLst/>
          </a:prstGeom>
          <a:solidFill>
            <a:schemeClr val="accent1"/>
          </a:solidFill>
          <a:ln/>
        </p:spPr>
      </p:sp>
      <p:pic>
        <p:nvPicPr>
          <p:cNvPr id="15" name="Check Issuer authorization" descr="Check Issuer authorization">    </p:cNvPr>
          <p:cNvPicPr>
            <a:picLocks noChangeAspect="1"/>
          </p:cNvPicPr>
          <p:nvPr/>
        </p:nvPicPr>
        <p:blipFill>
          <a:blip r:embed="rId3"/>
          <a:stretch>
            <a:fillRect/>
          </a:stretch>
        </p:blipFill>
        <p:spPr>
          <a:xfrm>
            <a:off x="949513" y="3711001"/>
            <a:ext cx="149230" cy="149230"/>
          </a:xfrm>
          <a:prstGeom prst="rect">
            <a:avLst/>
          </a:prstGeom>
        </p:spPr>
      </p:pic>
      <p:sp>
        <p:nvSpPr>
          <p:cNvPr id="16" name="On-chain item 3"/>
          <p:cNvSpPr txBox="1"/>
          <p:nvPr/>
        </p:nvSpPr>
        <p:spPr>
          <a:xfrm>
            <a:off x="1316736" y="3611880"/>
            <a:ext cx="4032504" cy="502920"/>
          </a:xfrm>
          <a:prstGeom prst="rect">
            <a:avLst/>
          </a:prstGeom>
          <a:noFill/>
          <a:ln/>
        </p:spPr>
        <p:txBody>
          <a:bodyPr wrap="square" lIns="0" tIns="0" rIns="0" bIns="0" rtlCol="0" anchor="t"/>
          <a:lstStyle/>
          <a:p>
            <a:pPr algn="l" indent="0" marL="0">
              <a:buNone/>
            </a:pPr>
            <a:r>
              <a:rPr lang="en-US" sz="1400" b="1" dirty="0">
                <a:solidFill>
                  <a:schemeClr val="tx2"/>
                </a:solidFill>
              </a:rPr>
              <a:t>Issuer authorization</a:t>
            </a:r>
            <a:endParaRPr lang="en-US" sz="1400" dirty="0"/>
          </a:p>
          <a:p>
            <a:pPr algn="l" indent="0" marL="0">
              <a:buNone/>
            </a:pPr>
            <a:r>
              <a:rPr lang="en-US" sz="1300" dirty="0">
                <a:solidFill>
                  <a:schemeClr val="tx1"/>
                </a:solidFill>
              </a:rPr>
              <a:t>only whitelisted exam-cell wallets can write</a:t>
            </a:r>
            <a:endParaRPr lang="en-US" sz="1400" dirty="0"/>
          </a:p>
        </p:txBody>
      </p:sp>
      <p:sp>
        <p:nvSpPr>
          <p:cNvPr id="17" name="Off-chain label"/>
          <p:cNvSpPr txBox="1"/>
          <p:nvPr/>
        </p:nvSpPr>
        <p:spPr>
          <a:xfrm>
            <a:off x="6842455" y="1691640"/>
            <a:ext cx="2743200" cy="256032"/>
          </a:xfrm>
          <a:prstGeom prst="rect">
            <a:avLst/>
          </a:prstGeom>
          <a:noFill/>
          <a:ln/>
        </p:spPr>
        <p:txBody>
          <a:bodyPr wrap="square" lIns="0" tIns="0" rIns="0" bIns="0" rtlCol="0" anchor="t"/>
          <a:lstStyle/>
          <a:p>
            <a:pPr algn="l" indent="0" marL="0">
              <a:buNone/>
            </a:pPr>
            <a:r>
              <a:rPr lang="en-US" sz="1200" b="1" spc="200" kern="0" dirty="0">
                <a:solidFill>
                  <a:schemeClr val="accent4"/>
                </a:solidFill>
              </a:rPr>
              <a:t>OFF-CHAIN</a:t>
            </a:r>
            <a:endParaRPr lang="en-US" sz="1200" dirty="0"/>
          </a:p>
        </p:txBody>
      </p:sp>
      <p:sp>
        <p:nvSpPr>
          <p:cNvPr id="18" name="Off-chain heading"/>
          <p:cNvSpPr txBox="1"/>
          <p:nvPr/>
        </p:nvSpPr>
        <p:spPr>
          <a:xfrm>
            <a:off x="6842455" y="1965960"/>
            <a:ext cx="4389120" cy="457200"/>
          </a:xfrm>
          <a:prstGeom prst="rect">
            <a:avLst/>
          </a:prstGeom>
          <a:noFill/>
          <a:ln/>
        </p:spPr>
        <p:txBody>
          <a:bodyPr wrap="square" lIns="0" tIns="0" rIns="0" bIns="0" rtlCol="0" anchor="t"/>
          <a:lstStyle/>
          <a:p>
            <a:pPr algn="l" indent="0" marL="0">
              <a:buNone/>
            </a:pPr>
            <a:r>
              <a:rPr lang="en-US" sz="2400" b="1" dirty="0">
                <a:solidFill>
                  <a:schemeClr val="tx2"/>
                </a:solidFill>
                <a:latin typeface="Cambria" pitchFamily="34" charset="0"/>
                <a:ea typeface="Cambria" pitchFamily="34" charset="-122"/>
                <a:cs typeface="Cambria" pitchFamily="34" charset="-120"/>
              </a:rPr>
              <a:t>Content-off-Chain</a:t>
            </a:r>
            <a:endParaRPr lang="en-US" sz="2400" dirty="0"/>
          </a:p>
        </p:txBody>
      </p:sp>
      <p:sp>
        <p:nvSpPr>
          <p:cNvPr id="19" name="Check Human-readable PDF circle"/>
          <p:cNvSpPr/>
          <p:nvPr/>
        </p:nvSpPr>
        <p:spPr>
          <a:xfrm>
            <a:off x="6842455" y="2624328"/>
            <a:ext cx="310896" cy="310896"/>
          </a:xfrm>
          <a:prstGeom prst="ellipse">
            <a:avLst/>
          </a:prstGeom>
          <a:solidFill>
            <a:schemeClr val="accent4"/>
          </a:solidFill>
          <a:ln/>
        </p:spPr>
      </p:sp>
      <p:pic>
        <p:nvPicPr>
          <p:cNvPr id="20" name="Check Human-readable PDF" descr="Check Human-readable PDF">    </p:cNvPr>
          <p:cNvPicPr>
            <a:picLocks noChangeAspect="1"/>
          </p:cNvPicPr>
          <p:nvPr/>
        </p:nvPicPr>
        <p:blipFill>
          <a:blip r:embed="rId4"/>
          <a:stretch>
            <a:fillRect/>
          </a:stretch>
        </p:blipFill>
        <p:spPr>
          <a:xfrm>
            <a:off x="6923288" y="2705161"/>
            <a:ext cx="149230" cy="149230"/>
          </a:xfrm>
          <a:prstGeom prst="rect">
            <a:avLst/>
          </a:prstGeom>
        </p:spPr>
      </p:pic>
      <p:sp>
        <p:nvSpPr>
          <p:cNvPr id="21" name="Off-chain item 1"/>
          <p:cNvSpPr txBox="1"/>
          <p:nvPr/>
        </p:nvSpPr>
        <p:spPr>
          <a:xfrm>
            <a:off x="7290511" y="2606040"/>
            <a:ext cx="4032504" cy="502920"/>
          </a:xfrm>
          <a:prstGeom prst="rect">
            <a:avLst/>
          </a:prstGeom>
          <a:noFill/>
          <a:ln/>
        </p:spPr>
        <p:txBody>
          <a:bodyPr wrap="square" lIns="0" tIns="0" rIns="0" bIns="0" rtlCol="0" anchor="t"/>
          <a:lstStyle/>
          <a:p>
            <a:pPr algn="l" indent="0" marL="0">
              <a:buNone/>
            </a:pPr>
            <a:r>
              <a:rPr lang="en-US" sz="1400" b="1" dirty="0">
                <a:solidFill>
                  <a:schemeClr val="tx2"/>
                </a:solidFill>
              </a:rPr>
              <a:t>Human-readable PDF</a:t>
            </a:r>
            <a:endParaRPr lang="en-US" sz="1400" dirty="0"/>
          </a:p>
          <a:p>
            <a:pPr algn="l" indent="0" marL="0">
              <a:buNone/>
            </a:pPr>
            <a:r>
              <a:rPr lang="en-US" sz="1300" dirty="0">
                <a:solidFill>
                  <a:schemeClr val="tx1"/>
                </a:solidFill>
              </a:rPr>
              <a:t>kept out of the ledger entirely</a:t>
            </a:r>
            <a:endParaRPr lang="en-US" sz="1400" dirty="0"/>
          </a:p>
        </p:txBody>
      </p:sp>
      <p:sp>
        <p:nvSpPr>
          <p:cNvPr id="22" name="Check Decentralized IPFS storage circle"/>
          <p:cNvSpPr/>
          <p:nvPr/>
        </p:nvSpPr>
        <p:spPr>
          <a:xfrm>
            <a:off x="6842455" y="3127248"/>
            <a:ext cx="310896" cy="310896"/>
          </a:xfrm>
          <a:prstGeom prst="ellipse">
            <a:avLst/>
          </a:prstGeom>
          <a:solidFill>
            <a:schemeClr val="accent4"/>
          </a:solidFill>
          <a:ln/>
        </p:spPr>
      </p:sp>
      <p:pic>
        <p:nvPicPr>
          <p:cNvPr id="23" name="Check Decentralized IPFS storage" descr="Check Decentralized IPFS storage">    </p:cNvPr>
          <p:cNvPicPr>
            <a:picLocks noChangeAspect="1"/>
          </p:cNvPicPr>
          <p:nvPr/>
        </p:nvPicPr>
        <p:blipFill>
          <a:blip r:embed="rId5"/>
          <a:stretch>
            <a:fillRect/>
          </a:stretch>
        </p:blipFill>
        <p:spPr>
          <a:xfrm>
            <a:off x="6923288" y="3208081"/>
            <a:ext cx="149230" cy="149230"/>
          </a:xfrm>
          <a:prstGeom prst="rect">
            <a:avLst/>
          </a:prstGeom>
        </p:spPr>
      </p:pic>
      <p:sp>
        <p:nvSpPr>
          <p:cNvPr id="24" name="Off-chain item 2"/>
          <p:cNvSpPr txBox="1"/>
          <p:nvPr/>
        </p:nvSpPr>
        <p:spPr>
          <a:xfrm>
            <a:off x="7290511" y="3108960"/>
            <a:ext cx="4032504" cy="502920"/>
          </a:xfrm>
          <a:prstGeom prst="rect">
            <a:avLst/>
          </a:prstGeom>
          <a:noFill/>
          <a:ln/>
        </p:spPr>
        <p:txBody>
          <a:bodyPr wrap="square" lIns="0" tIns="0" rIns="0" bIns="0" rtlCol="0" anchor="t"/>
          <a:lstStyle/>
          <a:p>
            <a:pPr algn="l" indent="0" marL="0">
              <a:buNone/>
            </a:pPr>
            <a:r>
              <a:rPr lang="en-US" sz="1400" b="1" dirty="0">
                <a:solidFill>
                  <a:schemeClr val="tx2"/>
                </a:solidFill>
              </a:rPr>
              <a:t>Decentralized IPFS storage</a:t>
            </a:r>
            <a:endParaRPr lang="en-US" sz="1400" dirty="0"/>
          </a:p>
          <a:p>
            <a:pPr algn="l" indent="0" marL="0">
              <a:buNone/>
            </a:pPr>
            <a:r>
              <a:rPr lang="en-US" sz="1300" dirty="0">
                <a:solidFill>
                  <a:schemeClr val="tx1"/>
                </a:solidFill>
              </a:rPr>
              <a:t>content-addressed by CID, or student custody</a:t>
            </a:r>
            <a:endParaRPr lang="en-US" sz="1400" dirty="0"/>
          </a:p>
        </p:txBody>
      </p:sp>
      <p:sp>
        <p:nvSpPr>
          <p:cNvPr id="25" name="Check Erasable by design circle"/>
          <p:cNvSpPr/>
          <p:nvPr/>
        </p:nvSpPr>
        <p:spPr>
          <a:xfrm>
            <a:off x="6842455" y="3630168"/>
            <a:ext cx="310896" cy="310896"/>
          </a:xfrm>
          <a:prstGeom prst="ellipse">
            <a:avLst/>
          </a:prstGeom>
          <a:solidFill>
            <a:schemeClr val="accent4"/>
          </a:solidFill>
          <a:ln/>
        </p:spPr>
      </p:sp>
      <p:pic>
        <p:nvPicPr>
          <p:cNvPr id="26" name="Check Erasable by design" descr="Check Erasable by design">    </p:cNvPr>
          <p:cNvPicPr>
            <a:picLocks noChangeAspect="1"/>
          </p:cNvPicPr>
          <p:nvPr/>
        </p:nvPicPr>
        <p:blipFill>
          <a:blip r:embed="rId6"/>
          <a:stretch>
            <a:fillRect/>
          </a:stretch>
        </p:blipFill>
        <p:spPr>
          <a:xfrm>
            <a:off x="6923288" y="3711001"/>
            <a:ext cx="149230" cy="149230"/>
          </a:xfrm>
          <a:prstGeom prst="rect">
            <a:avLst/>
          </a:prstGeom>
        </p:spPr>
      </p:pic>
      <p:sp>
        <p:nvSpPr>
          <p:cNvPr id="27" name="Off-chain item 3"/>
          <p:cNvSpPr txBox="1"/>
          <p:nvPr/>
        </p:nvSpPr>
        <p:spPr>
          <a:xfrm>
            <a:off x="7290511" y="3611880"/>
            <a:ext cx="4032504" cy="502920"/>
          </a:xfrm>
          <a:prstGeom prst="rect">
            <a:avLst/>
          </a:prstGeom>
          <a:noFill/>
          <a:ln/>
        </p:spPr>
        <p:txBody>
          <a:bodyPr wrap="square" lIns="0" tIns="0" rIns="0" bIns="0" rtlCol="0" anchor="t"/>
          <a:lstStyle/>
          <a:p>
            <a:pPr algn="l" indent="0" marL="0">
              <a:buNone/>
            </a:pPr>
            <a:r>
              <a:rPr lang="en-US" sz="1400" b="1" dirty="0">
                <a:solidFill>
                  <a:schemeClr val="tx2"/>
                </a:solidFill>
              </a:rPr>
              <a:t>Erasable by design</a:t>
            </a:r>
            <a:endParaRPr lang="en-US" sz="1400" dirty="0"/>
          </a:p>
          <a:p>
            <a:pPr algn="l" indent="0" marL="0">
              <a:buNone/>
            </a:pPr>
            <a:r>
              <a:rPr lang="en-US" sz="1300" dirty="0">
                <a:solidFill>
                  <a:schemeClr val="tx1"/>
                </a:solidFill>
              </a:rPr>
              <a:t>unpin the PDF; the hash stays anonymous</a:t>
            </a:r>
            <a:endParaRPr lang="en-US" sz="1400" dirty="0"/>
          </a:p>
        </p:txBody>
      </p:sp>
      <p:sp>
        <p:nvSpPr>
          <p:cNvPr id="28" name="Link icon circle"/>
          <p:cNvSpPr/>
          <p:nvPr/>
        </p:nvSpPr>
        <p:spPr>
          <a:xfrm>
            <a:off x="5775808" y="2468880"/>
            <a:ext cx="640080" cy="640080"/>
          </a:xfrm>
          <a:prstGeom prst="ellipse">
            <a:avLst/>
          </a:prstGeom>
          <a:solidFill>
            <a:schemeClr val="tx2"/>
          </a:solidFill>
          <a:ln/>
        </p:spPr>
      </p:sp>
      <p:pic>
        <p:nvPicPr>
          <p:cNvPr id="29" name="Link icon" descr="Link icon">    </p:cNvPr>
          <p:cNvPicPr>
            <a:picLocks noChangeAspect="1"/>
          </p:cNvPicPr>
          <p:nvPr/>
        </p:nvPicPr>
        <p:blipFill>
          <a:blip r:embed="rId7"/>
          <a:stretch>
            <a:fillRect/>
          </a:stretch>
        </p:blipFill>
        <p:spPr>
          <a:xfrm>
            <a:off x="5942228" y="2635301"/>
            <a:ext cx="307238" cy="307238"/>
          </a:xfrm>
          <a:prstGeom prst="rect">
            <a:avLst/>
          </a:prstGeom>
        </p:spPr>
      </p:pic>
      <p:sp>
        <p:nvSpPr>
          <p:cNvPr id="30" name="Benefit card 1"/>
          <p:cNvSpPr/>
          <p:nvPr/>
        </p:nvSpPr>
        <p:spPr>
          <a:xfrm>
            <a:off x="548640" y="4956048"/>
            <a:ext cx="5120640" cy="1307592"/>
          </a:xfrm>
          <a:prstGeom prst="roundRect">
            <a:avLst>
              <a:gd name="adj" fmla="val 5000"/>
            </a:avLst>
          </a:prstGeom>
          <a:solidFill>
            <a:schemeClr val="bg2"/>
          </a:solidFill>
          <a:ln/>
        </p:spPr>
      </p:sp>
      <p:sp>
        <p:nvSpPr>
          <p:cNvPr id="31" name="Benefit icon 1 circle"/>
          <p:cNvSpPr/>
          <p:nvPr/>
        </p:nvSpPr>
        <p:spPr>
          <a:xfrm>
            <a:off x="868680" y="5084064"/>
            <a:ext cx="530352" cy="530352"/>
          </a:xfrm>
          <a:prstGeom prst="ellipse">
            <a:avLst/>
          </a:prstGeom>
          <a:solidFill>
            <a:schemeClr val="accent2"/>
          </a:solidFill>
          <a:ln/>
        </p:spPr>
      </p:sp>
      <p:pic>
        <p:nvPicPr>
          <p:cNvPr id="32" name="Benefit icon 1" descr="Benefit icon 1">    </p:cNvPr>
          <p:cNvPicPr>
            <a:picLocks noChangeAspect="1"/>
          </p:cNvPicPr>
          <p:nvPr/>
        </p:nvPicPr>
        <p:blipFill>
          <a:blip r:embed="rId8"/>
          <a:stretch>
            <a:fillRect/>
          </a:stretch>
        </p:blipFill>
        <p:spPr>
          <a:xfrm>
            <a:off x="996695" y="5212080"/>
            <a:ext cx="274320" cy="274320"/>
          </a:xfrm>
          <a:prstGeom prst="rect">
            <a:avLst/>
          </a:prstGeom>
        </p:spPr>
      </p:pic>
      <p:sp>
        <p:nvSpPr>
          <p:cNvPr id="33" name="Benefit heading 1"/>
          <p:cNvSpPr txBox="1"/>
          <p:nvPr/>
        </p:nvSpPr>
        <p:spPr>
          <a:xfrm>
            <a:off x="1600200" y="5084064"/>
            <a:ext cx="3657600" cy="530352"/>
          </a:xfrm>
          <a:prstGeom prst="rect">
            <a:avLst/>
          </a:prstGeom>
          <a:noFill/>
          <a:ln/>
        </p:spPr>
        <p:txBody>
          <a:bodyPr wrap="square" lIns="0" tIns="0" rIns="0" bIns="0" rtlCol="0" anchor="ctr"/>
          <a:lstStyle/>
          <a:p>
            <a:pPr algn="l" indent="0" marL="0">
              <a:buNone/>
            </a:pPr>
            <a:r>
              <a:rPr lang="en-US" sz="1800" b="1" dirty="0">
                <a:solidFill>
                  <a:schemeClr val="tx2"/>
                </a:solidFill>
              </a:rPr>
              <a:t>Zero-Gas O(1) Verification</a:t>
            </a:r>
            <a:endParaRPr lang="en-US" sz="1800" dirty="0"/>
          </a:p>
        </p:txBody>
      </p:sp>
      <p:sp>
        <p:nvSpPr>
          <p:cNvPr id="34" name="Benefit text 1"/>
          <p:cNvSpPr txBox="1"/>
          <p:nvPr/>
        </p:nvSpPr>
        <p:spPr>
          <a:xfrm>
            <a:off x="868680" y="5705856"/>
            <a:ext cx="4526280" cy="502920"/>
          </a:xfrm>
          <a:prstGeom prst="rect">
            <a:avLst/>
          </a:prstGeom>
          <a:noFill/>
          <a:ln/>
        </p:spPr>
        <p:txBody>
          <a:bodyPr wrap="square" lIns="0" tIns="0" rIns="0" bIns="0" rtlCol="0" anchor="t"/>
          <a:lstStyle/>
          <a:p>
            <a:pPr algn="l" indent="0" marL="0">
              <a:buNone/>
            </a:pPr>
            <a:r>
              <a:rPr lang="en-US" sz="1400" dirty="0">
                <a:solidFill>
                  <a:schemeClr val="tx1"/>
                </a:solidFill>
              </a:rPr>
              <a:t>Recruiters call verifyByHash() and get an answer in sub-second constant time, with no transaction fees.</a:t>
            </a:r>
            <a:endParaRPr lang="en-US" sz="1400" dirty="0"/>
          </a:p>
        </p:txBody>
      </p:sp>
      <p:sp>
        <p:nvSpPr>
          <p:cNvPr id="35" name="Benefit card 2"/>
          <p:cNvSpPr/>
          <p:nvPr/>
        </p:nvSpPr>
        <p:spPr>
          <a:xfrm>
            <a:off x="6522415" y="4956048"/>
            <a:ext cx="5120640" cy="1307592"/>
          </a:xfrm>
          <a:prstGeom prst="roundRect">
            <a:avLst>
              <a:gd name="adj" fmla="val 5000"/>
            </a:avLst>
          </a:prstGeom>
          <a:solidFill>
            <a:schemeClr val="bg2"/>
          </a:solidFill>
          <a:ln/>
        </p:spPr>
      </p:sp>
      <p:sp>
        <p:nvSpPr>
          <p:cNvPr id="36" name="Benefit icon 2 circle"/>
          <p:cNvSpPr/>
          <p:nvPr/>
        </p:nvSpPr>
        <p:spPr>
          <a:xfrm>
            <a:off x="6842455" y="5084064"/>
            <a:ext cx="530352" cy="530352"/>
          </a:xfrm>
          <a:prstGeom prst="ellipse">
            <a:avLst/>
          </a:prstGeom>
          <a:solidFill>
            <a:schemeClr val="accent3"/>
          </a:solidFill>
          <a:ln/>
        </p:spPr>
      </p:sp>
      <p:pic>
        <p:nvPicPr>
          <p:cNvPr id="37" name="Benefit icon 2" descr="Benefit icon 2">    </p:cNvPr>
          <p:cNvPicPr>
            <a:picLocks noChangeAspect="1"/>
          </p:cNvPicPr>
          <p:nvPr/>
        </p:nvPicPr>
        <p:blipFill>
          <a:blip r:embed="rId9"/>
          <a:stretch>
            <a:fillRect/>
          </a:stretch>
        </p:blipFill>
        <p:spPr>
          <a:xfrm>
            <a:off x="6967728" y="5212080"/>
            <a:ext cx="274320" cy="274320"/>
          </a:xfrm>
          <a:prstGeom prst="rect">
            <a:avLst/>
          </a:prstGeom>
        </p:spPr>
      </p:pic>
      <p:sp>
        <p:nvSpPr>
          <p:cNvPr id="38" name="Benefit heading 2"/>
          <p:cNvSpPr txBox="1"/>
          <p:nvPr/>
        </p:nvSpPr>
        <p:spPr>
          <a:xfrm>
            <a:off x="7571232" y="5084064"/>
            <a:ext cx="3657600" cy="530352"/>
          </a:xfrm>
          <a:prstGeom prst="rect">
            <a:avLst/>
          </a:prstGeom>
          <a:noFill/>
          <a:ln/>
        </p:spPr>
        <p:txBody>
          <a:bodyPr wrap="square" lIns="0" tIns="0" rIns="0" bIns="0" rtlCol="0" anchor="ctr"/>
          <a:lstStyle/>
          <a:p>
            <a:pPr algn="l" indent="0" marL="0">
              <a:buNone/>
            </a:pPr>
            <a:r>
              <a:rPr lang="en-US" sz="1800" b="1" dirty="0">
                <a:solidFill>
                  <a:schemeClr val="tx2"/>
                </a:solidFill>
              </a:rPr>
              <a:t>Avalanche-Based Tamper Detection</a:t>
            </a:r>
            <a:endParaRPr lang="en-US" sz="1800" dirty="0"/>
          </a:p>
        </p:txBody>
      </p:sp>
      <p:sp>
        <p:nvSpPr>
          <p:cNvPr id="39" name="Benefit text 2"/>
          <p:cNvSpPr txBox="1"/>
          <p:nvPr/>
        </p:nvSpPr>
        <p:spPr>
          <a:xfrm>
            <a:off x="6842455" y="5705856"/>
            <a:ext cx="4526280" cy="502920"/>
          </a:xfrm>
          <a:prstGeom prst="rect">
            <a:avLst/>
          </a:prstGeom>
          <a:noFill/>
          <a:ln/>
        </p:spPr>
        <p:txBody>
          <a:bodyPr wrap="square" lIns="0" tIns="0" rIns="0" bIns="0" rtlCol="0" anchor="t"/>
          <a:lstStyle/>
          <a:p>
            <a:pPr algn="l" indent="0" marL="0">
              <a:buNone/>
            </a:pPr>
            <a:r>
              <a:rPr lang="en-US" sz="1400" dirty="0">
                <a:solidFill>
                  <a:schemeClr val="tx1"/>
                </a:solidFill>
              </a:rPr>
              <a:t>Changing one character flips about 50% of the hash bits, so verification fails immediately.</a:t>
            </a:r>
            <a:endParaRPr lang="en-US" sz="14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
        <p:nvSpPr>
          <p:cNvPr id="40" name="Rounded Rectangle 39"/>
          <p:cNvSpPr/>
          <p:nvPr/>
        </p:nvSpPr>
        <p:spPr>
          <a:xfrm>
            <a:off x="548640" y="4334256"/>
            <a:ext cx="11091672" cy="457200"/>
          </a:xfrm>
          <a:prstGeom prst="roundRect">
            <a:avLst/>
          </a:prstGeom>
          <a:solidFill>
            <a:srgbClr val="0F172A"/>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4334256"/>
            <a:ext cx="10725912" cy="457200"/>
          </a:xfrm>
          <a:prstGeom prst="rect">
            <a:avLst/>
          </a:prstGeom>
          <a:noFill/>
        </p:spPr>
        <p:txBody>
          <a:bodyPr wrap="none">
            <a:spAutoFit/>
          </a:bodyPr>
          <a:lstStyle/>
          <a:p>
            <a:pPr algn="ctr"/>
            <a:r>
              <a:rPr b="1" sz="1200">
                <a:solidFill>
                  <a:srgbClr val="38BDF8"/>
                </a:solidFill>
              </a:rPr>
              <a:t>STORAGE SAVINGS:  </a:t>
            </a:r>
            <a:r>
              <a:rPr sz="1200">
                <a:solidFill>
                  <a:srgbClr val="CBD5E1"/>
                </a:solidFill>
              </a:rPr>
              <a:t>500 KB PDF (512,000 bytes, kept on IPFS)  →  32-byte SHA-256 digest (on EVM)  →  </a:t>
            </a:r>
            <a:r>
              <a:rPr b="1" sz="1200">
                <a:solidFill>
                  <a:srgbClr val="4ADE80"/>
                </a:solidFill>
              </a:rPr>
              <a:t>99.994% less on-chain data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ph idx="100" type="body" hasCustomPrompt="1"/>
          </p:nvPr>
        </p:nvSpPr>
        <p:spPr>
          <a:xfrm>
            <a:off x="548640" y="292608"/>
            <a:ext cx="11094415"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CHAPTER 2  |  LITERATURE REVIEW &amp; RESEARCH GAP</a:t>
            </a:r>
            <a:endParaRPr lang="en-US" sz="1200" dirty="0"/>
          </a:p>
        </p:txBody>
      </p:sp>
      <p:sp>
        <p:nvSpPr>
          <p:cNvPr id="3" name="Text 0"/>
          <p:cNvSpPr txBox="1"/>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Why Existing Credential Systems Fall Short</a:t>
            </a:r>
            <a:endParaRPr lang="en-US" sz="3200" dirty="0"/>
          </a:p>
        </p:txBody>
      </p:sp>
      <p:graphicFrame>
        <p:nvGraphicFramePr>
          <p:cNvPr id="6" name="Literature table"/>
          <p:cNvGraphicFramePr>
            <a:graphicFrameLocks noGrp="1"/>
          </p:cNvGraphicFramePr>
          <p:nvPr>
            <p:extLst>
              <p:ext uri="{D42A27DB-BD31-4B8C-83A1-F6EECF244321}">
                <p14:modId xmlns:p14="http://schemas.microsoft.com/office/powerpoint/2010/main" val="1579011935"/>
              </p:ext>
            </p:extLst>
          </p:nvPr>
        </p:nvGraphicFramePr>
        <p:xfrm>
          <a:off x="548640" y="1463040"/>
          <a:ext cx="7269480" cy="914400"/>
        </p:xfrm>
        <a:graphic>
          <a:graphicData uri="http://schemas.openxmlformats.org/drawingml/2006/table">
            <a:tbl>
              <a:tblPr/>
              <a:tblGrid>
                <a:gridCol w="2011680"/>
                <a:gridCol w="1417320"/>
                <a:gridCol w="3840480"/>
              </a:tblGrid>
              <a:tr h="384048">
                <a:tc>
                  <a:txBody>
                    <a:bodyPr/>
                    <a:lstStyle/>
                    <a:p>
                      <a:pPr indent="0" marL="0">
                        <a:buNone/>
                      </a:pPr>
                      <a:r>
                        <a:rPr lang="en-US" sz="1300" b="1" dirty="0">
                          <a:solidFill>
                            <a:srgbClr val="FFFFFF"/>
                          </a:solidFill>
                        </a:rPr>
                        <a:t>Framework</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B3A"/>
                    </a:solidFill>
                  </a:tcPr>
                </a:tc>
                <a:tc>
                  <a:txBody>
                    <a:bodyPr/>
                    <a:lstStyle/>
                    <a:p>
                      <a:pPr indent="0" marL="0">
                        <a:buNone/>
                      </a:pPr>
                      <a:r>
                        <a:rPr lang="en-US" sz="1300" b="1" dirty="0">
                          <a:solidFill>
                            <a:srgbClr val="FFFFFF"/>
                          </a:solidFill>
                        </a:rPr>
                        <a:t>Approach</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B3A"/>
                    </a:solidFill>
                  </a:tcPr>
                </a:tc>
                <a:tc>
                  <a:txBody>
                    <a:bodyPr/>
                    <a:lstStyle/>
                    <a:p>
                      <a:pPr indent="0" marL="0">
                        <a:buNone/>
                      </a:pPr>
                      <a:r>
                        <a:rPr lang="en-US" sz="1300" b="1" dirty="0">
                          <a:solidFill>
                            <a:srgbClr val="FFFFFF"/>
                          </a:solidFill>
                        </a:rPr>
                        <a:t>Key limitations</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B3A"/>
                    </a:solidFill>
                  </a:tcPr>
                </a:tc>
              </a:tr>
              <a:tr h="822960">
                <a:tc>
                  <a:txBody>
                    <a:bodyPr/>
                    <a:lstStyle/>
                    <a:p>
                      <a:pPr indent="0" marL="0">
                        <a:buNone/>
                      </a:pPr>
                      <a:r>
                        <a:rPr lang="en-US" sz="1200" b="1" dirty="0">
                          <a:solidFill>
                            <a:srgbClr val="1E293B"/>
                          </a:solidFill>
                        </a:rPr>
                        <a:t>Traditional University Registrar</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rPr>
                        <a:t>Manual, paper-based</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rPr>
                        <a:t>High verifier cost; 14-30 day latency; high PII exposure via email; destructive database overwrites</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822960">
                <a:tc>
                  <a:txBody>
                    <a:bodyPr/>
                    <a:lstStyle/>
                    <a:p>
                      <a:pPr indent="0" marL="0">
                        <a:buNone/>
                      </a:pPr>
                      <a:r>
                        <a:rPr lang="en-US" sz="1200" b="1" dirty="0">
                          <a:solidFill>
                            <a:srgbClr val="1E293B"/>
                          </a:solidFill>
                        </a:rPr>
                        <a:t>DigiLocker / NAD (MeitY 2025)</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rPr>
                        <a:t>Central API</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rPr>
                        <a:t>Server outages; centralized CA signing keys (a leaked key makes fakes look valid); no decentralized auditability</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731520">
                <a:tc>
                  <a:txBody>
                    <a:bodyPr/>
                    <a:lstStyle/>
                    <a:p>
                      <a:pPr indent="0" marL="0">
                        <a:buNone/>
                      </a:pPr>
                      <a:r>
                        <a:rPr lang="en-US" sz="1200" b="1" dirty="0">
                          <a:solidFill>
                            <a:srgbClr val="1E293B"/>
                          </a:solidFill>
                        </a:rPr>
                        <a:t>MIT Blockcerts (2016)</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rPr>
                        <a:t>Bitcoin</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rPr>
                        <a:t>$5-$25 fees; ~10-minute block latency; no Turing-complete revocation</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731520">
                <a:tc>
                  <a:txBody>
                    <a:bodyPr/>
                    <a:lstStyle/>
                    <a:p>
                      <a:pPr indent="0" marL="0">
                        <a:buNone/>
                      </a:pPr>
                      <a:r>
                        <a:rPr lang="en-US" sz="1200" b="1" dirty="0">
                          <a:solidFill>
                            <a:srgbClr val="1E293B"/>
                          </a:solidFill>
                        </a:rPr>
                        <a:t>Roy &amp; Mahindru (2024)</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rPr>
                        <a:t>Ethereum</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rPr>
                        <a:t>Names and grades on-chain; over $80 gas per certificate; PII leak violates DPDP Act</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731520">
                <a:tc>
                  <a:txBody>
                    <a:bodyPr/>
                    <a:lstStyle/>
                    <a:p>
                      <a:pPr indent="0" marL="0">
                        <a:buNone/>
                      </a:pPr>
                      <a:r>
                        <a:rPr lang="en-US" sz="1200" b="1" dirty="0">
                          <a:solidFill>
                            <a:srgbClr val="1E293B"/>
                          </a:solidFill>
                        </a:rPr>
                        <a:t>Kaur (2026)</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rPr>
                        <a:t>NFT (ERC-721)</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rPr>
                        <a:t>Over 150,000 mint gas; transferability risk, since degrees should not be tradeable</a:t>
                      </a:r>
                      <a:endParaRPr lang="en-US" sz="12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5" name="Table caption"/>
          <p:cNvSpPr txBox="1"/>
          <p:nvPr/>
        </p:nvSpPr>
        <p:spPr>
          <a:xfrm>
            <a:off x="548640" y="5852160"/>
            <a:ext cx="7269480" cy="274320"/>
          </a:xfrm>
          <a:prstGeom prst="rect">
            <a:avLst/>
          </a:prstGeom>
          <a:noFill/>
          <a:ln/>
        </p:spPr>
        <p:txBody>
          <a:bodyPr wrap="square" lIns="0" tIns="0" rIns="0" bIns="0" rtlCol="0" anchor="t"/>
          <a:lstStyle/>
          <a:p>
            <a:pPr algn="l" indent="0" marL="0">
              <a:buNone/>
            </a:pPr>
            <a:r>
              <a:rPr lang="en-US" sz="1100" dirty="0">
                <a:solidFill>
                  <a:schemeClr val="accent6"/>
                </a:solidFill>
              </a:rPr>
              <a:t>Representative systems drawn from a review of eight frameworks.</a:t>
            </a:r>
            <a:endParaRPr lang="en-US" sz="1100" dirty="0"/>
          </a:p>
        </p:txBody>
      </p:sp>
      <p:sp>
        <p:nvSpPr>
          <p:cNvPr id="6" name="EduCred panel"/>
          <p:cNvSpPr/>
          <p:nvPr/>
        </p:nvSpPr>
        <p:spPr>
          <a:xfrm>
            <a:off x="8092440" y="1463040"/>
            <a:ext cx="3547872" cy="4800600"/>
          </a:xfrm>
          <a:prstGeom prst="roundRect">
            <a:avLst>
              <a:gd name="adj" fmla="val 2577"/>
            </a:avLst>
          </a:prstGeom>
          <a:solidFill>
            <a:schemeClr val="tx2"/>
          </a:solidFill>
          <a:ln/>
        </p:spPr>
      </p:sp>
      <p:sp>
        <p:nvSpPr>
          <p:cNvPr id="7" name="EduCred panel heading"/>
          <p:cNvSpPr txBox="1"/>
          <p:nvPr/>
        </p:nvSpPr>
        <p:spPr>
          <a:xfrm>
            <a:off x="8366760" y="1664208"/>
            <a:ext cx="3017520" cy="365760"/>
          </a:xfrm>
          <a:prstGeom prst="rect">
            <a:avLst/>
          </a:prstGeom>
          <a:noFill/>
          <a:ln/>
        </p:spPr>
        <p:txBody>
          <a:bodyPr wrap="square" lIns="0" tIns="0" rIns="0" bIns="0" rtlCol="0" anchor="t"/>
          <a:lstStyle/>
          <a:p>
            <a:pPr algn="l" indent="0" marL="0">
              <a:buNone/>
            </a:pPr>
            <a:r>
              <a:rPr lang="en-US" sz="1800" b="1" dirty="0">
                <a:solidFill>
                  <a:schemeClr val="accent5"/>
                </a:solidFill>
                <a:latin typeface="Cambria" pitchFamily="34" charset="0"/>
                <a:ea typeface="Cambria" pitchFamily="34" charset="-122"/>
                <a:cs typeface="Cambria" pitchFamily="34" charset="-120"/>
              </a:rPr>
              <a:t>EduCred (This Project)</a:t>
            </a:r>
            <a:endParaRPr lang="en-US" sz="1800" dirty="0"/>
          </a:p>
        </p:txBody>
      </p:sp>
      <p:sp>
        <p:nvSpPr>
          <p:cNvPr id="8" name="EduCred check 1 circle"/>
          <p:cNvSpPr/>
          <p:nvPr/>
        </p:nvSpPr>
        <p:spPr>
          <a:xfrm>
            <a:off x="8366760" y="2231136"/>
            <a:ext cx="310896" cy="310896"/>
          </a:xfrm>
          <a:prstGeom prst="ellipse">
            <a:avLst/>
          </a:prstGeom>
          <a:solidFill>
            <a:schemeClr val="accent5"/>
          </a:solidFill>
          <a:ln/>
        </p:spPr>
      </p:sp>
      <p:pic>
        <p:nvPicPr>
          <p:cNvPr id="9" name="EduCred check 1" descr="EduCred check 1">    </p:cNvPr>
          <p:cNvPicPr>
            <a:picLocks noChangeAspect="1"/>
          </p:cNvPicPr>
          <p:nvPr/>
        </p:nvPicPr>
        <p:blipFill>
          <a:blip r:embed="rId1"/>
          <a:stretch>
            <a:fillRect/>
          </a:stretch>
        </p:blipFill>
        <p:spPr>
          <a:xfrm>
            <a:off x="8447593" y="2311969"/>
            <a:ext cx="149230" cy="149230"/>
          </a:xfrm>
          <a:prstGeom prst="rect">
            <a:avLst/>
          </a:prstGeom>
        </p:spPr>
      </p:pic>
      <p:sp>
        <p:nvSpPr>
          <p:cNvPr id="10" name="EduCred item 1"/>
          <p:cNvSpPr txBox="1"/>
          <p:nvPr/>
        </p:nvSpPr>
        <p:spPr>
          <a:xfrm>
            <a:off x="8796528" y="2194560"/>
            <a:ext cx="2697480" cy="566928"/>
          </a:xfrm>
          <a:prstGeom prst="rect">
            <a:avLst/>
          </a:prstGeom>
          <a:noFill/>
          <a:ln/>
        </p:spPr>
        <p:txBody>
          <a:bodyPr wrap="square" lIns="0" tIns="0" rIns="0" bIns="0" rtlCol="0" anchor="t"/>
          <a:lstStyle/>
          <a:p>
            <a:pPr algn="l" indent="0" marL="0">
              <a:buNone/>
            </a:pPr>
            <a:r>
              <a:rPr lang="en-US" sz="1400" b="1" dirty="0">
                <a:solidFill>
                  <a:schemeClr val="bg1"/>
                </a:solidFill>
              </a:rPr>
              <a:t>Zero verifier cost</a:t>
            </a:r>
            <a:endParaRPr lang="en-US" sz="1400" dirty="0"/>
          </a:p>
          <a:p>
            <a:pPr algn="l" indent="0" marL="0">
              <a:buNone/>
            </a:pPr>
            <a:r>
              <a:rPr lang="en-US" sz="1300" dirty="0">
                <a:solidFill>
                  <a:schemeClr val="bg2"/>
                </a:solidFill>
              </a:rPr>
              <a:t>Free O(1) view query</a:t>
            </a:r>
            <a:endParaRPr lang="en-US" sz="1400" dirty="0"/>
          </a:p>
        </p:txBody>
      </p:sp>
      <p:sp>
        <p:nvSpPr>
          <p:cNvPr id="11" name="EduCred check 2 circle"/>
          <p:cNvSpPr/>
          <p:nvPr/>
        </p:nvSpPr>
        <p:spPr>
          <a:xfrm>
            <a:off x="8366760" y="2898648"/>
            <a:ext cx="310896" cy="310896"/>
          </a:xfrm>
          <a:prstGeom prst="ellipse">
            <a:avLst/>
          </a:prstGeom>
          <a:solidFill>
            <a:schemeClr val="accent5"/>
          </a:solidFill>
          <a:ln/>
        </p:spPr>
      </p:sp>
      <p:pic>
        <p:nvPicPr>
          <p:cNvPr id="12" name="EduCred check 2" descr="EduCred check 2">    </p:cNvPr>
          <p:cNvPicPr>
            <a:picLocks noChangeAspect="1"/>
          </p:cNvPicPr>
          <p:nvPr/>
        </p:nvPicPr>
        <p:blipFill>
          <a:blip r:embed="rId2"/>
          <a:stretch>
            <a:fillRect/>
          </a:stretch>
        </p:blipFill>
        <p:spPr>
          <a:xfrm>
            <a:off x="8447593" y="2979481"/>
            <a:ext cx="149230" cy="149230"/>
          </a:xfrm>
          <a:prstGeom prst="rect">
            <a:avLst/>
          </a:prstGeom>
        </p:spPr>
      </p:pic>
      <p:sp>
        <p:nvSpPr>
          <p:cNvPr id="13" name="EduCred item 2"/>
          <p:cNvSpPr txBox="1"/>
          <p:nvPr/>
        </p:nvSpPr>
        <p:spPr>
          <a:xfrm>
            <a:off x="8796528" y="2862072"/>
            <a:ext cx="2697480" cy="566928"/>
          </a:xfrm>
          <a:prstGeom prst="rect">
            <a:avLst/>
          </a:prstGeom>
          <a:noFill/>
          <a:ln/>
        </p:spPr>
        <p:txBody>
          <a:bodyPr wrap="square" lIns="0" tIns="0" rIns="0" bIns="0" rtlCol="0" anchor="t"/>
          <a:lstStyle/>
          <a:p>
            <a:pPr algn="l" indent="0" marL="0">
              <a:buNone/>
            </a:pPr>
            <a:r>
              <a:rPr lang="en-US" sz="1400" b="1" dirty="0">
                <a:solidFill>
                  <a:schemeClr val="bg1"/>
                </a:solidFill>
              </a:rPr>
              <a:t>Sub-second latency</a:t>
            </a:r>
            <a:endParaRPr lang="en-US" sz="1400" dirty="0"/>
          </a:p>
          <a:p>
            <a:pPr algn="l" indent="0" marL="0">
              <a:buNone/>
            </a:pPr>
            <a:r>
              <a:rPr lang="en-US" sz="1300" dirty="0">
                <a:solidFill>
                  <a:schemeClr val="bg2"/>
                </a:solidFill>
              </a:rPr>
              <a:t>Verification in under 1 s</a:t>
            </a:r>
            <a:endParaRPr lang="en-US" sz="1400" dirty="0"/>
          </a:p>
        </p:txBody>
      </p:sp>
      <p:sp>
        <p:nvSpPr>
          <p:cNvPr id="14" name="EduCred check 3 circle"/>
          <p:cNvSpPr/>
          <p:nvPr/>
        </p:nvSpPr>
        <p:spPr>
          <a:xfrm>
            <a:off x="8366760" y="3566160"/>
            <a:ext cx="310896" cy="310896"/>
          </a:xfrm>
          <a:prstGeom prst="ellipse">
            <a:avLst/>
          </a:prstGeom>
          <a:solidFill>
            <a:schemeClr val="accent5"/>
          </a:solidFill>
          <a:ln/>
        </p:spPr>
      </p:sp>
      <p:pic>
        <p:nvPicPr>
          <p:cNvPr id="15" name="EduCred check 3" descr="EduCred check 3">    </p:cNvPr>
          <p:cNvPicPr>
            <a:picLocks noChangeAspect="1"/>
          </p:cNvPicPr>
          <p:nvPr/>
        </p:nvPicPr>
        <p:blipFill>
          <a:blip r:embed="rId3"/>
          <a:stretch>
            <a:fillRect/>
          </a:stretch>
        </p:blipFill>
        <p:spPr>
          <a:xfrm>
            <a:off x="8447593" y="3646993"/>
            <a:ext cx="149230" cy="149230"/>
          </a:xfrm>
          <a:prstGeom prst="rect">
            <a:avLst/>
          </a:prstGeom>
        </p:spPr>
      </p:pic>
      <p:sp>
        <p:nvSpPr>
          <p:cNvPr id="16" name="EduCred item 3"/>
          <p:cNvSpPr txBox="1"/>
          <p:nvPr/>
        </p:nvSpPr>
        <p:spPr>
          <a:xfrm>
            <a:off x="8796528" y="3529584"/>
            <a:ext cx="2697480" cy="566928"/>
          </a:xfrm>
          <a:prstGeom prst="rect">
            <a:avLst/>
          </a:prstGeom>
          <a:noFill/>
          <a:ln/>
        </p:spPr>
        <p:txBody>
          <a:bodyPr wrap="square" lIns="0" tIns="0" rIns="0" bIns="0" rtlCol="0" anchor="t"/>
          <a:lstStyle/>
          <a:p>
            <a:pPr algn="l" indent="0" marL="0">
              <a:buNone/>
            </a:pPr>
            <a:r>
              <a:rPr lang="en-US" sz="1400" b="1" dirty="0">
                <a:solidFill>
                  <a:schemeClr val="bg1"/>
                </a:solidFill>
              </a:rPr>
              <a:t>Zero PII leakage</a:t>
            </a:r>
            <a:endParaRPr lang="en-US" sz="1400" dirty="0"/>
          </a:p>
          <a:p>
            <a:pPr algn="l" indent="0" marL="0">
              <a:buNone/>
            </a:pPr>
            <a:r>
              <a:rPr lang="en-US" sz="1300" dirty="0">
                <a:solidFill>
                  <a:schemeClr val="bg2"/>
                </a:solidFill>
              </a:rPr>
              <a:t>Fully DPDP Act 2023 compliant</a:t>
            </a:r>
            <a:endParaRPr lang="en-US" sz="1400" dirty="0"/>
          </a:p>
        </p:txBody>
      </p:sp>
      <p:sp>
        <p:nvSpPr>
          <p:cNvPr id="17" name="EduCred check 4 circle"/>
          <p:cNvSpPr/>
          <p:nvPr/>
        </p:nvSpPr>
        <p:spPr>
          <a:xfrm>
            <a:off x="8366760" y="4233672"/>
            <a:ext cx="310896" cy="310896"/>
          </a:xfrm>
          <a:prstGeom prst="ellipse">
            <a:avLst/>
          </a:prstGeom>
          <a:solidFill>
            <a:schemeClr val="accent5"/>
          </a:solidFill>
          <a:ln/>
        </p:spPr>
      </p:sp>
      <p:pic>
        <p:nvPicPr>
          <p:cNvPr id="18" name="EduCred check 4" descr="EduCred check 4">    </p:cNvPr>
          <p:cNvPicPr>
            <a:picLocks noChangeAspect="1"/>
          </p:cNvPicPr>
          <p:nvPr/>
        </p:nvPicPr>
        <p:blipFill>
          <a:blip r:embed="rId4"/>
          <a:stretch>
            <a:fillRect/>
          </a:stretch>
        </p:blipFill>
        <p:spPr>
          <a:xfrm>
            <a:off x="8447593" y="4314505"/>
            <a:ext cx="149230" cy="149230"/>
          </a:xfrm>
          <a:prstGeom prst="rect">
            <a:avLst/>
          </a:prstGeom>
        </p:spPr>
      </p:pic>
      <p:sp>
        <p:nvSpPr>
          <p:cNvPr id="19" name="EduCred item 4"/>
          <p:cNvSpPr txBox="1"/>
          <p:nvPr/>
        </p:nvSpPr>
        <p:spPr>
          <a:xfrm>
            <a:off x="8796528" y="4197096"/>
            <a:ext cx="2697480" cy="566928"/>
          </a:xfrm>
          <a:prstGeom prst="rect">
            <a:avLst/>
          </a:prstGeom>
          <a:noFill/>
          <a:ln/>
        </p:spPr>
        <p:txBody>
          <a:bodyPr wrap="square" lIns="0" tIns="0" rIns="0" bIns="0" rtlCol="0" anchor="t"/>
          <a:lstStyle/>
          <a:p>
            <a:pPr algn="l" indent="0" marL="0">
              <a:buNone/>
            </a:pPr>
            <a:r>
              <a:rPr lang="en-US" sz="1400" b="1" dirty="0">
                <a:solidFill>
                  <a:schemeClr val="bg1"/>
                </a:solidFill>
              </a:rPr>
              <a:t>Non-destructive revocation</a:t>
            </a:r>
            <a:endParaRPr lang="en-US" sz="1400" dirty="0"/>
          </a:p>
          <a:p>
            <a:pPr algn="l" indent="0" marL="0">
              <a:buNone/>
            </a:pPr>
            <a:r>
              <a:rPr lang="en-US" sz="1300" dirty="0">
                <a:solidFill>
                  <a:schemeClr val="bg2"/>
                </a:solidFill>
              </a:rPr>
              <a:t>Legal audit trail preserved</a:t>
            </a:r>
            <a:endParaRPr lang="en-US" sz="1400" dirty="0"/>
          </a:p>
        </p:txBody>
      </p:sp>
      <p:sp>
        <p:nvSpPr>
          <p:cNvPr id="20" name="EduCred check 5 circle"/>
          <p:cNvSpPr/>
          <p:nvPr/>
        </p:nvSpPr>
        <p:spPr>
          <a:xfrm>
            <a:off x="8366760" y="4901184"/>
            <a:ext cx="310896" cy="310896"/>
          </a:xfrm>
          <a:prstGeom prst="ellipse">
            <a:avLst/>
          </a:prstGeom>
          <a:solidFill>
            <a:schemeClr val="accent5"/>
          </a:solidFill>
          <a:ln/>
        </p:spPr>
      </p:sp>
      <p:pic>
        <p:nvPicPr>
          <p:cNvPr id="21" name="EduCred check 5" descr="EduCred check 5">    </p:cNvPr>
          <p:cNvPicPr>
            <a:picLocks noChangeAspect="1"/>
          </p:cNvPicPr>
          <p:nvPr/>
        </p:nvPicPr>
        <p:blipFill>
          <a:blip r:embed="rId5"/>
          <a:stretch>
            <a:fillRect/>
          </a:stretch>
        </p:blipFill>
        <p:spPr>
          <a:xfrm>
            <a:off x="8447593" y="4982017"/>
            <a:ext cx="149230" cy="149230"/>
          </a:xfrm>
          <a:prstGeom prst="rect">
            <a:avLst/>
          </a:prstGeom>
        </p:spPr>
      </p:pic>
      <p:sp>
        <p:nvSpPr>
          <p:cNvPr id="22" name="EduCred item 5"/>
          <p:cNvSpPr txBox="1"/>
          <p:nvPr/>
        </p:nvSpPr>
        <p:spPr>
          <a:xfrm>
            <a:off x="8796528" y="4864608"/>
            <a:ext cx="2697480" cy="566928"/>
          </a:xfrm>
          <a:prstGeom prst="rect">
            <a:avLst/>
          </a:prstGeom>
          <a:noFill/>
          <a:ln/>
        </p:spPr>
        <p:txBody>
          <a:bodyPr wrap="square" lIns="0" tIns="0" rIns="0" bIns="0" rtlCol="0" anchor="t"/>
          <a:lstStyle/>
          <a:p>
            <a:pPr algn="l" indent="0" marL="0">
              <a:buNone/>
            </a:pPr>
            <a:r>
              <a:rPr lang="en-US" sz="1400" b="1" dirty="0">
                <a:solidFill>
                  <a:schemeClr val="bg1"/>
                </a:solidFill>
              </a:rPr>
              <a:t>Low issuance gas</a:t>
            </a:r>
            <a:endParaRPr lang="en-US" sz="1400" dirty="0"/>
          </a:p>
          <a:p>
            <a:pPr algn="l" indent="0" marL="0">
              <a:buNone/>
            </a:pPr>
            <a:r>
              <a:rPr lang="en-US" sz="1300" dirty="0">
                <a:solidFill>
                  <a:schemeClr val="bg2"/>
                </a:solidFill>
              </a:rPr>
              <a:t>68k single / 52k batch (-23.8%)</a:t>
            </a:r>
            <a:endParaRPr lang="en-US" sz="1400" dirty="0"/>
          </a:p>
        </p:txBody>
      </p:sp>
      <p:sp>
        <p:nvSpPr>
          <p:cNvPr id="23" name="EduCred check 6 circle"/>
          <p:cNvSpPr/>
          <p:nvPr/>
        </p:nvSpPr>
        <p:spPr>
          <a:xfrm>
            <a:off x="8366760" y="5568696"/>
            <a:ext cx="310896" cy="310896"/>
          </a:xfrm>
          <a:prstGeom prst="ellipse">
            <a:avLst/>
          </a:prstGeom>
          <a:solidFill>
            <a:schemeClr val="accent5"/>
          </a:solidFill>
          <a:ln/>
        </p:spPr>
      </p:sp>
      <p:pic>
        <p:nvPicPr>
          <p:cNvPr id="24" name="EduCred check 6" descr="EduCred check 6">    </p:cNvPr>
          <p:cNvPicPr>
            <a:picLocks noChangeAspect="1"/>
          </p:cNvPicPr>
          <p:nvPr/>
        </p:nvPicPr>
        <p:blipFill>
          <a:blip r:embed="rId6"/>
          <a:stretch>
            <a:fillRect/>
          </a:stretch>
        </p:blipFill>
        <p:spPr>
          <a:xfrm>
            <a:off x="8447593" y="5649529"/>
            <a:ext cx="149230" cy="149230"/>
          </a:xfrm>
          <a:prstGeom prst="rect">
            <a:avLst/>
          </a:prstGeom>
        </p:spPr>
      </p:pic>
      <p:sp>
        <p:nvSpPr>
          <p:cNvPr id="25" name="EduCred item 6"/>
          <p:cNvSpPr txBox="1"/>
          <p:nvPr/>
        </p:nvSpPr>
        <p:spPr>
          <a:xfrm>
            <a:off x="8796528" y="5532120"/>
            <a:ext cx="2697480" cy="566928"/>
          </a:xfrm>
          <a:prstGeom prst="rect">
            <a:avLst/>
          </a:prstGeom>
          <a:noFill/>
          <a:ln/>
        </p:spPr>
        <p:txBody>
          <a:bodyPr wrap="square" lIns="0" tIns="0" rIns="0" bIns="0" rtlCol="0" anchor="t"/>
          <a:lstStyle/>
          <a:p>
            <a:pPr algn="l" indent="0" marL="0">
              <a:buNone/>
            </a:pPr>
            <a:r>
              <a:rPr lang="en-US" sz="1400" b="1" dirty="0">
                <a:solidFill>
                  <a:schemeClr val="bg1"/>
                </a:solidFill>
              </a:rPr>
              <a:t>Emergency circuit-breaker</a:t>
            </a:r>
            <a:endParaRPr lang="en-US" sz="1400" dirty="0"/>
          </a:p>
          <a:p>
            <a:pPr algn="l" indent="0" marL="0">
              <a:buNone/>
            </a:pPr>
            <a:r>
              <a:rPr lang="en-US" sz="1300" dirty="0">
                <a:solidFill>
                  <a:schemeClr val="bg2"/>
                </a:solidFill>
              </a:rPr>
              <a:t>Halts writes during breaches</a:t>
            </a:r>
            <a:endParaRPr lang="en-US" sz="14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ph idx="100" type="body" hasCustomPrompt="1"/>
          </p:nvPr>
        </p:nvSpPr>
        <p:spPr>
          <a:xfrm>
            <a:off x="548640" y="292608"/>
            <a:ext cx="11094415"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CHAPTER 3  |  ARCHITECTURE &amp; SYSTEM DESIGN</a:t>
            </a:r>
            <a:endParaRPr lang="en-US" sz="1200" dirty="0"/>
          </a:p>
        </p:txBody>
      </p:sp>
      <p:sp>
        <p:nvSpPr>
          <p:cNvPr id="3" name="Text 0"/>
          <p:cNvSpPr txBox="1"/>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Decoupled Dual-Layer System Architecture</a:t>
            </a:r>
            <a:endParaRPr lang="en-US" sz="32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pic>
        <p:nvPicPr>
          <p:cNvPr id="26" name="Picture 25" descr="fig_arch.png"/>
          <p:cNvPicPr>
            <a:picLocks noChangeAspect="1"/>
          </p:cNvPicPr>
          <p:nvPr/>
        </p:nvPicPr>
        <p:blipFill>
          <a:blip r:embed="rId7"/>
          <a:stretch>
            <a:fillRect/>
          </a:stretch>
        </p:blipFill>
        <p:spPr>
          <a:xfrm>
            <a:off x="548640" y="1463040"/>
            <a:ext cx="7589520" cy="4800600"/>
          </a:xfrm>
          <a:prstGeom prst="rect">
            <a:avLst/>
          </a:prstGeom>
        </p:spPr>
      </p:pic>
      <p:sp>
        <p:nvSpPr>
          <p:cNvPr id="27" name="Rounded Rectangle 26"/>
          <p:cNvSpPr/>
          <p:nvPr/>
        </p:nvSpPr>
        <p:spPr>
          <a:xfrm>
            <a:off x="8321040" y="1463040"/>
            <a:ext cx="3319272" cy="4800600"/>
          </a:xfrm>
          <a:prstGeom prst="roundRect">
            <a:avLst>
              <a:gd name="adj" fmla="val 2597"/>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58200" y="1600200"/>
            <a:ext cx="3044952" cy="4526280"/>
          </a:xfrm>
          <a:prstGeom prst="rect">
            <a:avLst/>
          </a:prstGeom>
          <a:noFill/>
        </p:spPr>
        <p:txBody>
          <a:bodyPr wrap="square">
            <a:spAutoFit/>
          </a:bodyPr>
          <a:lstStyle/>
          <a:p>
            <a:pPr algn="l">
              <a:spcBef>
                <a:spcPts val="0"/>
              </a:spcBef>
              <a:defRPr sz="1000" b="1">
                <a:solidFill>
                  <a:srgbClr val="38BDF8"/>
                </a:solidFill>
                <a:latin typeface="Segoe UI"/>
              </a:defRPr>
            </a:pPr>
            <a:r>
              <a:rPr sz="1100"/>
              <a:t>LAYER 1: CLIENT INGESTION</a:t>
            </a:r>
          </a:p>
          <a:p>
            <a:pPr algn="l">
              <a:spcBef>
                <a:spcPts val="200"/>
              </a:spcBef>
              <a:defRPr sz="850" b="0">
                <a:solidFill>
                  <a:srgbClr val="CBD5E1"/>
                </a:solidFill>
                <a:latin typeface="Segoe UI"/>
              </a:defRPr>
            </a:pPr>
            <a:r>
              <a:rPr sz="1100"/>
              <a:t>React 18 and the W3C Web Crypto API (window.crypto.subtle). Computes the 32-byte SHA-256 hash locally in under 15 ms. Raw PDFs are never sent over the network unencrypted.</a:t>
            </a:r>
          </a:p>
          <a:p>
            <a:pPr algn="l">
              <a:spcBef>
                <a:spcPts val="1000"/>
              </a:spcBef>
              <a:defRPr sz="1000" b="1">
                <a:solidFill>
                  <a:srgbClr val="4ADE80"/>
                </a:solidFill>
                <a:latin typeface="Segoe UI"/>
              </a:defRPr>
            </a:pPr>
            <a:r>
              <a:rPr sz="1100"/>
              <a:t>LAYER 2: STORAGE DECOUPLING</a:t>
            </a:r>
          </a:p>
          <a:p>
            <a:pPr algn="l">
              <a:spcBef>
                <a:spcPts val="200"/>
              </a:spcBef>
              <a:defRPr sz="850" b="0">
                <a:solidFill>
                  <a:srgbClr val="CBD5E1"/>
                </a:solidFill>
                <a:latin typeface="Segoe UI"/>
              </a:defRPr>
            </a:pPr>
            <a:r>
              <a:rPr sz="1100"/>
              <a:t>InterPlanetary File System (IPFS). Stores the heavy PDF marksheets off-chain using Content Identifiers (CID). Can be fully erased on a Right to Erasure request.</a:t>
            </a:r>
          </a:p>
          <a:p>
            <a:pPr algn="l">
              <a:spcBef>
                <a:spcPts val="1000"/>
              </a:spcBef>
              <a:defRPr sz="1000" b="1">
                <a:solidFill>
                  <a:srgbClr val="38BDF8"/>
                </a:solidFill>
                <a:latin typeface="Segoe UI"/>
              </a:defRPr>
            </a:pPr>
            <a:r>
              <a:rPr sz="1100"/>
              <a:t>LAYER 3: CONSENSUS &amp; LEDGER</a:t>
            </a:r>
          </a:p>
          <a:p>
            <a:pPr algn="l">
              <a:spcBef>
                <a:spcPts val="200"/>
              </a:spcBef>
              <a:defRPr sz="850" b="0">
                <a:solidFill>
                  <a:srgbClr val="CBD5E1"/>
                </a:solidFill>
                <a:latin typeface="Segoe UI"/>
              </a:defRPr>
            </a:pPr>
            <a:r>
              <a:rPr sz="1100"/>
              <a:t>Solidity 0.8.20 on EVM / Polygon PoS. Constant-time O(1) mapping(bytes32 =&gt; Credential). OpenZeppelin v5 RBAC and a Pausable circuit-breaker.</a:t>
            </a:r>
          </a:p>
          <a:p>
            <a:pPr algn="l">
              <a:spcBef>
                <a:spcPts val="1000"/>
              </a:spcBef>
              <a:defRPr sz="1000" b="1">
                <a:solidFill>
                  <a:srgbClr val="4ADE80"/>
                </a:solidFill>
                <a:latin typeface="Segoe UI"/>
              </a:defRPr>
            </a:pPr>
            <a:r>
              <a:rPr sz="1100"/>
              <a:t>LAYER 4: PUBLIC VERIFICATION</a:t>
            </a:r>
          </a:p>
          <a:p>
            <a:pPr algn="l">
              <a:spcBef>
                <a:spcPts val="200"/>
              </a:spcBef>
              <a:defRPr sz="850" b="0">
                <a:solidFill>
                  <a:srgbClr val="CBD5E1"/>
                </a:solidFill>
                <a:latin typeface="Segoe UI"/>
              </a:defRPr>
            </a:pPr>
            <a:r>
              <a:rPr sz="1100"/>
              <a:t>Zero-gas view query. Recruiters drop the PDF into the web portal; the browser computes the hash and verifies in under 500 ms with no transaction fees.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ph idx="100" type="body" hasCustomPrompt="1"/>
          </p:nvPr>
        </p:nvSpPr>
        <p:spPr>
          <a:xfrm>
            <a:off x="548640" y="292608"/>
            <a:ext cx="11094415"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CHAPTER 4  |  SOLIDITY 0.8.20 &amp; OPENZEPPELIN V5</a:t>
            </a:r>
            <a:endParaRPr lang="en-US" sz="1200" dirty="0"/>
          </a:p>
        </p:txBody>
      </p:sp>
      <p:sp>
        <p:nvSpPr>
          <p:cNvPr id="3" name="Text 0"/>
          <p:cNvSpPr txBox="1"/>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Smart Contract Architecture &amp; State Machine</a:t>
            </a:r>
            <a:endParaRPr lang="en-US" sz="3200" dirty="0"/>
          </a:p>
        </p:txBody>
      </p:sp>
      <p:sp>
        <p:nvSpPr>
          <p:cNvPr id="14" name="Struct card"/>
          <p:cNvSpPr/>
          <p:nvPr/>
        </p:nvSpPr>
        <p:spPr>
          <a:xfrm>
            <a:off x="548640" y="2788920"/>
            <a:ext cx="3520440" cy="3474720"/>
          </a:xfrm>
          <a:prstGeom prst="roundRect">
            <a:avLst>
              <a:gd name="adj" fmla="val 2632"/>
            </a:avLst>
          </a:prstGeom>
          <a:solidFill>
            <a:schemeClr val="tx2"/>
          </a:solidFill>
          <a:ln/>
        </p:spPr>
      </p:sp>
      <p:sp>
        <p:nvSpPr>
          <p:cNvPr id="15" name="Struct label"/>
          <p:cNvSpPr txBox="1"/>
          <p:nvPr/>
        </p:nvSpPr>
        <p:spPr>
          <a:xfrm>
            <a:off x="822960" y="2971800"/>
            <a:ext cx="2926080" cy="256032"/>
          </a:xfrm>
          <a:prstGeom prst="rect">
            <a:avLst/>
          </a:prstGeom>
          <a:noFill/>
          <a:ln/>
        </p:spPr>
        <p:txBody>
          <a:bodyPr wrap="square" lIns="0" tIns="0" rIns="0" bIns="0" rtlCol="0" anchor="t"/>
          <a:lstStyle/>
          <a:p>
            <a:pPr algn="l" indent="0" marL="0">
              <a:buNone/>
            </a:pPr>
            <a:r>
              <a:rPr lang="en-US" sz="1200" b="1" spc="200" kern="0" dirty="0">
                <a:solidFill>
                  <a:schemeClr val="accent5"/>
                </a:solidFill>
              </a:rPr>
              <a:t>DATA STRUCTURE</a:t>
            </a:r>
            <a:endParaRPr lang="en-US" sz="1200" dirty="0"/>
          </a:p>
        </p:txBody>
      </p:sp>
      <p:sp>
        <p:nvSpPr>
          <p:cNvPr id="16" name="Struct code"/>
          <p:cNvSpPr txBox="1"/>
          <p:nvPr/>
        </p:nvSpPr>
        <p:spPr>
          <a:xfrm>
            <a:off x="822960" y="3337560"/>
            <a:ext cx="3063240" cy="1737360"/>
          </a:xfrm>
          <a:prstGeom prst="rect">
            <a:avLst/>
          </a:prstGeom>
          <a:noFill/>
          <a:ln/>
        </p:spPr>
        <p:txBody>
          <a:bodyPr wrap="square" lIns="0" tIns="0" rIns="0" bIns="0" rtlCol="0" anchor="t"/>
          <a:lstStyle/>
          <a:p>
            <a:pPr algn="l" indent="0" marL="0">
              <a:spcAft>
                <a:spcPts val="200"/>
              </a:spcAft>
              <a:buNone/>
            </a:pPr>
            <a:r>
              <a:rPr lang="en-US" sz="1300" dirty="0">
                <a:solidFill>
                  <a:schemeClr val="accent5"/>
                </a:solidFill>
                <a:latin typeface="Courier New" pitchFamily="34" charset="0"/>
                <a:ea typeface="Courier New" pitchFamily="34" charset="-122"/>
                <a:cs typeface="Courier New" pitchFamily="34" charset="-120"/>
              </a:rPr>
              <a:t>struct Credential {</a:t>
            </a:r>
            <a:endParaRPr lang="en-US" sz="1300" dirty="0"/>
          </a:p>
          <a:p>
            <a:pPr algn="l"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string  studentId;</a:t>
            </a:r>
            <a:endParaRPr lang="en-US" sz="1300" dirty="0"/>
          </a:p>
          <a:p>
            <a:pPr algn="l"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bytes32 sha256Hash;</a:t>
            </a:r>
            <a:endParaRPr lang="en-US" sz="1300" dirty="0"/>
          </a:p>
          <a:p>
            <a:pPr algn="l"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string  ipfsURI;</a:t>
            </a:r>
            <a:endParaRPr lang="en-US" sz="1300" dirty="0"/>
          </a:p>
          <a:p>
            <a:pPr algn="l"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uint256 issuedAt;</a:t>
            </a:r>
            <a:endParaRPr lang="en-US" sz="1300" dirty="0"/>
          </a:p>
          <a:p>
            <a:pPr algn="l"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address issuedBy;</a:t>
            </a:r>
            <a:endParaRPr lang="en-US" sz="1300" dirty="0"/>
          </a:p>
          <a:p>
            <a:pPr algn="l"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bool    isRevoked;</a:t>
            </a:r>
            <a:endParaRPr lang="en-US" sz="1300" dirty="0"/>
          </a:p>
          <a:p>
            <a:pPr algn="l" indent="0" marL="0">
              <a:spcAft>
                <a:spcPts val="200"/>
              </a:spcAft>
              <a:buNone/>
            </a:pPr>
            <a:r>
              <a:rPr lang="en-US" sz="1300" dirty="0">
                <a:solidFill>
                  <a:schemeClr val="accent5"/>
                </a:solidFill>
                <a:latin typeface="Courier New" pitchFamily="34" charset="0"/>
                <a:ea typeface="Courier New" pitchFamily="34" charset="-122"/>
                <a:cs typeface="Courier New" pitchFamily="34" charset="-120"/>
              </a:rPr>
              <a:t>}</a:t>
            </a:r>
            <a:endParaRPr lang="en-US" sz="1300" dirty="0"/>
          </a:p>
        </p:txBody>
      </p:sp>
      <p:sp>
        <p:nvSpPr>
          <p:cNvPr id="17" name="Struct caption"/>
          <p:cNvSpPr txBox="1"/>
          <p:nvPr/>
        </p:nvSpPr>
        <p:spPr>
          <a:xfrm>
            <a:off x="822960" y="5212080"/>
            <a:ext cx="3017520" cy="914400"/>
          </a:xfrm>
          <a:prstGeom prst="rect">
            <a:avLst/>
          </a:prstGeom>
          <a:noFill/>
          <a:ln/>
        </p:spPr>
        <p:txBody>
          <a:bodyPr wrap="square" lIns="0" tIns="0" rIns="0" bIns="0" rtlCol="0" anchor="t"/>
          <a:lstStyle/>
          <a:p>
            <a:pPr algn="l" indent="0" marL="0">
              <a:buNone/>
            </a:pPr>
            <a:r>
              <a:rPr lang="en-US" sz="1300" dirty="0">
                <a:solidFill>
                  <a:schemeClr val="bg2"/>
                </a:solidFill>
              </a:rPr>
              <a:t>A primary mapping from bytes32 to Credential gives O(1) lookup. Revocation flips a flag; it never deletes storage.</a:t>
            </a:r>
            <a:endParaRPr lang="en-US" sz="1300" dirty="0"/>
          </a:p>
        </p:txBody>
      </p:sp>
      <p:sp>
        <p:nvSpPr>
          <p:cNvPr id="18" name="Functions card"/>
          <p:cNvSpPr/>
          <p:nvPr/>
        </p:nvSpPr>
        <p:spPr>
          <a:xfrm>
            <a:off x="4334256" y="2788920"/>
            <a:ext cx="3520440" cy="3474720"/>
          </a:xfrm>
          <a:prstGeom prst="roundRect">
            <a:avLst>
              <a:gd name="adj" fmla="val 2632"/>
            </a:avLst>
          </a:prstGeom>
          <a:solidFill>
            <a:schemeClr val="bg2"/>
          </a:solidFill>
          <a:ln/>
        </p:spPr>
      </p:sp>
      <p:sp>
        <p:nvSpPr>
          <p:cNvPr id="19" name="Functions label"/>
          <p:cNvSpPr txBox="1"/>
          <p:nvPr/>
        </p:nvSpPr>
        <p:spPr>
          <a:xfrm>
            <a:off x="4608576" y="2971800"/>
            <a:ext cx="2926080"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CORE FUNCTIONS</a:t>
            </a:r>
            <a:endParaRPr lang="en-US" sz="1200" dirty="0"/>
          </a:p>
        </p:txBody>
      </p:sp>
      <p:sp>
        <p:nvSpPr>
          <p:cNvPr id="20" name="Function name 1"/>
          <p:cNvSpPr txBox="1"/>
          <p:nvPr/>
        </p:nvSpPr>
        <p:spPr>
          <a:xfrm>
            <a:off x="4608576" y="3355848"/>
            <a:ext cx="3017520" cy="246888"/>
          </a:xfrm>
          <a:prstGeom prst="rect">
            <a:avLst/>
          </a:prstGeom>
          <a:noFill/>
          <a:ln/>
        </p:spPr>
        <p:txBody>
          <a:bodyPr wrap="square" lIns="0" tIns="0" rIns="0" bIns="0" rtlCol="0" anchor="t"/>
          <a:lstStyle/>
          <a:p>
            <a:pPr algn="l" indent="0" marL="0">
              <a:buNone/>
            </a:pPr>
            <a:r>
              <a:rPr lang="en-US" sz="1300" b="1" dirty="0">
                <a:solidFill>
                  <a:schemeClr val="tx2"/>
                </a:solidFill>
                <a:latin typeface="Courier New" pitchFamily="34" charset="0"/>
                <a:ea typeface="Courier New" pitchFamily="34" charset="-122"/>
                <a:cs typeface="Courier New" pitchFamily="34" charset="-120"/>
              </a:rPr>
              <a:t>issueCredential()</a:t>
            </a:r>
            <a:endParaRPr lang="en-US" sz="1300" dirty="0"/>
          </a:p>
        </p:txBody>
      </p:sp>
      <p:sp>
        <p:nvSpPr>
          <p:cNvPr id="21" name="Function desc 1"/>
          <p:cNvSpPr txBox="1"/>
          <p:nvPr/>
        </p:nvSpPr>
        <p:spPr>
          <a:xfrm>
            <a:off x="4608576" y="3611880"/>
            <a:ext cx="3017520" cy="246888"/>
          </a:xfrm>
          <a:prstGeom prst="rect">
            <a:avLst/>
          </a:prstGeom>
          <a:noFill/>
          <a:ln/>
        </p:spPr>
        <p:txBody>
          <a:bodyPr wrap="square" lIns="0" tIns="0" rIns="0" bIns="0" rtlCol="0" anchor="t"/>
          <a:lstStyle/>
          <a:p>
            <a:pPr algn="l" indent="0" marL="0">
              <a:buNone/>
            </a:pPr>
            <a:r>
              <a:rPr lang="en-US" sz="1300" dirty="0">
                <a:solidFill>
                  <a:schemeClr val="tx1"/>
                </a:solidFill>
              </a:rPr>
              <a:t>Atomic issuance with novelty check</a:t>
            </a:r>
            <a:endParaRPr lang="en-US" sz="1300" dirty="0"/>
          </a:p>
        </p:txBody>
      </p:sp>
      <p:sp>
        <p:nvSpPr>
          <p:cNvPr id="22" name="Function name 2"/>
          <p:cNvSpPr txBox="1"/>
          <p:nvPr/>
        </p:nvSpPr>
        <p:spPr>
          <a:xfrm>
            <a:off x="4608576" y="3931920"/>
            <a:ext cx="3017520" cy="246888"/>
          </a:xfrm>
          <a:prstGeom prst="rect">
            <a:avLst/>
          </a:prstGeom>
          <a:noFill/>
          <a:ln/>
        </p:spPr>
        <p:txBody>
          <a:bodyPr wrap="square" lIns="0" tIns="0" rIns="0" bIns="0" rtlCol="0" anchor="t"/>
          <a:lstStyle/>
          <a:p>
            <a:pPr algn="l" indent="0" marL="0">
              <a:buNone/>
            </a:pPr>
            <a:r>
              <a:rPr lang="en-US" sz="1300" b="1" dirty="0">
                <a:solidFill>
                  <a:schemeClr val="tx2"/>
                </a:solidFill>
                <a:latin typeface="Courier New" pitchFamily="34" charset="0"/>
                <a:ea typeface="Courier New" pitchFamily="34" charset="-122"/>
                <a:cs typeface="Courier New" pitchFamily="34" charset="-120"/>
              </a:rPr>
              <a:t>batchIssueCredentials()</a:t>
            </a:r>
            <a:endParaRPr lang="en-US" sz="1300" dirty="0"/>
          </a:p>
        </p:txBody>
      </p:sp>
      <p:sp>
        <p:nvSpPr>
          <p:cNvPr id="23" name="Function desc 2"/>
          <p:cNvSpPr txBox="1"/>
          <p:nvPr/>
        </p:nvSpPr>
        <p:spPr>
          <a:xfrm>
            <a:off x="4608576" y="4187952"/>
            <a:ext cx="3017520" cy="246888"/>
          </a:xfrm>
          <a:prstGeom prst="rect">
            <a:avLst/>
          </a:prstGeom>
          <a:noFill/>
          <a:ln/>
        </p:spPr>
        <p:txBody>
          <a:bodyPr wrap="square" lIns="0" tIns="0" rIns="0" bIns="0" rtlCol="0" anchor="t"/>
          <a:lstStyle/>
          <a:p>
            <a:pPr algn="l" indent="0" marL="0">
              <a:buNone/>
            </a:pPr>
            <a:r>
              <a:rPr lang="en-US" sz="1300" dirty="0">
                <a:solidFill>
                  <a:schemeClr val="tx1"/>
                </a:solidFill>
              </a:rPr>
              <a:t>Bulk multi-certificate issuance</a:t>
            </a:r>
            <a:endParaRPr lang="en-US" sz="1300" dirty="0"/>
          </a:p>
        </p:txBody>
      </p:sp>
      <p:sp>
        <p:nvSpPr>
          <p:cNvPr id="24" name="Function name 3"/>
          <p:cNvSpPr txBox="1"/>
          <p:nvPr/>
        </p:nvSpPr>
        <p:spPr>
          <a:xfrm>
            <a:off x="4608576" y="4507992"/>
            <a:ext cx="3017520" cy="246888"/>
          </a:xfrm>
          <a:prstGeom prst="rect">
            <a:avLst/>
          </a:prstGeom>
          <a:noFill/>
          <a:ln/>
        </p:spPr>
        <p:txBody>
          <a:bodyPr wrap="square" lIns="0" tIns="0" rIns="0" bIns="0" rtlCol="0" anchor="t"/>
          <a:lstStyle/>
          <a:p>
            <a:pPr algn="l" indent="0" marL="0">
              <a:buNone/>
            </a:pPr>
            <a:r>
              <a:rPr lang="en-US" sz="1300" b="1" dirty="0">
                <a:solidFill>
                  <a:schemeClr val="tx2"/>
                </a:solidFill>
                <a:latin typeface="Courier New" pitchFamily="34" charset="0"/>
                <a:ea typeface="Courier New" pitchFamily="34" charset="-122"/>
                <a:cs typeface="Courier New" pitchFamily="34" charset="-120"/>
              </a:rPr>
              <a:t>revokeCredential()</a:t>
            </a:r>
            <a:endParaRPr lang="en-US" sz="1300" dirty="0"/>
          </a:p>
        </p:txBody>
      </p:sp>
      <p:sp>
        <p:nvSpPr>
          <p:cNvPr id="25" name="Function desc 3"/>
          <p:cNvSpPr txBox="1"/>
          <p:nvPr/>
        </p:nvSpPr>
        <p:spPr>
          <a:xfrm>
            <a:off x="4608576" y="4764024"/>
            <a:ext cx="3017520" cy="246888"/>
          </a:xfrm>
          <a:prstGeom prst="rect">
            <a:avLst/>
          </a:prstGeom>
          <a:noFill/>
          <a:ln/>
        </p:spPr>
        <p:txBody>
          <a:bodyPr wrap="square" lIns="0" tIns="0" rIns="0" bIns="0" rtlCol="0" anchor="t"/>
          <a:lstStyle/>
          <a:p>
            <a:pPr algn="l" indent="0" marL="0">
              <a:buNone/>
            </a:pPr>
            <a:r>
              <a:rPr lang="en-US" sz="1300" dirty="0">
                <a:solidFill>
                  <a:schemeClr val="tx1"/>
                </a:solidFill>
              </a:rPr>
              <a:t>Flips isRevoked; preserves evidence</a:t>
            </a:r>
            <a:endParaRPr lang="en-US" sz="1300" dirty="0"/>
          </a:p>
        </p:txBody>
      </p:sp>
      <p:sp>
        <p:nvSpPr>
          <p:cNvPr id="26" name="Function name 4"/>
          <p:cNvSpPr txBox="1"/>
          <p:nvPr/>
        </p:nvSpPr>
        <p:spPr>
          <a:xfrm>
            <a:off x="4608576" y="5084064"/>
            <a:ext cx="3017520" cy="246888"/>
          </a:xfrm>
          <a:prstGeom prst="rect">
            <a:avLst/>
          </a:prstGeom>
          <a:noFill/>
          <a:ln/>
        </p:spPr>
        <p:txBody>
          <a:bodyPr wrap="square" lIns="0" tIns="0" rIns="0" bIns="0" rtlCol="0" anchor="t"/>
          <a:lstStyle/>
          <a:p>
            <a:pPr algn="l" indent="0" marL="0">
              <a:buNone/>
            </a:pPr>
            <a:r>
              <a:rPr lang="en-US" sz="1300" b="1" dirty="0">
                <a:solidFill>
                  <a:schemeClr val="tx2"/>
                </a:solidFill>
                <a:latin typeface="Courier New" pitchFamily="34" charset="0"/>
                <a:ea typeface="Courier New" pitchFamily="34" charset="-122"/>
                <a:cs typeface="Courier New" pitchFamily="34" charset="-120"/>
              </a:rPr>
              <a:t>verifyByHash()</a:t>
            </a:r>
            <a:endParaRPr lang="en-US" sz="1300" dirty="0"/>
          </a:p>
        </p:txBody>
      </p:sp>
      <p:sp>
        <p:nvSpPr>
          <p:cNvPr id="27" name="Function desc 4"/>
          <p:cNvSpPr txBox="1"/>
          <p:nvPr/>
        </p:nvSpPr>
        <p:spPr>
          <a:xfrm>
            <a:off x="4608576" y="5340096"/>
            <a:ext cx="3017520" cy="246888"/>
          </a:xfrm>
          <a:prstGeom prst="rect">
            <a:avLst/>
          </a:prstGeom>
          <a:noFill/>
          <a:ln/>
        </p:spPr>
        <p:txBody>
          <a:bodyPr wrap="square" lIns="0" tIns="0" rIns="0" bIns="0" rtlCol="0" anchor="t"/>
          <a:lstStyle/>
          <a:p>
            <a:pPr algn="l" indent="0" marL="0">
              <a:buNone/>
            </a:pPr>
            <a:r>
              <a:rPr lang="en-US" sz="1300" dirty="0">
                <a:solidFill>
                  <a:schemeClr val="tx1"/>
                </a:solidFill>
              </a:rPr>
              <a:t>O(1) primary query, 0 gas</a:t>
            </a:r>
            <a:endParaRPr lang="en-US" sz="1300" dirty="0"/>
          </a:p>
        </p:txBody>
      </p:sp>
      <p:sp>
        <p:nvSpPr>
          <p:cNvPr id="28" name="Function name 5"/>
          <p:cNvSpPr txBox="1"/>
          <p:nvPr/>
        </p:nvSpPr>
        <p:spPr>
          <a:xfrm>
            <a:off x="4608576" y="5660136"/>
            <a:ext cx="3017520" cy="246888"/>
          </a:xfrm>
          <a:prstGeom prst="rect">
            <a:avLst/>
          </a:prstGeom>
          <a:noFill/>
          <a:ln/>
        </p:spPr>
        <p:txBody>
          <a:bodyPr wrap="square" lIns="0" tIns="0" rIns="0" bIns="0" rtlCol="0" anchor="t"/>
          <a:lstStyle/>
          <a:p>
            <a:pPr algn="l" indent="0" marL="0">
              <a:buNone/>
            </a:pPr>
            <a:r>
              <a:rPr lang="en-US" sz="1300" b="1" dirty="0">
                <a:solidFill>
                  <a:schemeClr val="tx2"/>
                </a:solidFill>
                <a:latin typeface="Courier New" pitchFamily="34" charset="0"/>
                <a:ea typeface="Courier New" pitchFamily="34" charset="-122"/>
                <a:cs typeface="Courier New" pitchFamily="34" charset="-120"/>
              </a:rPr>
              <a:t>verifyByStudentId()</a:t>
            </a:r>
            <a:endParaRPr lang="en-US" sz="1300" dirty="0"/>
          </a:p>
        </p:txBody>
      </p:sp>
      <p:sp>
        <p:nvSpPr>
          <p:cNvPr id="29" name="Function desc 5"/>
          <p:cNvSpPr txBox="1"/>
          <p:nvPr/>
        </p:nvSpPr>
        <p:spPr>
          <a:xfrm>
            <a:off x="4608576" y="5916168"/>
            <a:ext cx="3017520" cy="246888"/>
          </a:xfrm>
          <a:prstGeom prst="rect">
            <a:avLst/>
          </a:prstGeom>
          <a:noFill/>
          <a:ln/>
        </p:spPr>
        <p:txBody>
          <a:bodyPr wrap="square" lIns="0" tIns="0" rIns="0" bIns="0" rtlCol="0" anchor="t"/>
          <a:lstStyle/>
          <a:p>
            <a:pPr algn="l" indent="0" marL="0">
              <a:buNone/>
            </a:pPr>
            <a:r>
              <a:rPr lang="en-US" sz="1300" dirty="0">
                <a:solidFill>
                  <a:schemeClr val="tx1"/>
                </a:solidFill>
              </a:rPr>
              <a:t>Secondary index query, 0 gas</a:t>
            </a:r>
            <a:endParaRPr lang="en-US" sz="1300" dirty="0"/>
          </a:p>
        </p:txBody>
      </p:sp>
      <p:sp>
        <p:nvSpPr>
          <p:cNvPr id="30" name="Security card"/>
          <p:cNvSpPr/>
          <p:nvPr/>
        </p:nvSpPr>
        <p:spPr>
          <a:xfrm>
            <a:off x="8119872" y="2788920"/>
            <a:ext cx="3520440" cy="3474720"/>
          </a:xfrm>
          <a:prstGeom prst="roundRect">
            <a:avLst>
              <a:gd name="adj" fmla="val 2632"/>
            </a:avLst>
          </a:prstGeom>
          <a:solidFill>
            <a:schemeClr val="bg2"/>
          </a:solidFill>
          <a:ln/>
        </p:spPr>
      </p:sp>
      <p:sp>
        <p:nvSpPr>
          <p:cNvPr id="31" name="Security label"/>
          <p:cNvSpPr txBox="1"/>
          <p:nvPr/>
        </p:nvSpPr>
        <p:spPr>
          <a:xfrm>
            <a:off x="8394192" y="2971800"/>
            <a:ext cx="2926080"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SECURITY PATTERNS</a:t>
            </a:r>
            <a:endParaRPr lang="en-US" sz="1200" dirty="0"/>
          </a:p>
        </p:txBody>
      </p:sp>
      <p:sp>
        <p:nvSpPr>
          <p:cNvPr id="32" name="Security item 1"/>
          <p:cNvSpPr txBox="1"/>
          <p:nvPr/>
        </p:nvSpPr>
        <p:spPr>
          <a:xfrm>
            <a:off x="8394192" y="3383280"/>
            <a:ext cx="3017520" cy="658368"/>
          </a:xfrm>
          <a:prstGeom prst="rect">
            <a:avLst/>
          </a:prstGeom>
          <a:noFill/>
          <a:ln/>
        </p:spPr>
        <p:txBody>
          <a:bodyPr wrap="square" lIns="0" tIns="0" rIns="0" bIns="0" rtlCol="0" anchor="t"/>
          <a:lstStyle/>
          <a:p>
            <a:pPr algn="l" indent="0" marL="0">
              <a:buNone/>
            </a:pPr>
            <a:r>
              <a:rPr lang="en-US" sz="1400" b="1" dirty="0">
                <a:solidFill>
                  <a:schemeClr val="tx2"/>
                </a:solidFill>
              </a:rPr>
              <a:t>Ownable</a:t>
            </a:r>
            <a:endParaRPr lang="en-US" sz="1400" dirty="0"/>
          </a:p>
          <a:p>
            <a:pPr algn="l" indent="0" marL="0">
              <a:buNone/>
            </a:pPr>
            <a:r>
              <a:rPr lang="en-US" sz="1300" dirty="0">
                <a:solidFill>
                  <a:schemeClr val="tx1"/>
                </a:solidFill>
              </a:rPr>
              <a:t>Deployer admin controls the issuer whitelist</a:t>
            </a:r>
            <a:endParaRPr lang="en-US" sz="1400" dirty="0"/>
          </a:p>
        </p:txBody>
      </p:sp>
      <p:sp>
        <p:nvSpPr>
          <p:cNvPr id="33" name="Security item 2"/>
          <p:cNvSpPr txBox="1"/>
          <p:nvPr/>
        </p:nvSpPr>
        <p:spPr>
          <a:xfrm>
            <a:off x="8394192" y="4087368"/>
            <a:ext cx="3017520" cy="658368"/>
          </a:xfrm>
          <a:prstGeom prst="rect">
            <a:avLst/>
          </a:prstGeom>
          <a:noFill/>
          <a:ln/>
        </p:spPr>
        <p:txBody>
          <a:bodyPr wrap="square" lIns="0" tIns="0" rIns="0" bIns="0" rtlCol="0" anchor="t"/>
          <a:lstStyle/>
          <a:p>
            <a:pPr algn="l" indent="0" marL="0">
              <a:buNone/>
            </a:pPr>
            <a:r>
              <a:rPr lang="en-US" sz="1400" b="1" dirty="0">
                <a:solidFill>
                  <a:schemeClr val="tx2"/>
                </a:solidFill>
              </a:rPr>
              <a:t>RBAC: onlyAuthorised</a:t>
            </a:r>
            <a:endParaRPr lang="en-US" sz="1400" dirty="0"/>
          </a:p>
          <a:p>
            <a:pPr algn="l" indent="0" marL="0">
              <a:buNone/>
            </a:pPr>
            <a:r>
              <a:rPr lang="en-US" sz="1300" dirty="0">
                <a:solidFill>
                  <a:schemeClr val="tx1"/>
                </a:solidFill>
              </a:rPr>
              <a:t>Issuance and revocation limited to verified exam-cell wallets</a:t>
            </a:r>
            <a:endParaRPr lang="en-US" sz="1400" dirty="0"/>
          </a:p>
        </p:txBody>
      </p:sp>
      <p:sp>
        <p:nvSpPr>
          <p:cNvPr id="34" name="Security item 3"/>
          <p:cNvSpPr txBox="1"/>
          <p:nvPr/>
        </p:nvSpPr>
        <p:spPr>
          <a:xfrm>
            <a:off x="8394192" y="4791456"/>
            <a:ext cx="3017520" cy="658368"/>
          </a:xfrm>
          <a:prstGeom prst="rect">
            <a:avLst/>
          </a:prstGeom>
          <a:noFill/>
          <a:ln/>
        </p:spPr>
        <p:txBody>
          <a:bodyPr wrap="square" lIns="0" tIns="0" rIns="0" bIns="0" rtlCol="0" anchor="t"/>
          <a:lstStyle/>
          <a:p>
            <a:pPr algn="l" indent="0" marL="0">
              <a:buNone/>
            </a:pPr>
            <a:r>
              <a:rPr lang="en-US" sz="1400" b="1" dirty="0">
                <a:solidFill>
                  <a:schemeClr val="tx2"/>
                </a:solidFill>
              </a:rPr>
              <a:t>Pausable circuit-breaker</a:t>
            </a:r>
            <a:endParaRPr lang="en-US" sz="1400" dirty="0"/>
          </a:p>
          <a:p>
            <a:pPr algn="l" indent="0" marL="0">
              <a:buNone/>
            </a:pPr>
            <a:r>
              <a:rPr lang="en-US" sz="1300" dirty="0">
                <a:solidFill>
                  <a:schemeClr val="tx1"/>
                </a:solidFill>
              </a:rPr>
              <a:t>Halts writes on suspected key compromise; views stay live</a:t>
            </a:r>
            <a:endParaRPr lang="en-US" sz="1400" dirty="0"/>
          </a:p>
        </p:txBody>
      </p:sp>
      <p:sp>
        <p:nvSpPr>
          <p:cNvPr id="35" name="Security item 4"/>
          <p:cNvSpPr txBox="1"/>
          <p:nvPr/>
        </p:nvSpPr>
        <p:spPr>
          <a:xfrm>
            <a:off x="8394192" y="5495544"/>
            <a:ext cx="3017520" cy="658368"/>
          </a:xfrm>
          <a:prstGeom prst="rect">
            <a:avLst/>
          </a:prstGeom>
          <a:noFill/>
          <a:ln/>
        </p:spPr>
        <p:txBody>
          <a:bodyPr wrap="square" lIns="0" tIns="0" rIns="0" bIns="0" rtlCol="0" anchor="t"/>
          <a:lstStyle/>
          <a:p>
            <a:pPr algn="l" indent="0" marL="0">
              <a:buNone/>
            </a:pPr>
            <a:r>
              <a:rPr lang="en-US" sz="1400" b="1" dirty="0">
                <a:solidFill>
                  <a:schemeClr val="tx2"/>
                </a:solidFill>
              </a:rPr>
              <a:t>ReentrancyGuard</a:t>
            </a:r>
            <a:endParaRPr lang="en-US" sz="1400" dirty="0"/>
          </a:p>
          <a:p>
            <a:pPr algn="l" indent="0" marL="0">
              <a:buNone/>
            </a:pPr>
            <a:r>
              <a:rPr lang="en-US" sz="1300" dirty="0">
                <a:solidFill>
                  <a:schemeClr val="tx1"/>
                </a:solidFill>
              </a:rPr>
              <a:t>Blocks recursive external calls</a:t>
            </a:r>
            <a:endParaRPr lang="en-US" sz="14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
        <p:nvSpPr>
          <p:cNvPr id="36" name="State flow panel"/>
          <p:cNvSpPr/>
          <p:nvPr/>
        </p:nvSpPr>
        <p:spPr>
          <a:xfrm>
            <a:off x="548640" y="1463040"/>
            <a:ext cx="11091672" cy="1143000"/>
          </a:xfrm>
          <a:prstGeom prst="roundRect">
            <a:avLst>
              <a:gd name="adj" fmla="val 2597"/>
            </a:avLst>
          </a:prstGeom>
          <a:solidFill>
            <a:srgbClr val="FFFFFF"/>
          </a:solidFill>
          <a:ln w="12700">
            <a:solidFill>
              <a:srgbClr val="E2E8F0"/>
            </a:solidFill>
          </a:ln>
        </p:spPr>
      </p:sp>
      <p:sp>
        <p:nvSpPr>
          <p:cNvPr id="37" name="State box Draft / New"/>
          <p:cNvSpPr/>
          <p:nvPr/>
        </p:nvSpPr>
        <p:spPr>
          <a:xfrm>
            <a:off x="868680" y="1623060"/>
            <a:ext cx="2651760" cy="822960"/>
          </a:xfrm>
          <a:prstGeom prst="roundRect">
            <a:avLst>
              <a:gd name="adj" fmla="val 12000"/>
            </a:avLst>
          </a:prstGeom>
          <a:solidFill>
            <a:srgbClr val="F1F5F9"/>
          </a:solidFill>
          <a:ln w="19050">
            <a:solidFill>
              <a:srgbClr val="64748B"/>
            </a:solidFill>
          </a:ln>
        </p:spPr>
        <p:txBody>
          <a:bodyPr wrap="square" lIns="73152" tIns="36576" rIns="73152" bIns="36576" rtlCol="0" anchor="ctr"/>
          <a:lstStyle/>
          <a:p>
            <a:pPr algn="ctr" marL="0" indent="0">
              <a:spcAft>
                <a:spcPts val="200"/>
              </a:spcAft>
              <a:buNone/>
            </a:pPr>
            <a:r>
              <a:rPr lang="en-US" sz="1400" b="1" dirty="0">
                <a:solidFill>
                  <a:srgbClr val="0B1B3A"/>
                </a:solidFill>
                <a:latin typeface="Cambria" pitchFamily="34" charset="0"/>
                <a:ea typeface="Cambria" pitchFamily="34" charset="-122"/>
                <a:cs typeface="Cambria" pitchFamily="34" charset="-120"/>
              </a:rPr>
              <a:t>Draft / New</a:t>
            </a:r>
            <a:endParaRPr lang="en-US" sz="1200" dirty="0"/>
          </a:p>
          <a:p>
            <a:pPr algn="ctr" marL="0" indent="0">
              <a:buNone/>
            </a:pPr>
            <a:r>
              <a:rPr lang="en-US" sz="1200" dirty="0">
                <a:solidFill>
                  <a:srgbClr val="0B1B3A"/>
                </a:solidFill>
              </a:rPr>
              <a:t>PDF generated by the</a:t>
            </a:r>
            <a:endParaRPr lang="en-US" sz="1200" dirty="0"/>
          </a:p>
          <a:p>
            <a:pPr algn="ctr" marL="0" indent="0">
              <a:buNone/>
            </a:pPr>
            <a:r>
              <a:rPr lang="en-US" sz="1200" dirty="0">
                <a:solidFill>
                  <a:srgbClr val="0B1B3A"/>
                </a:solidFill>
              </a:rPr>
              <a:t>University Exam Cell</a:t>
            </a:r>
            <a:endParaRPr lang="en-US" sz="1200" dirty="0"/>
          </a:p>
        </p:txBody>
      </p:sp>
      <p:sp>
        <p:nvSpPr>
          <p:cNvPr id="38" name="State box Issued &amp; Active"/>
          <p:cNvSpPr/>
          <p:nvPr/>
        </p:nvSpPr>
        <p:spPr>
          <a:xfrm>
            <a:off x="4768596" y="1623060"/>
            <a:ext cx="2651760" cy="822960"/>
          </a:xfrm>
          <a:prstGeom prst="roundRect">
            <a:avLst>
              <a:gd name="adj" fmla="val 12000"/>
            </a:avLst>
          </a:prstGeom>
          <a:solidFill>
            <a:srgbClr val="DCFCE7"/>
          </a:solidFill>
          <a:ln w="19050">
            <a:solidFill>
              <a:srgbClr val="16A34A"/>
            </a:solidFill>
          </a:ln>
        </p:spPr>
        <p:txBody>
          <a:bodyPr wrap="square" lIns="73152" tIns="36576" rIns="73152" bIns="36576" rtlCol="0" anchor="ctr"/>
          <a:lstStyle/>
          <a:p>
            <a:pPr algn="ctr" marL="0" indent="0">
              <a:spcAft>
                <a:spcPts val="200"/>
              </a:spcAft>
              <a:buNone/>
            </a:pPr>
            <a:r>
              <a:rPr lang="en-US" sz="1400" b="1" dirty="0">
                <a:solidFill>
                  <a:srgbClr val="14532D"/>
                </a:solidFill>
                <a:latin typeface="Cambria" pitchFamily="34" charset="0"/>
                <a:ea typeface="Cambria" pitchFamily="34" charset="-122"/>
                <a:cs typeface="Cambria" pitchFamily="34" charset="-120"/>
              </a:rPr>
              <a:t>Issued &amp; Active</a:t>
            </a:r>
            <a:endParaRPr lang="en-US" sz="1200" dirty="0"/>
          </a:p>
          <a:p>
            <a:pPr algn="ctr" marL="0" indent="0">
              <a:buNone/>
            </a:pPr>
            <a:r>
              <a:rPr lang="en-US" sz="1200" dirty="0">
                <a:solidFill>
                  <a:srgbClr val="14532D"/>
                </a:solidFill>
              </a:rPr>
              <a:t>Hash registered on-chain</a:t>
            </a:r>
            <a:endParaRPr lang="en-US" sz="1200" dirty="0"/>
          </a:p>
          <a:p>
            <a:pPr algn="ctr" marL="0" indent="0">
              <a:buNone/>
            </a:pPr>
            <a:r>
              <a:rPr lang="en-US" sz="1200" dirty="0">
                <a:solidFill>
                  <a:srgbClr val="14532D"/>
                </a:solidFill>
              </a:rPr>
              <a:t>Status: valid, isRevoked = false</a:t>
            </a:r>
            <a:endParaRPr lang="en-US" sz="1200" dirty="0"/>
          </a:p>
        </p:txBody>
      </p:sp>
      <p:sp>
        <p:nvSpPr>
          <p:cNvPr id="39" name="State box Revoked"/>
          <p:cNvSpPr/>
          <p:nvPr/>
        </p:nvSpPr>
        <p:spPr>
          <a:xfrm>
            <a:off x="8668512" y="1623060"/>
            <a:ext cx="2651760" cy="822960"/>
          </a:xfrm>
          <a:prstGeom prst="roundRect">
            <a:avLst>
              <a:gd name="adj" fmla="val 12000"/>
            </a:avLst>
          </a:prstGeom>
          <a:solidFill>
            <a:srgbClr val="FEE2E2"/>
          </a:solidFill>
          <a:ln w="19050">
            <a:solidFill>
              <a:srgbClr val="DC2626"/>
            </a:solidFill>
          </a:ln>
        </p:spPr>
        <p:txBody>
          <a:bodyPr wrap="square" lIns="73152" tIns="36576" rIns="73152" bIns="36576" rtlCol="0" anchor="ctr"/>
          <a:lstStyle/>
          <a:p>
            <a:pPr algn="ctr" marL="0" indent="0">
              <a:spcAft>
                <a:spcPts val="200"/>
              </a:spcAft>
              <a:buNone/>
            </a:pPr>
            <a:r>
              <a:rPr lang="en-US" sz="1400" b="1" dirty="0">
                <a:solidFill>
                  <a:srgbClr val="7F1D1D"/>
                </a:solidFill>
                <a:latin typeface="Cambria" pitchFamily="34" charset="0"/>
                <a:ea typeface="Cambria" pitchFamily="34" charset="-122"/>
                <a:cs typeface="Cambria" pitchFamily="34" charset="-120"/>
              </a:rPr>
              <a:t>Revoked</a:t>
            </a:r>
            <a:endParaRPr lang="en-US" sz="1200" dirty="0"/>
          </a:p>
          <a:p>
            <a:pPr algn="ctr" marL="0" indent="0">
              <a:buNone/>
            </a:pPr>
            <a:r>
              <a:rPr lang="en-US" sz="1200" dirty="0">
                <a:solidFill>
                  <a:srgbClr val="7F1D1D"/>
                </a:solidFill>
              </a:rPr>
              <a:t>Marked invalid on-chain</a:t>
            </a:r>
            <a:endParaRPr lang="en-US" sz="1200" dirty="0"/>
          </a:p>
          <a:p>
            <a:pPr algn="ctr" marL="0" indent="0">
              <a:buNone/>
            </a:pPr>
            <a:r>
              <a:rPr lang="en-US" sz="1200" dirty="0">
                <a:solidFill>
                  <a:srgbClr val="7F1D1D"/>
                </a:solidFill>
              </a:rPr>
              <a:t>isRevoked = true, audit trail kept</a:t>
            </a:r>
            <a:endParaRPr lang="en-US" sz="1200" dirty="0"/>
          </a:p>
        </p:txBody>
      </p:sp>
      <p:sp>
        <p:nvSpPr>
          <p:cNvPr id="40" name="Flow arrow"/>
          <p:cNvSpPr/>
          <p:nvPr/>
        </p:nvSpPr>
        <p:spPr>
          <a:xfrm>
            <a:off x="3870198" y="1915668"/>
            <a:ext cx="548640" cy="237744"/>
          </a:xfrm>
          <a:prstGeom prst="rightArrow">
            <a:avLst/>
          </a:prstGeom>
          <a:solidFill>
            <a:srgbClr val="64748B"/>
          </a:solidFill>
          <a:ln/>
        </p:spPr>
      </p:sp>
      <p:sp>
        <p:nvSpPr>
          <p:cNvPr id="41" name="Flow label"/>
          <p:cNvSpPr txBox="1"/>
          <p:nvPr/>
        </p:nvSpPr>
        <p:spPr>
          <a:xfrm>
            <a:off x="3557015" y="1444752"/>
            <a:ext cx="1175004" cy="457200"/>
          </a:xfrm>
          <a:prstGeom prst="rect">
            <a:avLst/>
          </a:prstGeom>
          <a:noFill/>
          <a:ln/>
        </p:spPr>
        <p:txBody>
          <a:bodyPr wrap="square" lIns="0" tIns="0" rIns="0" bIns="0" rtlCol="0" anchor="b"/>
          <a:lstStyle/>
          <a:p>
            <a:pPr algn="ctr" marL="0" indent="0">
              <a:buNone/>
            </a:pPr>
            <a:r>
              <a:rPr lang="en-US" sz="1100" b="1" dirty="0">
                <a:solidFill>
                  <a:srgbClr val="1E3A8A"/>
                </a:solidFill>
              </a:rPr>
              <a:t>issueCredential()</a:t>
            </a:r>
            <a:endParaRPr lang="en-US" sz="1200" dirty="0"/>
          </a:p>
          <a:p>
            <a:pPr algn="ctr" marL="0" indent="0">
              <a:buNone/>
            </a:pPr>
            <a:r>
              <a:rPr lang="en-US" sz="1050" dirty="0">
                <a:solidFill>
                  <a:srgbClr val="475569"/>
                </a:solidFill>
              </a:rPr>
              <a:t>hash + metadata</a:t>
            </a:r>
            <a:endParaRPr lang="en-US" sz="1200" dirty="0"/>
          </a:p>
        </p:txBody>
      </p:sp>
      <p:sp>
        <p:nvSpPr>
          <p:cNvPr id="42" name="Flow arrow"/>
          <p:cNvSpPr/>
          <p:nvPr/>
        </p:nvSpPr>
        <p:spPr>
          <a:xfrm>
            <a:off x="7770113" y="1915668"/>
            <a:ext cx="548640" cy="237744"/>
          </a:xfrm>
          <a:prstGeom prst="rightArrow">
            <a:avLst/>
          </a:prstGeom>
          <a:solidFill>
            <a:srgbClr val="64748B"/>
          </a:solidFill>
          <a:ln/>
        </p:spPr>
      </p:sp>
      <p:sp>
        <p:nvSpPr>
          <p:cNvPr id="43" name="Flow label"/>
          <p:cNvSpPr txBox="1"/>
          <p:nvPr/>
        </p:nvSpPr>
        <p:spPr>
          <a:xfrm>
            <a:off x="7456931" y="1444752"/>
            <a:ext cx="1175004" cy="457200"/>
          </a:xfrm>
          <a:prstGeom prst="rect">
            <a:avLst/>
          </a:prstGeom>
          <a:noFill/>
          <a:ln/>
        </p:spPr>
        <p:txBody>
          <a:bodyPr wrap="square" lIns="0" tIns="0" rIns="0" bIns="0" rtlCol="0" anchor="b"/>
          <a:lstStyle/>
          <a:p>
            <a:pPr algn="ctr" marL="0" indent="0">
              <a:buNone/>
            </a:pPr>
            <a:r>
              <a:rPr lang="en-US" sz="1100" b="1" dirty="0">
                <a:solidFill>
                  <a:srgbClr val="B91C1C"/>
                </a:solidFill>
              </a:rPr>
              <a:t>revokeCredential()</a:t>
            </a:r>
            <a:endParaRPr lang="en-US" sz="1200" dirty="0"/>
          </a:p>
          <a:p>
            <a:pPr algn="ctr" marL="0" indent="0">
              <a:buNone/>
            </a:pPr>
            <a:r>
              <a:rPr lang="en-US" sz="1050" dirty="0">
                <a:solidFill>
                  <a:srgbClr val="475569"/>
                </a:solidFill>
              </a:rPr>
              <a:t>by authorized admin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ph idx="100" type="body" hasCustomPrompt="1"/>
          </p:nvPr>
        </p:nvSpPr>
        <p:spPr>
          <a:xfrm>
            <a:off x="548640" y="292608"/>
            <a:ext cx="11094415"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REACT 18  |  VITE  |  TAILWIND CSS  |  ETHERS.JS V6</a:t>
            </a:r>
            <a:endParaRPr lang="en-US" sz="1200" dirty="0"/>
          </a:p>
        </p:txBody>
      </p:sp>
      <p:sp>
        <p:nvSpPr>
          <p:cNvPr id="3" name="Text 0"/>
          <p:cNvSpPr txBox="1"/>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Web3 Client Dashboard &amp; UX</a:t>
            </a:r>
            <a:endParaRPr lang="en-US" sz="32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8</a:t>
            </a:fld>
            <a:endParaRPr lang="en-US"/>
          </a:p>
        </p:txBody>
      </p:sp>
      <p:pic>
        <p:nvPicPr>
          <p:cNvPr id="26" name="Picture 25" descr="screenshot_dashboard.png"/>
          <p:cNvPicPr>
            <a:picLocks noChangeAspect="1"/>
          </p:cNvPicPr>
          <p:nvPr/>
        </p:nvPicPr>
        <p:blipFill>
          <a:blip r:embed="rId6"/>
          <a:stretch>
            <a:fillRect/>
          </a:stretch>
        </p:blipFill>
        <p:spPr>
          <a:xfrm>
            <a:off x="548640" y="1463040"/>
            <a:ext cx="7589520" cy="4800600"/>
          </a:xfrm>
          <a:prstGeom prst="rect">
            <a:avLst/>
          </a:prstGeom>
        </p:spPr>
      </p:pic>
      <p:sp>
        <p:nvSpPr>
          <p:cNvPr id="27" name="Rounded Rectangle 26"/>
          <p:cNvSpPr/>
          <p:nvPr/>
        </p:nvSpPr>
        <p:spPr>
          <a:xfrm>
            <a:off x="8321040" y="1463040"/>
            <a:ext cx="3319272" cy="4800600"/>
          </a:xfrm>
          <a:prstGeom prst="roundRect">
            <a:avLst>
              <a:gd name="adj" fmla="val 2597"/>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58200" y="1600200"/>
            <a:ext cx="3044952" cy="4526280"/>
          </a:xfrm>
          <a:prstGeom prst="rect">
            <a:avLst/>
          </a:prstGeom>
          <a:noFill/>
        </p:spPr>
        <p:txBody>
          <a:bodyPr wrap="square">
            <a:spAutoFit/>
          </a:bodyPr>
          <a:lstStyle/>
          <a:p>
            <a:pPr algn="l">
              <a:spcBef>
                <a:spcPts val="0"/>
              </a:spcBef>
              <a:defRPr sz="950" b="1">
                <a:solidFill>
                  <a:srgbClr val="38BDF8"/>
                </a:solidFill>
                <a:latin typeface="Segoe UI"/>
              </a:defRPr>
            </a:pPr>
            <a:r>
              <a:rPr sz="1100"/>
              <a:t>LIVE STATS BAR</a:t>
            </a:r>
          </a:p>
          <a:p>
            <a:pPr algn="l">
              <a:spcBef>
                <a:spcPts val="150"/>
              </a:spcBef>
              <a:defRPr sz="800" b="0">
                <a:solidFill>
                  <a:srgbClr val="CBD5E1"/>
                </a:solidFill>
                <a:latin typeface="Segoe UI"/>
              </a:defRPr>
            </a:pPr>
            <a:r>
              <a:rPr sz="1100"/>
              <a:t>Shows real-time on-chain figures: 1,248 issued, 3 revoked, 0 gas verifier fee and 100% DPDP Act compliance status.</a:t>
            </a:r>
          </a:p>
          <a:p>
            <a:pPr algn="l">
              <a:spcBef>
                <a:spcPts val="1000"/>
              </a:spcBef>
              <a:defRPr sz="950" b="1">
                <a:solidFill>
                  <a:srgbClr val="4ADE80"/>
                </a:solidFill>
                <a:latin typeface="Segoe UI"/>
              </a:defRPr>
            </a:pPr>
            <a:r>
              <a:rPr sz="1100"/>
              <a:t>ONE-CLICK EVALUATOR MODE</a:t>
            </a:r>
          </a:p>
          <a:p>
            <a:pPr algn="l">
              <a:spcBef>
                <a:spcPts val="150"/>
              </a:spcBef>
              <a:defRPr sz="800" b="0">
                <a:solidFill>
                  <a:srgbClr val="CBD5E1"/>
                </a:solidFill>
                <a:latin typeface="Segoe UI"/>
              </a:defRPr>
            </a:pPr>
            <a:r>
              <a:rPr sz="1100"/>
              <a:t>Comes pre-loaded with a genuine NMIMS grade card (9.42 CGPA) and an altered one (9.99 CGPA) for quick evaluation during the viva.</a:t>
            </a:r>
          </a:p>
          <a:p>
            <a:pPr algn="l">
              <a:spcBef>
                <a:spcPts val="1000"/>
              </a:spcBef>
              <a:defRPr sz="950" b="1">
                <a:solidFill>
                  <a:srgbClr val="38BDF8"/>
                </a:solidFill>
                <a:latin typeface="Segoe UI"/>
              </a:defRPr>
            </a:pPr>
            <a:r>
              <a:rPr sz="1100"/>
              <a:t>IN-BROWSER CRYPTOGRAPHY</a:t>
            </a:r>
          </a:p>
          <a:p>
            <a:pPr algn="l">
              <a:spcBef>
                <a:spcPts val="150"/>
              </a:spcBef>
              <a:defRPr sz="800" b="0">
                <a:solidFill>
                  <a:srgbClr val="CBD5E1"/>
                </a:solidFill>
                <a:latin typeface="Segoe UI"/>
              </a:defRPr>
            </a:pPr>
            <a:r>
              <a:rPr sz="1100"/>
              <a:t>The W3C Web Crypto API computes the SHA-256 digest in local memory (&lt;15 ms). No student PII leaves the browser.</a:t>
            </a:r>
          </a:p>
          <a:p>
            <a:pPr algn="l">
              <a:spcBef>
                <a:spcPts val="1000"/>
              </a:spcBef>
              <a:defRPr sz="950" b="1">
                <a:solidFill>
                  <a:srgbClr val="F87171"/>
                </a:solidFill>
                <a:latin typeface="Segoe UI"/>
              </a:defRPr>
            </a:pPr>
            <a:r>
              <a:rPr sz="1100"/>
              <a:t>INSTANT TAMPER DETECTION</a:t>
            </a:r>
          </a:p>
          <a:p>
            <a:pPr algn="l">
              <a:spcBef>
                <a:spcPts val="150"/>
              </a:spcBef>
              <a:defRPr sz="800" b="0">
                <a:solidFill>
                  <a:srgbClr val="CBD5E1"/>
                </a:solidFill>
                <a:latin typeface="Segoe UI"/>
              </a:defRPr>
            </a:pPr>
            <a:r>
              <a:rPr sz="1100"/>
              <a:t>A tampered certificate triggers a red alert at once, with 134/256 bits flipped (52.34%, in line with the Strict Avalanche Criterion).</a:t>
            </a:r>
          </a:p>
          <a:p>
            <a:pPr algn="l">
              <a:spcBef>
                <a:spcPts val="1000"/>
              </a:spcBef>
              <a:defRPr sz="950" b="1">
                <a:solidFill>
                  <a:srgbClr val="4ADE80"/>
                </a:solidFill>
                <a:latin typeface="Segoe UI"/>
              </a:defRPr>
            </a:pPr>
            <a:r>
              <a:rPr sz="1100"/>
              <a:t>NO WALLET REQUIRED</a:t>
            </a:r>
          </a:p>
          <a:p>
            <a:pPr algn="l">
              <a:spcBef>
                <a:spcPts val="150"/>
              </a:spcBef>
              <a:defRPr sz="800" b="0">
                <a:solidFill>
                  <a:srgbClr val="CBD5E1"/>
                </a:solidFill>
                <a:latin typeface="Segoe UI"/>
              </a:defRPr>
            </a:pPr>
            <a:r>
              <a:rPr sz="1100"/>
              <a:t>Employers and HR recruiters can verify credentials with no gas fees and no Web3 setup.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ph idx="100" type="body" hasCustomPrompt="1"/>
          </p:nvPr>
        </p:nvSpPr>
        <p:spPr>
          <a:xfrm>
            <a:off x="548640" y="292608"/>
            <a:ext cx="11094415"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CHAPTER 4  |  TESTING, VALIDATION &amp; VERIFICATION</a:t>
            </a:r>
            <a:endParaRPr lang="en-US" sz="1200" dirty="0"/>
          </a:p>
        </p:txBody>
      </p:sp>
      <p:sp>
        <p:nvSpPr>
          <p:cNvPr id="3" name="Text 0"/>
          <p:cNvSpPr txBox="1"/>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Automated Verification: 29 Tests, 100% Pass</a:t>
            </a:r>
            <a:endParaRPr lang="en-US" sz="32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9</a:t>
            </a:fld>
            <a:endParaRPr lang="en-US"/>
          </a:p>
        </p:txBody>
      </p:sp>
      <p:pic>
        <p:nvPicPr>
          <p:cNvPr id="26" name="Picture 25" descr="screenshot_tests.png"/>
          <p:cNvPicPr>
            <a:picLocks noChangeAspect="1"/>
          </p:cNvPicPr>
          <p:nvPr/>
        </p:nvPicPr>
        <p:blipFill>
          <a:blip r:embed="rId8"/>
          <a:stretch>
            <a:fillRect/>
          </a:stretch>
        </p:blipFill>
        <p:spPr>
          <a:xfrm>
            <a:off x="548640" y="1463040"/>
            <a:ext cx="5303520" cy="4800600"/>
          </a:xfrm>
          <a:prstGeom prst="rect">
            <a:avLst/>
          </a:prstGeom>
        </p:spPr>
      </p:pic>
      <p:graphicFrame>
        <p:nvGraphicFramePr>
          <p:cNvPr id="27" name="Table 26"/>
          <p:cNvGraphicFramePr>
            <a:graphicFrameLocks noGrp="1"/>
          </p:cNvGraphicFramePr>
          <p:nvPr/>
        </p:nvGraphicFramePr>
        <p:xfrm>
          <a:off x="6035040" y="1463040"/>
          <a:ext cx="5605272" cy="4782312"/>
        </p:xfrm>
        <a:graphic>
          <a:graphicData uri="http://schemas.openxmlformats.org/drawingml/2006/table">
            <a:tbl>
              <a:tblPr/>
              <a:tblGrid>
                <a:gridCol w="2011680"/>
                <a:gridCol w="640080"/>
                <a:gridCol w="2221992"/>
                <a:gridCol w="731520"/>
              </a:tblGrid>
              <a:tr h="502920">
                <a:tc>
                  <a:txBody>
                    <a:bodyPr/>
                    <a:lstStyle/>
                    <a:p>
                      <a:pPr algn="l" marL="0" indent="0">
                        <a:buNone/>
                      </a:pPr>
                      <a:r>
                        <a:rPr lang="en-US" sz="1200" b="1" dirty="0">
                          <a:solidFill>
                            <a:srgbClr val="FFFFFF"/>
                          </a:solidFill>
                        </a:rPr>
                        <a:t>Test Suite Category</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0B1B3A"/>
                    </a:solidFill>
                  </a:tcPr>
                </a:tc>
                <a:tc>
                  <a:txBody>
                    <a:bodyPr/>
                    <a:lstStyle/>
                    <a:p>
                      <a:pPr algn="ctr" marL="0" indent="0">
                        <a:buNone/>
                      </a:pPr>
                      <a:r>
                        <a:rPr lang="en-US" sz="1200" b="1" dirty="0">
                          <a:solidFill>
                            <a:srgbClr val="FFFFFF"/>
                          </a:solidFill>
                        </a:rPr>
                        <a:t>Tests</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0B1B3A"/>
                    </a:solidFill>
                  </a:tcPr>
                </a:tc>
                <a:tc>
                  <a:txBody>
                    <a:bodyPr/>
                    <a:lstStyle/>
                    <a:p>
                      <a:pPr algn="l" marL="0" indent="0">
                        <a:buNone/>
                      </a:pPr>
                      <a:r>
                        <a:rPr lang="en-US" sz="1200" b="1" dirty="0">
                          <a:solidFill>
                            <a:srgbClr val="FFFFFF"/>
                          </a:solidFill>
                        </a:rPr>
                        <a:t>Key Invariant Asserted</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0B1B3A"/>
                    </a:solidFill>
                  </a:tcPr>
                </a:tc>
                <a:tc>
                  <a:txBody>
                    <a:bodyPr/>
                    <a:lstStyle/>
                    <a:p>
                      <a:pPr algn="ctr" marL="0" indent="0">
                        <a:buNone/>
                      </a:pPr>
                      <a:r>
                        <a:rPr lang="en-US" sz="1200" b="1" dirty="0">
                          <a:solidFill>
                            <a:srgbClr val="FFFFFF"/>
                          </a:solidFill>
                        </a:rPr>
                        <a:t>Pass %</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0B1B3A"/>
                    </a:solidFill>
                  </a:tcPr>
                </a:tc>
              </a:tr>
              <a:tr h="713232">
                <a:tc>
                  <a:txBody>
                    <a:bodyPr/>
                    <a:lstStyle/>
                    <a:p>
                      <a:pPr algn="l" marL="0" indent="0">
                        <a:buNone/>
                      </a:pPr>
                      <a:r>
                        <a:rPr lang="en-US" sz="1200" b="1" dirty="0">
                          <a:solidFill>
                            <a:srgbClr val="1E293B"/>
                          </a:solidFill>
                        </a:rPr>
                        <a:t>1. Deployment &amp; Init</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algn="ctr" marL="0" indent="0">
                        <a:buNone/>
                      </a:pPr>
                      <a:r>
                        <a:rPr lang="en-US" sz="1200" dirty="0">
                          <a:solidFill>
                            <a:srgbClr val="1E293B"/>
                          </a:solidFill>
                        </a:rPr>
                        <a:t>4</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algn="l" marL="0" indent="0">
                        <a:buNone/>
                      </a:pPr>
                      <a:r>
                        <a:rPr lang="en-US" sz="1200" dirty="0">
                          <a:solidFill>
                            <a:srgbClr val="1E293B"/>
                          </a:solidFill>
                        </a:rPr>
                        <a:t>Deployer owner, name set, zero counters</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algn="ctr" marL="0" indent="0">
                        <a:buNone/>
                      </a:pPr>
                      <a:r>
                        <a:rPr lang="en-US" sz="1200" dirty="0" b="1">
                          <a:solidFill>
                            <a:srgbClr val="15803D"/>
                          </a:solidFill>
                        </a:rPr>
                        <a:t>100%</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r>
              <a:tr h="713232">
                <a:tc>
                  <a:txBody>
                    <a:bodyPr/>
                    <a:lstStyle/>
                    <a:p>
                      <a:pPr algn="l" marL="0" indent="0">
                        <a:buNone/>
                      </a:pPr>
                      <a:r>
                        <a:rPr lang="en-US" sz="1200" b="1" dirty="0">
                          <a:solidFill>
                            <a:srgbClr val="1E293B"/>
                          </a:solidFill>
                        </a:rPr>
                        <a:t>2. Role-Based Access Control</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8FAFC"/>
                    </a:solidFill>
                  </a:tcPr>
                </a:tc>
                <a:tc>
                  <a:txBody>
                    <a:bodyPr/>
                    <a:lstStyle/>
                    <a:p>
                      <a:pPr algn="ctr" marL="0" indent="0">
                        <a:buNone/>
                      </a:pPr>
                      <a:r>
                        <a:rPr lang="en-US" sz="1200" dirty="0">
                          <a:solidFill>
                            <a:srgbClr val="1E293B"/>
                          </a:solidFill>
                        </a:rPr>
                        <a:t>6</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8FAFC"/>
                    </a:solidFill>
                  </a:tcPr>
                </a:tc>
                <a:tc>
                  <a:txBody>
                    <a:bodyPr/>
                    <a:lstStyle/>
                    <a:p>
                      <a:pPr algn="l" marL="0" indent="0">
                        <a:buNone/>
                      </a:pPr>
                      <a:r>
                        <a:rPr lang="en-US" sz="1200" dirty="0">
                          <a:solidFill>
                            <a:srgbClr val="1E293B"/>
                          </a:solidFill>
                        </a:rPr>
                        <a:t>onlyOwner whitelist, non-issuer revert</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8FAFC"/>
                    </a:solidFill>
                  </a:tcPr>
                </a:tc>
                <a:tc>
                  <a:txBody>
                    <a:bodyPr/>
                    <a:lstStyle/>
                    <a:p>
                      <a:pPr algn="ctr" marL="0" indent="0">
                        <a:buNone/>
                      </a:pPr>
                      <a:r>
                        <a:rPr lang="en-US" sz="1200" dirty="0" b="1">
                          <a:solidFill>
                            <a:srgbClr val="15803D"/>
                          </a:solidFill>
                        </a:rPr>
                        <a:t>100%</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8FAFC"/>
                    </a:solidFill>
                  </a:tcPr>
                </a:tc>
              </a:tr>
              <a:tr h="713232">
                <a:tc>
                  <a:txBody>
                    <a:bodyPr/>
                    <a:lstStyle/>
                    <a:p>
                      <a:pPr algn="l" marL="0" indent="0">
                        <a:buNone/>
                      </a:pPr>
                      <a:r>
                        <a:rPr lang="en-US" sz="1200" b="1" dirty="0">
                          <a:solidFill>
                            <a:srgbClr val="1E293B"/>
                          </a:solidFill>
                        </a:rPr>
                        <a:t>3. Credential Issuance</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algn="ctr" marL="0" indent="0">
                        <a:buNone/>
                      </a:pPr>
                      <a:r>
                        <a:rPr lang="en-US" sz="1200" dirty="0">
                          <a:solidFill>
                            <a:srgbClr val="1E293B"/>
                          </a:solidFill>
                        </a:rPr>
                        <a:t>7</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algn="l" marL="0" indent="0">
                        <a:buNone/>
                      </a:pPr>
                      <a:r>
                        <a:rPr lang="en-US" sz="1200" dirty="0">
                          <a:solidFill>
                            <a:srgbClr val="1E293B"/>
                          </a:solidFill>
                        </a:rPr>
                        <a:t>Non-empty ID/hash/CID, duplicate revert</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algn="ctr" marL="0" indent="0">
                        <a:buNone/>
                      </a:pPr>
                      <a:r>
                        <a:rPr lang="en-US" sz="1200" dirty="0" b="1">
                          <a:solidFill>
                            <a:srgbClr val="15803D"/>
                          </a:solidFill>
                        </a:rPr>
                        <a:t>100%</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r>
              <a:tr h="713232">
                <a:tc>
                  <a:txBody>
                    <a:bodyPr/>
                    <a:lstStyle/>
                    <a:p>
                      <a:pPr algn="l" marL="0" indent="0">
                        <a:buNone/>
                      </a:pPr>
                      <a:r>
                        <a:rPr lang="en-US" sz="1200" b="1" dirty="0">
                          <a:solidFill>
                            <a:srgbClr val="1E293B"/>
                          </a:solidFill>
                        </a:rPr>
                        <a:t>4. O(1) Public Verification</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8FAFC"/>
                    </a:solidFill>
                  </a:tcPr>
                </a:tc>
                <a:tc>
                  <a:txBody>
                    <a:bodyPr/>
                    <a:lstStyle/>
                    <a:p>
                      <a:pPr algn="ctr" marL="0" indent="0">
                        <a:buNone/>
                      </a:pPr>
                      <a:r>
                        <a:rPr lang="en-US" sz="1200" dirty="0">
                          <a:solidFill>
                            <a:srgbClr val="1E293B"/>
                          </a:solidFill>
                        </a:rPr>
                        <a:t>5</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8FAFC"/>
                    </a:solidFill>
                  </a:tcPr>
                </a:tc>
                <a:tc>
                  <a:txBody>
                    <a:bodyPr/>
                    <a:lstStyle/>
                    <a:p>
                      <a:pPr algn="l" marL="0" indent="0">
                        <a:buNone/>
                      </a:pPr>
                      <a:r>
                        <a:rPr lang="en-US" sz="1200" dirty="0">
                          <a:solidFill>
                            <a:srgbClr val="1E293B"/>
                          </a:solidFill>
                        </a:rPr>
                        <a:t>verifyByHash &amp; secondary SAP ID index</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8FAFC"/>
                    </a:solidFill>
                  </a:tcPr>
                </a:tc>
                <a:tc>
                  <a:txBody>
                    <a:bodyPr/>
                    <a:lstStyle/>
                    <a:p>
                      <a:pPr algn="ctr" marL="0" indent="0">
                        <a:buNone/>
                      </a:pPr>
                      <a:r>
                        <a:rPr lang="en-US" sz="1200" dirty="0" b="1">
                          <a:solidFill>
                            <a:srgbClr val="15803D"/>
                          </a:solidFill>
                        </a:rPr>
                        <a:t>100%</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8FAFC"/>
                    </a:solidFill>
                  </a:tcPr>
                </a:tc>
              </a:tr>
              <a:tr h="713232">
                <a:tc>
                  <a:txBody>
                    <a:bodyPr/>
                    <a:lstStyle/>
                    <a:p>
                      <a:pPr algn="l" marL="0" indent="0">
                        <a:buNone/>
                      </a:pPr>
                      <a:r>
                        <a:rPr lang="en-US" sz="1200" b="1" dirty="0">
                          <a:solidFill>
                            <a:srgbClr val="1E293B"/>
                          </a:solidFill>
                        </a:rPr>
                        <a:t>5. Non-Destructive Revoke</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algn="ctr" marL="0" indent="0">
                        <a:buNone/>
                      </a:pPr>
                      <a:r>
                        <a:rPr lang="en-US" sz="1200" dirty="0">
                          <a:solidFill>
                            <a:srgbClr val="1E293B"/>
                          </a:solidFill>
                        </a:rPr>
                        <a:t>4</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algn="l" marL="0" indent="0">
                        <a:buNone/>
                      </a:pPr>
                      <a:r>
                        <a:rPr lang="en-US" sz="1200" dirty="0">
                          <a:solidFill>
                            <a:srgbClr val="1E293B"/>
                          </a:solidFill>
                        </a:rPr>
                        <a:t>isRevoked flag, reason &amp; audit trail</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algn="ctr" marL="0" indent="0">
                        <a:buNone/>
                      </a:pPr>
                      <a:r>
                        <a:rPr lang="en-US" sz="1200" dirty="0" b="1">
                          <a:solidFill>
                            <a:srgbClr val="15803D"/>
                          </a:solidFill>
                        </a:rPr>
                        <a:t>100%</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r>
              <a:tr h="713232">
                <a:tc>
                  <a:txBody>
                    <a:bodyPr/>
                    <a:lstStyle/>
                    <a:p>
                      <a:pPr algn="l" marL="0" indent="0">
                        <a:buNone/>
                      </a:pPr>
                      <a:r>
                        <a:rPr lang="en-US" sz="1200" b="1" dirty="0">
                          <a:solidFill>
                            <a:srgbClr val="1E293B"/>
                          </a:solidFill>
                        </a:rPr>
                        <a:t>6. Emergency Circuit-Breaker</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8FAFC"/>
                    </a:solidFill>
                  </a:tcPr>
                </a:tc>
                <a:tc>
                  <a:txBody>
                    <a:bodyPr/>
                    <a:lstStyle/>
                    <a:p>
                      <a:pPr algn="ctr" marL="0" indent="0">
                        <a:buNone/>
                      </a:pPr>
                      <a:r>
                        <a:rPr lang="en-US" sz="1200" dirty="0">
                          <a:solidFill>
                            <a:srgbClr val="1E293B"/>
                          </a:solidFill>
                        </a:rPr>
                        <a:t>3</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8FAFC"/>
                    </a:solidFill>
                  </a:tcPr>
                </a:tc>
                <a:tc>
                  <a:txBody>
                    <a:bodyPr/>
                    <a:lstStyle/>
                    <a:p>
                      <a:pPr algn="l" marL="0" indent="0">
                        <a:buNone/>
                      </a:pPr>
                      <a:r>
                        <a:rPr lang="en-US" sz="1200" dirty="0">
                          <a:solidFill>
                            <a:srgbClr val="1E293B"/>
                          </a:solidFill>
                        </a:rPr>
                        <a:t>Pausable freezes writes; views stay live</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8FAFC"/>
                    </a:solidFill>
                  </a:tcPr>
                </a:tc>
                <a:tc>
                  <a:txBody>
                    <a:bodyPr/>
                    <a:lstStyle/>
                    <a:p>
                      <a:pPr algn="ctr" marL="0" indent="0">
                        <a:buNone/>
                      </a:pPr>
                      <a:r>
                        <a:rPr lang="en-US" sz="1200" dirty="0" b="1">
                          <a:solidFill>
                            <a:srgbClr val="15803D"/>
                          </a:solidFill>
                        </a:rPr>
                        <a:t>100%</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8FAFC"/>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ph idx="100" type="body" hasCustomPrompt="1"/>
          </p:nvPr>
        </p:nvSpPr>
        <p:spPr>
          <a:xfrm>
            <a:off x="548640" y="292608"/>
            <a:ext cx="11094415"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EXPERIMENTAL RESULTS &amp; ANALYSIS</a:t>
            </a:r>
            <a:endParaRPr lang="en-US" sz="1200" dirty="0"/>
          </a:p>
        </p:txBody>
      </p:sp>
      <p:sp>
        <p:nvSpPr>
          <p:cNvPr id="3" name="Text 0"/>
          <p:cNvSpPr txBox="1"/>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One Changed Character Flips Half the Hash</a:t>
            </a:r>
            <a:endParaRPr lang="en-US" sz="3200" dirty="0"/>
          </a:p>
        </p:txBody>
      </p:sp>
      <p:graphicFrame>
        <p:nvGraphicFramePr>
          <p:cNvPr id="4" name="Avalanche chart" descr=""/>
          <p:cNvGraphicFramePr/>
          <p:nvPr/>
        </p:nvGraphicFramePr>
        <p:xfrm>
          <a:off x="548640" y="1463040"/>
          <a:ext cx="6400800" cy="4800600"/>
        </p:xfrm>
        <a:graphic xmlns:a="http://schemas.openxmlformats.org/drawingml/2006/main">
          <a:graphicData uri="http://schemas.openxmlformats.org/drawingml/2006/chart">
            <c:chart xmlns:c="http://schemas.openxmlformats.org/drawingml/2006/chart" r:id="rId1"/>
          </a:graphicData>
        </a:graphic>
      </p:graphicFrame>
      <p:sp>
        <p:nvSpPr>
          <p:cNvPr id="5" name="Authentic card"/>
          <p:cNvSpPr/>
          <p:nvPr/>
        </p:nvSpPr>
        <p:spPr>
          <a:xfrm>
            <a:off x="7223760" y="1463040"/>
            <a:ext cx="4416552" cy="1508760"/>
          </a:xfrm>
          <a:prstGeom prst="roundRect">
            <a:avLst>
              <a:gd name="adj" fmla="val 6061"/>
            </a:avLst>
          </a:prstGeom>
          <a:solidFill>
            <a:schemeClr val="accent4">
              <a:alpha val="12000"/>
            </a:schemeClr>
          </a:solidFill>
          <a:ln/>
        </p:spPr>
      </p:sp>
      <p:sp>
        <p:nvSpPr>
          <p:cNvPr id="6" name="Authentic label"/>
          <p:cNvSpPr txBox="1"/>
          <p:nvPr/>
        </p:nvSpPr>
        <p:spPr>
          <a:xfrm>
            <a:off x="7498080" y="1600200"/>
            <a:ext cx="3840480" cy="274320"/>
          </a:xfrm>
          <a:prstGeom prst="rect">
            <a:avLst/>
          </a:prstGeom>
          <a:noFill/>
          <a:ln/>
        </p:spPr>
        <p:txBody>
          <a:bodyPr wrap="square" lIns="0" tIns="0" rIns="0" bIns="0" rtlCol="0" anchor="t"/>
          <a:lstStyle/>
          <a:p>
            <a:pPr algn="l" indent="0" marL="0">
              <a:buNone/>
            </a:pPr>
            <a:r>
              <a:rPr lang="en-US" sz="1200" b="1" spc="100" kern="0" dirty="0">
                <a:solidFill>
                  <a:schemeClr val="accent4"/>
                </a:solidFill>
              </a:rPr>
              <a:t>AUTHENTIC  |  CGPA 9.42</a:t>
            </a:r>
            <a:endParaRPr lang="en-US" sz="1200" dirty="0"/>
          </a:p>
        </p:txBody>
      </p:sp>
      <p:sp>
        <p:nvSpPr>
          <p:cNvPr id="7" name="Authentic file"/>
          <p:cNvSpPr txBox="1"/>
          <p:nvPr/>
        </p:nvSpPr>
        <p:spPr>
          <a:xfrm>
            <a:off x="7498080" y="1892808"/>
            <a:ext cx="3931920" cy="274320"/>
          </a:xfrm>
          <a:prstGeom prst="rect">
            <a:avLst/>
          </a:prstGeom>
          <a:noFill/>
          <a:ln/>
        </p:spPr>
        <p:txBody>
          <a:bodyPr wrap="square" lIns="0" tIns="0" rIns="0" bIns="0" rtlCol="0" anchor="t"/>
          <a:lstStyle/>
          <a:p>
            <a:pPr algn="l" indent="0" marL="0">
              <a:buNone/>
            </a:pPr>
            <a:r>
              <a:rPr lang="en-US" sz="1200" dirty="0">
                <a:solidFill>
                  <a:schemeClr val="tx1"/>
                </a:solidFill>
              </a:rPr>
              <a:t>NMIMS_Sample_GradeCard.pdf  |  SAP 70552400057</a:t>
            </a:r>
            <a:endParaRPr lang="en-US" sz="1200" dirty="0"/>
          </a:p>
        </p:txBody>
      </p:sp>
      <p:sp>
        <p:nvSpPr>
          <p:cNvPr id="8" name="Authentic hash"/>
          <p:cNvSpPr txBox="1"/>
          <p:nvPr/>
        </p:nvSpPr>
        <p:spPr>
          <a:xfrm>
            <a:off x="7498080" y="2194560"/>
            <a:ext cx="3931920" cy="274320"/>
          </a:xfrm>
          <a:prstGeom prst="rect">
            <a:avLst/>
          </a:prstGeom>
          <a:noFill/>
          <a:ln/>
        </p:spPr>
        <p:txBody>
          <a:bodyPr wrap="square" lIns="0" tIns="0" rIns="0" bIns="0" rtlCol="0" anchor="t"/>
          <a:lstStyle/>
          <a:p>
            <a:pPr algn="l" indent="0" marL="0">
              <a:buNone/>
            </a:pPr>
            <a:r>
              <a:rPr lang="en-US" sz="1200" dirty="0">
                <a:solidFill>
                  <a:schemeClr val="tx2"/>
                </a:solidFill>
                <a:latin typeface="Courier New" pitchFamily="34" charset="0"/>
                <a:ea typeface="Courier New" pitchFamily="34" charset="-122"/>
                <a:cs typeface="Courier New" pitchFamily="34" charset="-120"/>
              </a:rPr>
              <a:t>0xb89ce30b75b539349a8114...</a:t>
            </a:r>
            <a:endParaRPr lang="en-US" sz="1200" dirty="0"/>
          </a:p>
        </p:txBody>
      </p:sp>
      <p:sp>
        <p:nvSpPr>
          <p:cNvPr id="9" name="Authentic pill"/>
          <p:cNvSpPr/>
          <p:nvPr/>
        </p:nvSpPr>
        <p:spPr>
          <a:xfrm>
            <a:off x="7498080" y="2514600"/>
            <a:ext cx="2468880" cy="329184"/>
          </a:xfrm>
          <a:prstGeom prst="roundRect">
            <a:avLst>
              <a:gd name="adj" fmla="val 16667"/>
            </a:avLst>
          </a:prstGeom>
          <a:solidFill>
            <a:schemeClr val="accent4"/>
          </a:solidFill>
          <a:ln/>
        </p:spPr>
        <p:txBody>
          <a:bodyPr wrap="square" lIns="0" tIns="0" rIns="0" bIns="0" rtlCol="0" anchor="ctr"/>
          <a:lstStyle/>
          <a:p>
            <a:pPr algn="ctr" indent="0" marL="0">
              <a:buNone/>
            </a:pPr>
            <a:r>
              <a:rPr lang="en-US" sz="1200" b="1" dirty="0">
                <a:solidFill>
                  <a:schemeClr val="bg1"/>
                </a:solidFill>
              </a:rPr>
              <a:t>AUTHENTIC &amp; VERIFIED</a:t>
            </a:r>
            <a:endParaRPr lang="en-US" sz="1200" dirty="0"/>
          </a:p>
        </p:txBody>
      </p:sp>
      <p:sp>
        <p:nvSpPr>
          <p:cNvPr id="10" name="Tampered card"/>
          <p:cNvSpPr/>
          <p:nvPr/>
        </p:nvSpPr>
        <p:spPr>
          <a:xfrm>
            <a:off x="7223760" y="3108960"/>
            <a:ext cx="4416552" cy="1508760"/>
          </a:xfrm>
          <a:prstGeom prst="roundRect">
            <a:avLst>
              <a:gd name="adj" fmla="val 6061"/>
            </a:avLst>
          </a:prstGeom>
          <a:solidFill>
            <a:schemeClr val="accent3">
              <a:alpha val="12000"/>
            </a:schemeClr>
          </a:solidFill>
          <a:ln/>
        </p:spPr>
      </p:sp>
      <p:sp>
        <p:nvSpPr>
          <p:cNvPr id="11" name="Tampered label"/>
          <p:cNvSpPr txBox="1"/>
          <p:nvPr/>
        </p:nvSpPr>
        <p:spPr>
          <a:xfrm>
            <a:off x="7498080" y="3246120"/>
            <a:ext cx="3840480" cy="274320"/>
          </a:xfrm>
          <a:prstGeom prst="rect">
            <a:avLst/>
          </a:prstGeom>
          <a:noFill/>
          <a:ln/>
        </p:spPr>
        <p:txBody>
          <a:bodyPr wrap="square" lIns="0" tIns="0" rIns="0" bIns="0" rtlCol="0" anchor="t"/>
          <a:lstStyle/>
          <a:p>
            <a:pPr algn="l" indent="0" marL="0">
              <a:buNone/>
            </a:pPr>
            <a:r>
              <a:rPr lang="en-US" sz="1200" b="1" spc="100" kern="0" dirty="0">
                <a:solidFill>
                  <a:schemeClr val="accent3"/>
                </a:solidFill>
              </a:rPr>
              <a:t>TAMPERED  |  CGPA 9.42 to 9.99</a:t>
            </a:r>
            <a:endParaRPr lang="en-US" sz="1200" dirty="0"/>
          </a:p>
        </p:txBody>
      </p:sp>
      <p:sp>
        <p:nvSpPr>
          <p:cNvPr id="12" name="Tampered file"/>
          <p:cNvSpPr txBox="1"/>
          <p:nvPr/>
        </p:nvSpPr>
        <p:spPr>
          <a:xfrm>
            <a:off x="7498080" y="3538728"/>
            <a:ext cx="3931920" cy="274320"/>
          </a:xfrm>
          <a:prstGeom prst="rect">
            <a:avLst/>
          </a:prstGeom>
          <a:noFill/>
          <a:ln/>
        </p:spPr>
        <p:txBody>
          <a:bodyPr wrap="square" lIns="0" tIns="0" rIns="0" bIns="0" rtlCol="0" anchor="t"/>
          <a:lstStyle/>
          <a:p>
            <a:pPr algn="l" indent="0" marL="0">
              <a:buNone/>
            </a:pPr>
            <a:r>
              <a:rPr lang="en-US" sz="1200" dirty="0">
                <a:solidFill>
                  <a:schemeClr val="tx1"/>
                </a:solidFill>
              </a:rPr>
              <a:t>NMIMS_Sample_GradeCard_TAMPERED.pdf</a:t>
            </a:r>
            <a:endParaRPr lang="en-US" sz="1200" dirty="0"/>
          </a:p>
        </p:txBody>
      </p:sp>
      <p:sp>
        <p:nvSpPr>
          <p:cNvPr id="13" name="Tampered hash"/>
          <p:cNvSpPr txBox="1"/>
          <p:nvPr/>
        </p:nvSpPr>
        <p:spPr>
          <a:xfrm>
            <a:off x="7498080" y="3840480"/>
            <a:ext cx="3931920" cy="274320"/>
          </a:xfrm>
          <a:prstGeom prst="rect">
            <a:avLst/>
          </a:prstGeom>
          <a:noFill/>
          <a:ln/>
        </p:spPr>
        <p:txBody>
          <a:bodyPr wrap="square" lIns="0" tIns="0" rIns="0" bIns="0" rtlCol="0" anchor="t"/>
          <a:lstStyle/>
          <a:p>
            <a:pPr algn="l" indent="0" marL="0">
              <a:buNone/>
            </a:pPr>
            <a:r>
              <a:rPr lang="en-US" sz="1200" dirty="0">
                <a:solidFill>
                  <a:schemeClr val="tx2"/>
                </a:solidFill>
                <a:latin typeface="Courier New" pitchFamily="34" charset="0"/>
                <a:ea typeface="Courier New" pitchFamily="34" charset="-122"/>
                <a:cs typeface="Courier New" pitchFamily="34" charset="-120"/>
              </a:rPr>
              <a:t>0xd9bff662829a779fef5a9a...</a:t>
            </a:r>
            <a:endParaRPr lang="en-US" sz="1200" dirty="0"/>
          </a:p>
        </p:txBody>
      </p:sp>
      <p:sp>
        <p:nvSpPr>
          <p:cNvPr id="14" name="Tampered pill"/>
          <p:cNvSpPr/>
          <p:nvPr/>
        </p:nvSpPr>
        <p:spPr>
          <a:xfrm>
            <a:off x="7498080" y="4160520"/>
            <a:ext cx="2468880" cy="329184"/>
          </a:xfrm>
          <a:prstGeom prst="roundRect">
            <a:avLst>
              <a:gd name="adj" fmla="val 16667"/>
            </a:avLst>
          </a:prstGeom>
          <a:solidFill>
            <a:schemeClr val="accent3"/>
          </a:solidFill>
          <a:ln/>
        </p:spPr>
        <p:txBody>
          <a:bodyPr wrap="square" lIns="0" tIns="0" rIns="0" bIns="0" rtlCol="0" anchor="ctr"/>
          <a:lstStyle/>
          <a:p>
            <a:pPr algn="ctr" indent="0" marL="0">
              <a:buNone/>
            </a:pPr>
            <a:r>
              <a:rPr lang="en-US" sz="1200" b="1" dirty="0">
                <a:solidFill>
                  <a:schemeClr val="bg1"/>
                </a:solidFill>
              </a:rPr>
              <a:t>FORGERY DETECTED</a:t>
            </a:r>
            <a:endParaRPr lang="en-US" sz="1200" dirty="0"/>
          </a:p>
        </p:txBody>
      </p:sp>
      <p:sp>
        <p:nvSpPr>
          <p:cNvPr id="15" name="Hamming card"/>
          <p:cNvSpPr/>
          <p:nvPr/>
        </p:nvSpPr>
        <p:spPr>
          <a:xfrm>
            <a:off x="7223760" y="4754880"/>
            <a:ext cx="4416552" cy="1508760"/>
          </a:xfrm>
          <a:prstGeom prst="roundRect">
            <a:avLst>
              <a:gd name="adj" fmla="val 6061"/>
            </a:avLst>
          </a:prstGeom>
          <a:solidFill>
            <a:schemeClr val="tx2"/>
          </a:solidFill>
          <a:ln/>
        </p:spPr>
      </p:sp>
      <p:sp>
        <p:nvSpPr>
          <p:cNvPr id="16" name="Hamming stat"/>
          <p:cNvSpPr txBox="1"/>
          <p:nvPr/>
        </p:nvSpPr>
        <p:spPr>
          <a:xfrm>
            <a:off x="7498080" y="4846320"/>
            <a:ext cx="2103120" cy="731520"/>
          </a:xfrm>
          <a:prstGeom prst="rect">
            <a:avLst/>
          </a:prstGeom>
          <a:noFill/>
          <a:ln/>
        </p:spPr>
        <p:txBody>
          <a:bodyPr wrap="square" lIns="0" tIns="0" rIns="0" bIns="0" rtlCol="0" anchor="ctr"/>
          <a:lstStyle/>
          <a:p>
            <a:pPr algn="l" indent="0" marL="0">
              <a:buNone/>
            </a:pPr>
            <a:r>
              <a:rPr lang="en-US" sz="3400" b="1" dirty="0">
                <a:solidFill>
                  <a:schemeClr val="accent5"/>
                </a:solidFill>
                <a:latin typeface="Cambria" pitchFamily="34" charset="0"/>
                <a:ea typeface="Cambria" pitchFamily="34" charset="-122"/>
                <a:cs typeface="Cambria" pitchFamily="34" charset="-120"/>
              </a:rPr>
              <a:t>128 / 256</a:t>
            </a:r>
            <a:endParaRPr lang="en-US" sz="3400" dirty="0"/>
          </a:p>
        </p:txBody>
      </p:sp>
      <p:sp>
        <p:nvSpPr>
          <p:cNvPr id="17" name="Hamming label"/>
          <p:cNvSpPr txBox="1"/>
          <p:nvPr/>
        </p:nvSpPr>
        <p:spPr>
          <a:xfrm>
            <a:off x="9509760" y="4846320"/>
            <a:ext cx="2011680" cy="731520"/>
          </a:xfrm>
          <a:prstGeom prst="rect">
            <a:avLst/>
          </a:prstGeom>
          <a:noFill/>
          <a:ln/>
        </p:spPr>
        <p:txBody>
          <a:bodyPr wrap="square" lIns="0" tIns="0" rIns="0" bIns="0" rtlCol="0" anchor="ctr"/>
          <a:lstStyle/>
          <a:p>
            <a:pPr algn="l" indent="0" marL="0">
              <a:buNone/>
            </a:pPr>
            <a:r>
              <a:rPr lang="en-US" sz="1500" b="1" dirty="0">
                <a:solidFill>
                  <a:schemeClr val="bg1"/>
                </a:solidFill>
              </a:rPr>
              <a:t>bits flipped = 50.0%</a:t>
            </a:r>
            <a:endParaRPr lang="en-US" sz="1500" dirty="0"/>
          </a:p>
        </p:txBody>
      </p:sp>
      <p:sp>
        <p:nvSpPr>
          <p:cNvPr id="18" name="Hamming caption"/>
          <p:cNvSpPr txBox="1"/>
          <p:nvPr/>
        </p:nvSpPr>
        <p:spPr>
          <a:xfrm>
            <a:off x="7498080" y="5623560"/>
            <a:ext cx="3931920" cy="548640"/>
          </a:xfrm>
          <a:prstGeom prst="rect">
            <a:avLst/>
          </a:prstGeom>
          <a:noFill/>
          <a:ln/>
        </p:spPr>
        <p:txBody>
          <a:bodyPr wrap="square" lIns="0" tIns="0" rIns="0" bIns="0" rtlCol="0" anchor="t"/>
          <a:lstStyle/>
          <a:p>
            <a:pPr algn="l" indent="0" marL="0">
              <a:buNone/>
            </a:pPr>
            <a:r>
              <a:rPr lang="en-US" sz="1300" dirty="0">
                <a:solidFill>
                  <a:schemeClr val="bg2"/>
                </a:solidFill>
              </a:rPr>
              <a:t>Matches the NIST Strict Avalanche Criterion ideal, so any edit is caught.</a:t>
            </a:r>
            <a:endParaRPr lang="en-US" sz="13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ph idx="100" type="body" hasCustomPrompt="1"/>
          </p:nvPr>
        </p:nvSpPr>
        <p:spPr>
          <a:xfrm>
            <a:off x="548640" y="292608"/>
            <a:ext cx="11094415"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GAS OPTIMIZATION &amp; PRODUCTION COST MODEL</a:t>
            </a:r>
            <a:endParaRPr lang="en-US" sz="1200" dirty="0"/>
          </a:p>
        </p:txBody>
      </p:sp>
      <p:sp>
        <p:nvSpPr>
          <p:cNvPr id="3" name="Text 0"/>
          <p:cNvSpPr txBox="1"/>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Economically Feasible at Production Scale</a:t>
            </a:r>
            <a:endParaRPr lang="en-US" sz="3200" dirty="0"/>
          </a:p>
        </p:txBody>
      </p:sp>
      <p:graphicFrame>
        <p:nvGraphicFramePr>
          <p:cNvPr id="4" name="Gas chart" descr=""/>
          <p:cNvGraphicFramePr/>
          <p:nvPr/>
        </p:nvGraphicFramePr>
        <p:xfrm>
          <a:off x="548640" y="1463040"/>
          <a:ext cx="6309360" cy="2606040"/>
        </p:xfrm>
        <a:graphic xmlns:a="http://schemas.openxmlformats.org/drawingml/2006/main">
          <a:graphicData uri="http://schemas.openxmlformats.org/drawingml/2006/chart">
            <c:chart xmlns:c="http://schemas.openxmlformats.org/drawingml/2006/chart" r:id="rId1"/>
          </a:graphicData>
        </a:graphic>
      </p:graphicFrame>
      <p:sp>
        <p:nvSpPr>
          <p:cNvPr id="5" name="Deployment callout"/>
          <p:cNvSpPr/>
          <p:nvPr/>
        </p:nvSpPr>
        <p:spPr>
          <a:xfrm>
            <a:off x="548640" y="5852160"/>
            <a:ext cx="11091672" cy="457200"/>
          </a:xfrm>
          <a:prstGeom prst="roundRect">
            <a:avLst>
              <a:gd name="adj" fmla="val 10526"/>
            </a:avLst>
          </a:prstGeom>
          <a:solidFill>
            <a:schemeClr val="tx2"/>
          </a:solidFill>
          <a:ln/>
        </p:spPr>
      </p:sp>
      <p:sp>
        <p:nvSpPr>
          <p:cNvPr id="6" name="Deployment text"/>
          <p:cNvSpPr txBox="1"/>
          <p:nvPr/>
        </p:nvSpPr>
        <p:spPr>
          <a:xfrm>
            <a:off x="822960" y="5852160"/>
            <a:ext cx="10515600" cy="457200"/>
          </a:xfrm>
          <a:prstGeom prst="rect">
            <a:avLst/>
          </a:prstGeom>
          <a:noFill/>
          <a:ln/>
        </p:spPr>
        <p:txBody>
          <a:bodyPr wrap="square" lIns="0" tIns="0" rIns="0" bIns="0" rtlCol="0" anchor="ctr"/>
          <a:lstStyle/>
          <a:p>
            <a:pPr algn="l" indent="0" marL="0">
              <a:buNone/>
            </a:pPr>
            <a:r>
              <a:rPr lang="en-US" sz="1300" b="1" dirty="0">
                <a:solidFill>
                  <a:schemeClr val="bg1"/>
                </a:solidFill>
              </a:rPr>
              <a:t>Contract deployment: </a:t>
            </a:r>
            <a:pPr algn="l" indent="0" marL="0">
              <a:buNone/>
            </a:pPr>
            <a:r>
              <a:rPr lang="en-US" sz="1300" dirty="0">
                <a:solidFill>
                  <a:schemeClr val="accent5"/>
                </a:solidFill>
              </a:rPr>
              <a:t>1,182,450 gas = $0.021 USD, one-time cost only</a:t>
            </a:r>
            <a:endParaRPr lang="en-US" sz="1300" dirty="0"/>
          </a:p>
        </p:txBody>
      </p:sp>
      <p:sp>
        <p:nvSpPr>
          <p:cNvPr id="7" name="Cost card 1"/>
          <p:cNvSpPr/>
          <p:nvPr/>
        </p:nvSpPr>
        <p:spPr>
          <a:xfrm>
            <a:off x="7178040" y="1463040"/>
            <a:ext cx="2176272" cy="1234440"/>
          </a:xfrm>
          <a:prstGeom prst="roundRect">
            <a:avLst>
              <a:gd name="adj" fmla="val 4202"/>
            </a:avLst>
          </a:prstGeom>
          <a:solidFill>
            <a:schemeClr val="bg2"/>
          </a:solidFill>
          <a:ln/>
        </p:spPr>
      </p:sp>
      <p:sp>
        <p:nvSpPr>
          <p:cNvPr id="8" name="Cost label 1"/>
          <p:cNvSpPr txBox="1"/>
          <p:nvPr/>
        </p:nvSpPr>
        <p:spPr>
          <a:xfrm>
            <a:off x="7360919" y="1572768"/>
            <a:ext cx="1828800" cy="274320"/>
          </a:xfrm>
          <a:prstGeom prst="rect">
            <a:avLst/>
          </a:prstGeom>
          <a:noFill/>
          <a:ln/>
        </p:spPr>
        <p:txBody>
          <a:bodyPr wrap="square" lIns="0" tIns="0" rIns="0" bIns="0" rtlCol="0" anchor="t"/>
          <a:lstStyle/>
          <a:p>
            <a:pPr algn="l" indent="0" marL="0">
              <a:buNone/>
            </a:pPr>
            <a:r>
              <a:rPr lang="en-US" sz="1300" b="1" dirty="0">
                <a:solidFill>
                  <a:schemeClr val="tx2"/>
                </a:solidFill>
              </a:rPr>
              <a:t>Single issuance</a:t>
            </a:r>
            <a:endParaRPr lang="en-US" sz="1300" dirty="0"/>
          </a:p>
        </p:txBody>
      </p:sp>
      <p:sp>
        <p:nvSpPr>
          <p:cNvPr id="9" name="Cost value 1"/>
          <p:cNvSpPr txBox="1"/>
          <p:nvPr/>
        </p:nvSpPr>
        <p:spPr>
          <a:xfrm>
            <a:off x="7360919" y="1847088"/>
            <a:ext cx="1828800" cy="45720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$0.0012</a:t>
            </a:r>
            <a:endParaRPr lang="en-US" sz="2400" dirty="0"/>
          </a:p>
        </p:txBody>
      </p:sp>
      <p:sp>
        <p:nvSpPr>
          <p:cNvPr id="10" name="Cost note 1"/>
          <p:cNvSpPr txBox="1"/>
          <p:nvPr/>
        </p:nvSpPr>
        <p:spPr>
          <a:xfrm>
            <a:off x="7360919" y="2304288"/>
            <a:ext cx="1828800" cy="365760"/>
          </a:xfrm>
          <a:prstGeom prst="rect">
            <a:avLst/>
          </a:prstGeom>
          <a:noFill/>
          <a:ln/>
        </p:spPr>
        <p:txBody>
          <a:bodyPr wrap="square" lIns="0" tIns="0" rIns="0" bIns="0" rtlCol="0" anchor="t"/>
          <a:lstStyle/>
          <a:p>
            <a:pPr algn="l" indent="0" marL="0">
              <a:buNone/>
            </a:pPr>
            <a:r>
              <a:rPr lang="en-US" sz="1100" dirty="0">
                <a:solidFill>
                  <a:schemeClr val="tx1"/>
                </a:solidFill>
              </a:rPr>
              <a:t>about 10 paise</a:t>
            </a:r>
            <a:endParaRPr lang="en-US" sz="1100" dirty="0"/>
          </a:p>
        </p:txBody>
      </p:sp>
      <p:sp>
        <p:nvSpPr>
          <p:cNvPr id="11" name="Cost card 2"/>
          <p:cNvSpPr/>
          <p:nvPr/>
        </p:nvSpPr>
        <p:spPr>
          <a:xfrm>
            <a:off x="9464040" y="1463040"/>
            <a:ext cx="2176272" cy="1234440"/>
          </a:xfrm>
          <a:prstGeom prst="roundRect">
            <a:avLst>
              <a:gd name="adj" fmla="val 4202"/>
            </a:avLst>
          </a:prstGeom>
          <a:solidFill>
            <a:schemeClr val="bg2"/>
          </a:solidFill>
          <a:ln/>
        </p:spPr>
      </p:sp>
      <p:sp>
        <p:nvSpPr>
          <p:cNvPr id="12" name="Cost label 2"/>
          <p:cNvSpPr txBox="1"/>
          <p:nvPr/>
        </p:nvSpPr>
        <p:spPr>
          <a:xfrm>
            <a:off x="9646919" y="1572768"/>
            <a:ext cx="1828800" cy="274320"/>
          </a:xfrm>
          <a:prstGeom prst="rect">
            <a:avLst/>
          </a:prstGeom>
          <a:noFill/>
          <a:ln/>
        </p:spPr>
        <p:txBody>
          <a:bodyPr wrap="square" lIns="0" tIns="0" rIns="0" bIns="0" rtlCol="0" anchor="t"/>
          <a:lstStyle/>
          <a:p>
            <a:pPr algn="l" indent="0" marL="0">
              <a:buNone/>
            </a:pPr>
            <a:r>
              <a:rPr lang="en-US" sz="1300" b="1" dirty="0">
                <a:solidFill>
                  <a:schemeClr val="tx2"/>
                </a:solidFill>
              </a:rPr>
              <a:t>Batch issuance (per cert)</a:t>
            </a:r>
            <a:endParaRPr lang="en-US" sz="1300" dirty="0"/>
          </a:p>
        </p:txBody>
      </p:sp>
      <p:sp>
        <p:nvSpPr>
          <p:cNvPr id="13" name="Cost value 2"/>
          <p:cNvSpPr txBox="1"/>
          <p:nvPr/>
        </p:nvSpPr>
        <p:spPr>
          <a:xfrm>
            <a:off x="9646919" y="1847088"/>
            <a:ext cx="1828800" cy="457200"/>
          </a:xfrm>
          <a:prstGeom prst="rect">
            <a:avLst/>
          </a:prstGeom>
          <a:noFill/>
          <a:ln/>
        </p:spPr>
        <p:txBody>
          <a:bodyPr wrap="square" lIns="0" tIns="0" rIns="0" bIns="0" rtlCol="0" anchor="ctr"/>
          <a:lstStyle/>
          <a:p>
            <a:pPr algn="l" indent="0" marL="0">
              <a:buNone/>
            </a:pPr>
            <a:r>
              <a:rPr lang="en-US" sz="2400" b="1" dirty="0">
                <a:solidFill>
                  <a:schemeClr val="accent1"/>
                </a:solidFill>
                <a:latin typeface="Cambria" pitchFamily="34" charset="0"/>
                <a:ea typeface="Cambria" pitchFamily="34" charset="-122"/>
                <a:cs typeface="Cambria" pitchFamily="34" charset="-120"/>
              </a:rPr>
              <a:t>$0.0009</a:t>
            </a:r>
            <a:endParaRPr lang="en-US" sz="2400" dirty="0"/>
          </a:p>
        </p:txBody>
      </p:sp>
      <p:sp>
        <p:nvSpPr>
          <p:cNvPr id="14" name="Cost note 2"/>
          <p:cNvSpPr txBox="1"/>
          <p:nvPr/>
        </p:nvSpPr>
        <p:spPr>
          <a:xfrm>
            <a:off x="9646919" y="2304288"/>
            <a:ext cx="1828800" cy="365760"/>
          </a:xfrm>
          <a:prstGeom prst="rect">
            <a:avLst/>
          </a:prstGeom>
          <a:noFill/>
          <a:ln/>
        </p:spPr>
        <p:txBody>
          <a:bodyPr wrap="square" lIns="0" tIns="0" rIns="0" bIns="0" rtlCol="0" anchor="t"/>
          <a:lstStyle/>
          <a:p>
            <a:pPr algn="l" indent="0" marL="0">
              <a:buNone/>
            </a:pPr>
            <a:r>
              <a:rPr lang="en-US" sz="1100" dirty="0">
                <a:solidFill>
                  <a:schemeClr val="tx1"/>
                </a:solidFill>
              </a:rPr>
              <a:t>about 7 paise, 23.8% less gas via loop amortization</a:t>
            </a:r>
            <a:endParaRPr lang="en-US" sz="1100" dirty="0"/>
          </a:p>
        </p:txBody>
      </p:sp>
      <p:sp>
        <p:nvSpPr>
          <p:cNvPr id="15" name="Cost card 3"/>
          <p:cNvSpPr/>
          <p:nvPr/>
        </p:nvSpPr>
        <p:spPr>
          <a:xfrm>
            <a:off x="7178040" y="2834640"/>
            <a:ext cx="2176272" cy="1234440"/>
          </a:xfrm>
          <a:prstGeom prst="roundRect">
            <a:avLst>
              <a:gd name="adj" fmla="val 4202"/>
            </a:avLst>
          </a:prstGeom>
          <a:solidFill>
            <a:schemeClr val="bg2"/>
          </a:solidFill>
          <a:ln/>
        </p:spPr>
      </p:sp>
      <p:sp>
        <p:nvSpPr>
          <p:cNvPr id="16" name="Cost label 3"/>
          <p:cNvSpPr txBox="1"/>
          <p:nvPr/>
        </p:nvSpPr>
        <p:spPr>
          <a:xfrm>
            <a:off x="7360919" y="2944368"/>
            <a:ext cx="1828800" cy="274320"/>
          </a:xfrm>
          <a:prstGeom prst="rect">
            <a:avLst/>
          </a:prstGeom>
          <a:noFill/>
          <a:ln/>
        </p:spPr>
        <p:txBody>
          <a:bodyPr wrap="square" lIns="0" tIns="0" rIns="0" bIns="0" rtlCol="0" anchor="t"/>
          <a:lstStyle/>
          <a:p>
            <a:pPr algn="l" indent="0" marL="0">
              <a:buNone/>
            </a:pPr>
            <a:r>
              <a:rPr lang="en-US" sz="1300" b="1" dirty="0">
                <a:solidFill>
                  <a:schemeClr val="tx2"/>
                </a:solidFill>
              </a:rPr>
              <a:t>Revoke credential</a:t>
            </a:r>
            <a:endParaRPr lang="en-US" sz="1300" dirty="0"/>
          </a:p>
        </p:txBody>
      </p:sp>
      <p:sp>
        <p:nvSpPr>
          <p:cNvPr id="17" name="Cost value 3"/>
          <p:cNvSpPr txBox="1"/>
          <p:nvPr/>
        </p:nvSpPr>
        <p:spPr>
          <a:xfrm>
            <a:off x="7360919" y="3218688"/>
            <a:ext cx="1828800" cy="457200"/>
          </a:xfrm>
          <a:prstGeom prst="rect">
            <a:avLst/>
          </a:prstGeom>
          <a:noFill/>
          <a:ln/>
        </p:spPr>
        <p:txBody>
          <a:bodyPr wrap="square" lIns="0" tIns="0" rIns="0" bIns="0" rtlCol="0" anchor="ctr"/>
          <a:lstStyle/>
          <a:p>
            <a:pPr algn="l" indent="0" marL="0">
              <a:buNone/>
            </a:pPr>
            <a:r>
              <a:rPr lang="en-US" sz="2400" b="1" dirty="0">
                <a:solidFill>
                  <a:schemeClr val="tx2"/>
                </a:solidFill>
                <a:latin typeface="Cambria" pitchFamily="34" charset="0"/>
                <a:ea typeface="Cambria" pitchFamily="34" charset="-122"/>
                <a:cs typeface="Cambria" pitchFamily="34" charset="-120"/>
              </a:rPr>
              <a:t>$0.0005</a:t>
            </a:r>
            <a:endParaRPr lang="en-US" sz="2400" dirty="0"/>
          </a:p>
        </p:txBody>
      </p:sp>
      <p:sp>
        <p:nvSpPr>
          <p:cNvPr id="18" name="Cost note 3"/>
          <p:cNvSpPr txBox="1"/>
          <p:nvPr/>
        </p:nvSpPr>
        <p:spPr>
          <a:xfrm>
            <a:off x="7360919" y="3675888"/>
            <a:ext cx="1828800" cy="365760"/>
          </a:xfrm>
          <a:prstGeom prst="rect">
            <a:avLst/>
          </a:prstGeom>
          <a:noFill/>
          <a:ln/>
        </p:spPr>
        <p:txBody>
          <a:bodyPr wrap="square" lIns="0" tIns="0" rIns="0" bIns="0" rtlCol="0" anchor="t"/>
          <a:lstStyle/>
          <a:p>
            <a:pPr algn="l" indent="0" marL="0">
              <a:buNone/>
            </a:pPr>
            <a:r>
              <a:rPr lang="en-US" sz="1100" dirty="0">
                <a:solidFill>
                  <a:schemeClr val="tx1"/>
                </a:solidFill>
              </a:rPr>
              <a:t>audit trail preserved</a:t>
            </a:r>
            <a:endParaRPr lang="en-US" sz="1100" dirty="0"/>
          </a:p>
        </p:txBody>
      </p:sp>
      <p:sp>
        <p:nvSpPr>
          <p:cNvPr id="19" name="Cost card 4"/>
          <p:cNvSpPr/>
          <p:nvPr/>
        </p:nvSpPr>
        <p:spPr>
          <a:xfrm>
            <a:off x="9464040" y="2834640"/>
            <a:ext cx="2176272" cy="1234440"/>
          </a:xfrm>
          <a:prstGeom prst="roundRect">
            <a:avLst>
              <a:gd name="adj" fmla="val 4202"/>
            </a:avLst>
          </a:prstGeom>
          <a:solidFill>
            <a:schemeClr val="accent4">
              <a:alpha val="12000"/>
            </a:schemeClr>
          </a:solidFill>
          <a:ln/>
        </p:spPr>
      </p:sp>
      <p:sp>
        <p:nvSpPr>
          <p:cNvPr id="20" name="Cost label 4"/>
          <p:cNvSpPr txBox="1"/>
          <p:nvPr/>
        </p:nvSpPr>
        <p:spPr>
          <a:xfrm>
            <a:off x="9646919" y="2944368"/>
            <a:ext cx="1828800" cy="274320"/>
          </a:xfrm>
          <a:prstGeom prst="rect">
            <a:avLst/>
          </a:prstGeom>
          <a:noFill/>
          <a:ln/>
        </p:spPr>
        <p:txBody>
          <a:bodyPr wrap="square" lIns="0" tIns="0" rIns="0" bIns="0" rtlCol="0" anchor="t"/>
          <a:lstStyle/>
          <a:p>
            <a:pPr algn="l" indent="0" marL="0">
              <a:buNone/>
            </a:pPr>
            <a:r>
              <a:rPr lang="en-US" sz="1300" b="1" dirty="0">
                <a:solidFill>
                  <a:schemeClr val="tx2"/>
                </a:solidFill>
              </a:rPr>
              <a:t>Verification query</a:t>
            </a:r>
            <a:endParaRPr lang="en-US" sz="1300" dirty="0"/>
          </a:p>
        </p:txBody>
      </p:sp>
      <p:sp>
        <p:nvSpPr>
          <p:cNvPr id="21" name="Cost value 4"/>
          <p:cNvSpPr txBox="1"/>
          <p:nvPr/>
        </p:nvSpPr>
        <p:spPr>
          <a:xfrm>
            <a:off x="9646919" y="3218688"/>
            <a:ext cx="1828800" cy="457200"/>
          </a:xfrm>
          <a:prstGeom prst="rect">
            <a:avLst/>
          </a:prstGeom>
          <a:noFill/>
          <a:ln/>
        </p:spPr>
        <p:txBody>
          <a:bodyPr wrap="square" lIns="0" tIns="0" rIns="0" bIns="0" rtlCol="0" anchor="ctr"/>
          <a:lstStyle/>
          <a:p>
            <a:pPr algn="l" indent="0" marL="0">
              <a:buNone/>
            </a:pPr>
            <a:r>
              <a:rPr lang="en-US" sz="2400" b="1" dirty="0">
                <a:solidFill>
                  <a:schemeClr val="accent4"/>
                </a:solidFill>
                <a:latin typeface="Cambria" pitchFamily="34" charset="0"/>
                <a:ea typeface="Cambria" pitchFamily="34" charset="-122"/>
                <a:cs typeface="Cambria" pitchFamily="34" charset="-120"/>
              </a:rPr>
              <a:t>0 gas</a:t>
            </a:r>
            <a:endParaRPr lang="en-US" sz="2400" dirty="0"/>
          </a:p>
        </p:txBody>
      </p:sp>
      <p:sp>
        <p:nvSpPr>
          <p:cNvPr id="22" name="Cost note 4"/>
          <p:cNvSpPr txBox="1"/>
          <p:nvPr/>
        </p:nvSpPr>
        <p:spPr>
          <a:xfrm>
            <a:off x="9646919" y="3675888"/>
            <a:ext cx="1828800" cy="365760"/>
          </a:xfrm>
          <a:prstGeom prst="rect">
            <a:avLst/>
          </a:prstGeom>
          <a:noFill/>
          <a:ln/>
        </p:spPr>
        <p:txBody>
          <a:bodyPr wrap="square" lIns="0" tIns="0" rIns="0" bIns="0" rtlCol="0" anchor="t"/>
          <a:lstStyle/>
          <a:p>
            <a:pPr algn="l" indent="0" marL="0">
              <a:buNone/>
            </a:pPr>
            <a:r>
              <a:rPr lang="en-US" sz="1100" dirty="0">
                <a:solidFill>
                  <a:schemeClr val="tx1"/>
                </a:solidFill>
              </a:rPr>
              <a:t>free view function; unlimited verifications</a:t>
            </a:r>
            <a:endParaRPr lang="en-US" sz="11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11</a:t>
            </a:fld>
            <a:endParaRPr lang="en-US"/>
          </a:p>
        </p:txBody>
      </p:sp>
      <p:graphicFrame>
        <p:nvGraphicFramePr>
          <p:cNvPr id="26" name="Table 25"/>
          <p:cNvGraphicFramePr>
            <a:graphicFrameLocks noGrp="1"/>
          </p:cNvGraphicFramePr>
          <p:nvPr/>
        </p:nvGraphicFramePr>
        <p:xfrm>
          <a:off x="548640" y="4297680"/>
          <a:ext cx="11091672" cy="1463040"/>
        </p:xfrm>
        <a:graphic>
          <a:graphicData uri="http://schemas.openxmlformats.org/drawingml/2006/table">
            <a:tbl>
              <a:tblPr/>
              <a:tblGrid>
                <a:gridCol w="2926080"/>
                <a:gridCol w="2011680"/>
                <a:gridCol w="2011680"/>
                <a:gridCol w="2011680"/>
                <a:gridCol w="2130552"/>
              </a:tblGrid>
              <a:tr h="365760">
                <a:tc>
                  <a:txBody>
                    <a:bodyPr/>
                    <a:lstStyle/>
                    <a:p>
                      <a:pPr algn="l" marL="0" indent="0">
                        <a:buNone/>
                      </a:pPr>
                      <a:r>
                        <a:rPr lang="en-US" sz="1200" b="1" dirty="0">
                          <a:solidFill>
                            <a:srgbClr val="FFFFFF"/>
                          </a:solidFill>
                        </a:rPr>
                        <a:t>Verification Model</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0B1B3A"/>
                    </a:solidFill>
                  </a:tcPr>
                </a:tc>
                <a:tc>
                  <a:txBody>
                    <a:bodyPr/>
                    <a:lstStyle/>
                    <a:p>
                      <a:pPr algn="ctr" marL="0" indent="0">
                        <a:buNone/>
                      </a:pPr>
                      <a:r>
                        <a:rPr lang="en-US" sz="1200" b="1" dirty="0">
                          <a:solidFill>
                            <a:srgbClr val="FFFFFF"/>
                          </a:solidFill>
                        </a:rPr>
                        <a:t>Single Certificate</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0B1B3A"/>
                    </a:solidFill>
                  </a:tcPr>
                </a:tc>
                <a:tc>
                  <a:txBody>
                    <a:bodyPr/>
                    <a:lstStyle/>
                    <a:p>
                      <a:pPr algn="ctr" marL="0" indent="0">
                        <a:buNone/>
                      </a:pPr>
                      <a:r>
                        <a:rPr lang="en-US" sz="1200" b="1" dirty="0">
                          <a:solidFill>
                            <a:srgbClr val="FFFFFF"/>
                          </a:solidFill>
                        </a:rPr>
                        <a:t>Graduating Batch (500)</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0B1B3A"/>
                    </a:solidFill>
                  </a:tcPr>
                </a:tc>
                <a:tc>
                  <a:txBody>
                    <a:bodyPr/>
                    <a:lstStyle/>
                    <a:p>
                      <a:pPr algn="ctr" marL="0" indent="0">
                        <a:buNone/>
                      </a:pPr>
                      <a:r>
                        <a:rPr lang="en-US" sz="1200" b="1" dirty="0">
                          <a:solidFill>
                            <a:srgbClr val="FFFFFF"/>
                          </a:solidFill>
                        </a:rPr>
                        <a:t>Verification Fee</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0B1B3A"/>
                    </a:solidFill>
                  </a:tcPr>
                </a:tc>
                <a:tc>
                  <a:txBody>
                    <a:bodyPr/>
                    <a:lstStyle/>
                    <a:p>
                      <a:pPr algn="ctr" marL="0" indent="0">
                        <a:buNone/>
                      </a:pPr>
                      <a:r>
                        <a:rPr lang="en-US" sz="1200" b="1" dirty="0">
                          <a:solidFill>
                            <a:srgbClr val="FFFFFF"/>
                          </a:solidFill>
                        </a:rPr>
                        <a:t>Turnaround Time</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0B1B3A"/>
                    </a:solidFill>
                  </a:tcPr>
                </a:tc>
              </a:tr>
              <a:tr h="365760">
                <a:tc>
                  <a:txBody>
                    <a:bodyPr/>
                    <a:lstStyle/>
                    <a:p>
                      <a:pPr algn="l" marL="0" indent="0">
                        <a:buNone/>
                      </a:pPr>
                      <a:r>
                        <a:rPr lang="en-US" sz="1200" b="1" dirty="0">
                          <a:solidFill>
                            <a:srgbClr val="1E293B"/>
                          </a:solidFill>
                        </a:rPr>
                        <a:t>Traditional Background Agency</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algn="ctr" marL="0" indent="0">
                        <a:buNone/>
                      </a:pPr>
                      <a:r>
                        <a:rPr lang="en-US" sz="1200" dirty="0">
                          <a:solidFill>
                            <a:srgbClr val="1E293B"/>
                          </a:solidFill>
                        </a:rPr>
                        <a:t>₹1,500 ($18.00)</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algn="ctr" marL="0" indent="0">
                        <a:buNone/>
                      </a:pPr>
                      <a:r>
                        <a:rPr lang="en-US" sz="1200" dirty="0">
                          <a:solidFill>
                            <a:srgbClr val="1E293B"/>
                          </a:solidFill>
                        </a:rPr>
                        <a:t>₹7,50,000 ($9,000)</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algn="ctr" marL="0" indent="0">
                        <a:buNone/>
                      </a:pPr>
                      <a:r>
                        <a:rPr lang="en-US" sz="1200" dirty="0">
                          <a:solidFill>
                            <a:srgbClr val="1E293B"/>
                          </a:solidFill>
                        </a:rPr>
                        <a:t>₹500 - ₹2,000</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algn="ctr" marL="0" indent="0">
                        <a:buNone/>
                      </a:pPr>
                      <a:r>
                        <a:rPr lang="en-US" sz="1200" dirty="0">
                          <a:solidFill>
                            <a:srgbClr val="1E293B"/>
                          </a:solidFill>
                        </a:rPr>
                        <a:t>14 to 30 business days</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r>
              <a:tr h="365760">
                <a:tc>
                  <a:txBody>
                    <a:bodyPr/>
                    <a:lstStyle/>
                    <a:p>
                      <a:pPr algn="l" marL="0" indent="0">
                        <a:buNone/>
                      </a:pPr>
                      <a:r>
                        <a:rPr lang="en-US" sz="1200" b="1" dirty="0">
                          <a:solidFill>
                            <a:srgbClr val="1E293B"/>
                          </a:solidFill>
                        </a:rPr>
                        <a:t>Ethereum Public Layer-1</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8FAFC"/>
                    </a:solidFill>
                  </a:tcPr>
                </a:tc>
                <a:tc>
                  <a:txBody>
                    <a:bodyPr/>
                    <a:lstStyle/>
                    <a:p>
                      <a:pPr algn="ctr" marL="0" indent="0">
                        <a:buNone/>
                      </a:pPr>
                      <a:r>
                        <a:rPr lang="en-US" sz="1200" dirty="0">
                          <a:solidFill>
                            <a:srgbClr val="1E293B"/>
                          </a:solidFill>
                        </a:rPr>
                        <a:t>₹3,800 ($45.60)</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8FAFC"/>
                    </a:solidFill>
                  </a:tcPr>
                </a:tc>
                <a:tc>
                  <a:txBody>
                    <a:bodyPr/>
                    <a:lstStyle/>
                    <a:p>
                      <a:pPr algn="ctr" marL="0" indent="0">
                        <a:buNone/>
                      </a:pPr>
                      <a:r>
                        <a:rPr lang="en-US" sz="1200" dirty="0">
                          <a:solidFill>
                            <a:srgbClr val="1E293B"/>
                          </a:solidFill>
                        </a:rPr>
                        <a:t>₹19,00,000 ($22,800)</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8FAFC"/>
                    </a:solidFill>
                  </a:tcPr>
                </a:tc>
                <a:tc>
                  <a:txBody>
                    <a:bodyPr/>
                    <a:lstStyle/>
                    <a:p>
                      <a:pPr algn="ctr" marL="0" indent="0">
                        <a:buNone/>
                      </a:pPr>
                      <a:r>
                        <a:rPr lang="en-US" sz="1200" dirty="0">
                          <a:solidFill>
                            <a:srgbClr val="1E293B"/>
                          </a:solidFill>
                        </a:rPr>
                        <a:t>₹120 ($1.45 gas)</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8FAFC"/>
                    </a:solidFill>
                  </a:tcPr>
                </a:tc>
                <a:tc>
                  <a:txBody>
                    <a:bodyPr/>
                    <a:lstStyle/>
                    <a:p>
                      <a:pPr algn="ctr" marL="0" indent="0">
                        <a:buNone/>
                      </a:pPr>
                      <a:r>
                        <a:rPr lang="en-US" sz="1200" dirty="0">
                          <a:solidFill>
                            <a:srgbClr val="1E293B"/>
                          </a:solidFill>
                        </a:rPr>
                        <a:t>15 to 30 seconds</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8FAFC"/>
                    </a:solidFill>
                  </a:tcPr>
                </a:tc>
              </a:tr>
              <a:tr h="365760">
                <a:tc>
                  <a:txBody>
                    <a:bodyPr/>
                    <a:lstStyle/>
                    <a:p>
                      <a:pPr algn="l" marL="0" indent="0">
                        <a:buNone/>
                      </a:pPr>
                      <a:r>
                        <a:rPr lang="en-US" sz="1200" b="1" dirty="0">
                          <a:solidFill>
                            <a:srgbClr val="0B4F49"/>
                          </a:solidFill>
                        </a:rPr>
                        <a:t>EduCred on Polygon PoS</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E3F3F0"/>
                    </a:solidFill>
                  </a:tcPr>
                </a:tc>
                <a:tc>
                  <a:txBody>
                    <a:bodyPr/>
                    <a:lstStyle/>
                    <a:p>
                      <a:pPr algn="ctr" marL="0" indent="0">
                        <a:buNone/>
                      </a:pPr>
                      <a:r>
                        <a:rPr lang="en-US" sz="1200" b="1" dirty="0">
                          <a:solidFill>
                            <a:srgbClr val="0B4F49"/>
                          </a:solidFill>
                        </a:rPr>
                        <a:t>₹0.10 ($0.0012)</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E3F3F0"/>
                    </a:solidFill>
                  </a:tcPr>
                </a:tc>
                <a:tc>
                  <a:txBody>
                    <a:bodyPr/>
                    <a:lstStyle/>
                    <a:p>
                      <a:pPr algn="ctr" marL="0" indent="0">
                        <a:buNone/>
                      </a:pPr>
                      <a:r>
                        <a:rPr lang="en-US" sz="1200" b="1" dirty="0">
                          <a:solidFill>
                            <a:srgbClr val="0B4F49"/>
                          </a:solidFill>
                        </a:rPr>
                        <a:t>₹35.00 ($0.45 total)</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E3F3F0"/>
                    </a:solidFill>
                  </a:tcPr>
                </a:tc>
                <a:tc>
                  <a:txBody>
                    <a:bodyPr/>
                    <a:lstStyle/>
                    <a:p>
                      <a:pPr algn="ctr" marL="0" indent="0">
                        <a:buNone/>
                      </a:pPr>
                      <a:r>
                        <a:rPr lang="en-US" sz="1200" b="1" dirty="0">
                          <a:solidFill>
                            <a:srgbClr val="0B4F49"/>
                          </a:solidFill>
                        </a:rPr>
                        <a:t>0 gas (free)</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E3F3F0"/>
                    </a:solidFill>
                  </a:tcPr>
                </a:tc>
                <a:tc>
                  <a:txBody>
                    <a:bodyPr/>
                    <a:lstStyle/>
                    <a:p>
                      <a:pPr algn="ctr" marL="0" indent="0">
                        <a:buNone/>
                      </a:pPr>
                      <a:r>
                        <a:rPr lang="en-US" sz="1200" b="1" dirty="0">
                          <a:solidFill>
                            <a:srgbClr val="0B4F49"/>
                          </a:solidFill>
                        </a:rPr>
                        <a:t>&lt; 500 ms (O(1))</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E3F3F0"/>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ph idx="100" type="body" hasCustomPrompt="1"/>
          </p:nvPr>
        </p:nvSpPr>
        <p:spPr>
          <a:xfrm>
            <a:off x="548640" y="292608"/>
            <a:ext cx="11094415"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LEGAL &amp; REGULATORY COMPLIANCE</a:t>
            </a:r>
            <a:endParaRPr lang="en-US" sz="1200" dirty="0"/>
          </a:p>
        </p:txBody>
      </p:sp>
      <p:sp>
        <p:nvSpPr>
          <p:cNvPr id="3" name="Text 0"/>
          <p:cNvSpPr txBox="1"/>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Aligned with India’s DPDP Act 2023</a:t>
            </a:r>
            <a:endParaRPr lang="en-US" sz="3200" dirty="0"/>
          </a:p>
        </p:txBody>
      </p:sp>
      <p:sp>
        <p:nvSpPr>
          <p:cNvPr id="4" name="Challenge card"/>
          <p:cNvSpPr/>
          <p:nvPr/>
        </p:nvSpPr>
        <p:spPr>
          <a:xfrm>
            <a:off x="548640" y="1463040"/>
            <a:ext cx="5486400" cy="1600200"/>
          </a:xfrm>
          <a:prstGeom prst="roundRect">
            <a:avLst>
              <a:gd name="adj" fmla="val 5714"/>
            </a:avLst>
          </a:prstGeom>
          <a:solidFill>
            <a:schemeClr val="accent3">
              <a:alpha val="10000"/>
            </a:schemeClr>
          </a:solidFill>
          <a:ln/>
        </p:spPr>
      </p:sp>
      <p:sp>
        <p:nvSpPr>
          <p:cNvPr id="5" name="Challenge label"/>
          <p:cNvSpPr txBox="1"/>
          <p:nvPr/>
        </p:nvSpPr>
        <p:spPr>
          <a:xfrm>
            <a:off x="822960" y="1627632"/>
            <a:ext cx="4937760" cy="256032"/>
          </a:xfrm>
          <a:prstGeom prst="rect">
            <a:avLst/>
          </a:prstGeom>
          <a:noFill/>
          <a:ln/>
        </p:spPr>
        <p:txBody>
          <a:bodyPr wrap="square" lIns="0" tIns="0" rIns="0" bIns="0" rtlCol="0" anchor="t"/>
          <a:lstStyle/>
          <a:p>
            <a:pPr algn="l" indent="0" marL="0">
              <a:buNone/>
            </a:pPr>
            <a:r>
              <a:rPr lang="en-US" sz="1200" b="1" spc="200" kern="0" dirty="0">
                <a:solidFill>
                  <a:schemeClr val="accent3"/>
                </a:solidFill>
              </a:rPr>
              <a:t>THE LEGAL CHALLENGE</a:t>
            </a:r>
            <a:endParaRPr lang="en-US" sz="1200" dirty="0"/>
          </a:p>
        </p:txBody>
      </p:sp>
      <p:sp>
        <p:nvSpPr>
          <p:cNvPr id="6" name="Challenge text"/>
          <p:cNvSpPr txBox="1"/>
          <p:nvPr/>
        </p:nvSpPr>
        <p:spPr>
          <a:xfrm>
            <a:off x="822960" y="1938528"/>
            <a:ext cx="4983480" cy="1005840"/>
          </a:xfrm>
          <a:prstGeom prst="rect">
            <a:avLst/>
          </a:prstGeom>
          <a:noFill/>
          <a:ln/>
        </p:spPr>
        <p:txBody>
          <a:bodyPr wrap="square" lIns="0" tIns="0" rIns="0" bIns="0" rtlCol="0" anchor="t"/>
          <a:lstStyle/>
          <a:p>
            <a:pPr algn="l" indent="0" marL="0">
              <a:buNone/>
            </a:pPr>
            <a:r>
              <a:rPr lang="en-US" sz="1400" dirty="0">
                <a:solidFill>
                  <a:schemeClr val="tx1"/>
                </a:solidFill>
              </a:rPr>
              <a:t>Sections 8(7) and 12 require data minimization, purpose limitation and the Right to Erasure. Writing names or marks to an immutable public blockchain violates them.</a:t>
            </a:r>
            <a:endParaRPr lang="en-US" sz="1400" dirty="0"/>
          </a:p>
        </p:txBody>
      </p:sp>
      <p:sp>
        <p:nvSpPr>
          <p:cNvPr id="7" name="Compliance card"/>
          <p:cNvSpPr/>
          <p:nvPr/>
        </p:nvSpPr>
        <p:spPr>
          <a:xfrm>
            <a:off x="548640" y="3200400"/>
            <a:ext cx="5486400" cy="3063240"/>
          </a:xfrm>
          <a:prstGeom prst="roundRect">
            <a:avLst>
              <a:gd name="adj" fmla="val 2985"/>
            </a:avLst>
          </a:prstGeom>
          <a:solidFill>
            <a:schemeClr val="bg2"/>
          </a:solidFill>
          <a:ln/>
        </p:spPr>
      </p:sp>
      <p:sp>
        <p:nvSpPr>
          <p:cNvPr id="8" name="Compliance label"/>
          <p:cNvSpPr txBox="1"/>
          <p:nvPr/>
        </p:nvSpPr>
        <p:spPr>
          <a:xfrm>
            <a:off x="822960" y="3364992"/>
            <a:ext cx="4937760"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EDUCRED’S ARCHITECTURAL COMPLIANCE</a:t>
            </a:r>
            <a:endParaRPr lang="en-US" sz="1200" dirty="0"/>
          </a:p>
        </p:txBody>
      </p:sp>
      <p:sp>
        <p:nvSpPr>
          <p:cNvPr id="9" name="Compliance icon 1 circle"/>
          <p:cNvSpPr/>
          <p:nvPr/>
        </p:nvSpPr>
        <p:spPr>
          <a:xfrm>
            <a:off x="822960" y="3840480"/>
            <a:ext cx="457200" cy="457200"/>
          </a:xfrm>
          <a:prstGeom prst="ellipse">
            <a:avLst/>
          </a:prstGeom>
          <a:solidFill>
            <a:schemeClr val="accent1"/>
          </a:solidFill>
          <a:ln/>
        </p:spPr>
      </p:sp>
      <p:pic>
        <p:nvPicPr>
          <p:cNvPr id="10" name="Compliance icon 1" descr="Compliance icon 1">    </p:cNvPr>
          <p:cNvPicPr>
            <a:picLocks noChangeAspect="1"/>
          </p:cNvPicPr>
          <p:nvPr/>
        </p:nvPicPr>
        <p:blipFill>
          <a:blip r:embed="rId1"/>
          <a:stretch>
            <a:fillRect/>
          </a:stretch>
        </p:blipFill>
        <p:spPr>
          <a:xfrm>
            <a:off x="941832" y="3959352"/>
            <a:ext cx="219456" cy="219456"/>
          </a:xfrm>
          <a:prstGeom prst="rect">
            <a:avLst/>
          </a:prstGeom>
        </p:spPr>
      </p:pic>
      <p:sp>
        <p:nvSpPr>
          <p:cNvPr id="11" name="Compliance item 1"/>
          <p:cNvSpPr txBox="1"/>
          <p:nvPr/>
        </p:nvSpPr>
        <p:spPr>
          <a:xfrm>
            <a:off x="1463040" y="3794760"/>
            <a:ext cx="4343400" cy="731520"/>
          </a:xfrm>
          <a:prstGeom prst="rect">
            <a:avLst/>
          </a:prstGeom>
          <a:noFill/>
          <a:ln/>
        </p:spPr>
        <p:txBody>
          <a:bodyPr wrap="square" lIns="0" tIns="0" rIns="0" bIns="0" rtlCol="0" anchor="t"/>
          <a:lstStyle/>
          <a:p>
            <a:pPr algn="l" indent="0" marL="0">
              <a:buNone/>
            </a:pPr>
            <a:r>
              <a:rPr lang="en-US" sz="1400" b="1" dirty="0">
                <a:solidFill>
                  <a:schemeClr val="tx2"/>
                </a:solidFill>
              </a:rPr>
              <a:t>Zero cleartext PII on ledger</a:t>
            </a:r>
            <a:endParaRPr lang="en-US" sz="1400" dirty="0"/>
          </a:p>
          <a:p>
            <a:pPr algn="l" indent="0" marL="0">
              <a:buNone/>
            </a:pPr>
            <a:r>
              <a:rPr lang="en-US" sz="1250" dirty="0">
                <a:solidFill>
                  <a:schemeClr val="tx1"/>
                </a:solidFill>
              </a:rPr>
              <a:t>Names, grades, parent details and photos never touch Ethereum storage</a:t>
            </a:r>
            <a:endParaRPr lang="en-US" sz="1400" dirty="0"/>
          </a:p>
        </p:txBody>
      </p:sp>
      <p:sp>
        <p:nvSpPr>
          <p:cNvPr id="12" name="Compliance icon 2 circle"/>
          <p:cNvSpPr/>
          <p:nvPr/>
        </p:nvSpPr>
        <p:spPr>
          <a:xfrm>
            <a:off x="822960" y="4645152"/>
            <a:ext cx="457200" cy="457200"/>
          </a:xfrm>
          <a:prstGeom prst="ellipse">
            <a:avLst/>
          </a:prstGeom>
          <a:solidFill>
            <a:schemeClr val="accent1"/>
          </a:solidFill>
          <a:ln/>
        </p:spPr>
      </p:sp>
      <p:pic>
        <p:nvPicPr>
          <p:cNvPr id="13" name="Compliance icon 2" descr="Compliance icon 2">    </p:cNvPr>
          <p:cNvPicPr>
            <a:picLocks noChangeAspect="1"/>
          </p:cNvPicPr>
          <p:nvPr/>
        </p:nvPicPr>
        <p:blipFill>
          <a:blip r:embed="rId2"/>
          <a:stretch>
            <a:fillRect/>
          </a:stretch>
        </p:blipFill>
        <p:spPr>
          <a:xfrm>
            <a:off x="941832" y="4764024"/>
            <a:ext cx="219456" cy="219456"/>
          </a:xfrm>
          <a:prstGeom prst="rect">
            <a:avLst/>
          </a:prstGeom>
        </p:spPr>
      </p:pic>
      <p:sp>
        <p:nvSpPr>
          <p:cNvPr id="14" name="Compliance item 2"/>
          <p:cNvSpPr txBox="1"/>
          <p:nvPr/>
        </p:nvSpPr>
        <p:spPr>
          <a:xfrm>
            <a:off x="1463040" y="4599432"/>
            <a:ext cx="4343400" cy="731520"/>
          </a:xfrm>
          <a:prstGeom prst="rect">
            <a:avLst/>
          </a:prstGeom>
          <a:noFill/>
          <a:ln/>
        </p:spPr>
        <p:txBody>
          <a:bodyPr wrap="square" lIns="0" tIns="0" rIns="0" bIns="0" rtlCol="0" anchor="t"/>
          <a:lstStyle/>
          <a:p>
            <a:pPr algn="l" indent="0" marL="0">
              <a:buNone/>
            </a:pPr>
            <a:r>
              <a:rPr lang="en-US" sz="1400" b="1" dirty="0">
                <a:solidFill>
                  <a:schemeClr val="tx2"/>
                </a:solidFill>
              </a:rPr>
              <a:t>One-way pseudonymity</a:t>
            </a:r>
            <a:endParaRPr lang="en-US" sz="1400" dirty="0"/>
          </a:p>
          <a:p>
            <a:pPr algn="l" indent="0" marL="0">
              <a:buNone/>
            </a:pPr>
            <a:r>
              <a:rPr lang="en-US" sz="1250" dirty="0">
                <a:solidFill>
                  <a:schemeClr val="tx1"/>
                </a:solidFill>
              </a:rPr>
              <a:t>Only a 32-byte SHA-256 hash and SAP ID are stored; preimage resistance keeps it irreversible</a:t>
            </a:r>
            <a:endParaRPr lang="en-US" sz="1400" dirty="0"/>
          </a:p>
        </p:txBody>
      </p:sp>
      <p:sp>
        <p:nvSpPr>
          <p:cNvPr id="15" name="Compliance icon 3 circle"/>
          <p:cNvSpPr/>
          <p:nvPr/>
        </p:nvSpPr>
        <p:spPr>
          <a:xfrm>
            <a:off x="822960" y="5449824"/>
            <a:ext cx="457200" cy="457200"/>
          </a:xfrm>
          <a:prstGeom prst="ellipse">
            <a:avLst/>
          </a:prstGeom>
          <a:solidFill>
            <a:schemeClr val="accent1"/>
          </a:solidFill>
          <a:ln/>
        </p:spPr>
      </p:sp>
      <p:pic>
        <p:nvPicPr>
          <p:cNvPr id="16" name="Compliance icon 3" descr="Compliance icon 3">    </p:cNvPr>
          <p:cNvPicPr>
            <a:picLocks noChangeAspect="1"/>
          </p:cNvPicPr>
          <p:nvPr/>
        </p:nvPicPr>
        <p:blipFill>
          <a:blip r:embed="rId3"/>
          <a:stretch>
            <a:fillRect/>
          </a:stretch>
        </p:blipFill>
        <p:spPr>
          <a:xfrm>
            <a:off x="941832" y="5568696"/>
            <a:ext cx="219456" cy="219456"/>
          </a:xfrm>
          <a:prstGeom prst="rect">
            <a:avLst/>
          </a:prstGeom>
        </p:spPr>
      </p:pic>
      <p:sp>
        <p:nvSpPr>
          <p:cNvPr id="17" name="Compliance item 3"/>
          <p:cNvSpPr txBox="1"/>
          <p:nvPr/>
        </p:nvSpPr>
        <p:spPr>
          <a:xfrm>
            <a:off x="1463040" y="5404104"/>
            <a:ext cx="4343400" cy="731520"/>
          </a:xfrm>
          <a:prstGeom prst="rect">
            <a:avLst/>
          </a:prstGeom>
          <a:noFill/>
          <a:ln/>
        </p:spPr>
        <p:txBody>
          <a:bodyPr wrap="square" lIns="0" tIns="0" rIns="0" bIns="0" rtlCol="0" anchor="t"/>
          <a:lstStyle/>
          <a:p>
            <a:pPr algn="l" indent="0" marL="0">
              <a:buNone/>
            </a:pPr>
            <a:r>
              <a:rPr lang="en-US" sz="1400" b="1" dirty="0">
                <a:solidFill>
                  <a:schemeClr val="tx2"/>
                </a:solidFill>
              </a:rPr>
              <a:t>Right to Erasure honored</a:t>
            </a:r>
            <a:endParaRPr lang="en-US" sz="1400" dirty="0"/>
          </a:p>
          <a:p>
            <a:pPr algn="l" indent="0" marL="0">
              <a:buNone/>
            </a:pPr>
            <a:r>
              <a:rPr lang="en-US" sz="1250" dirty="0">
                <a:solidFill>
                  <a:schemeClr val="tx1"/>
                </a:solidFill>
              </a:rPr>
              <a:t>Unpin the off-chain PDF and the on-chain hash becomes anonymous and un-linkable</a:t>
            </a:r>
            <a:endParaRPr lang="en-US" sz="14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12</a:t>
            </a:fld>
            <a:endParaRPr lang="en-US"/>
          </a:p>
        </p:txBody>
      </p:sp>
      <p:graphicFrame>
        <p:nvGraphicFramePr>
          <p:cNvPr id="26" name="Table 25"/>
          <p:cNvGraphicFramePr>
            <a:graphicFrameLocks noGrp="1"/>
          </p:cNvGraphicFramePr>
          <p:nvPr/>
        </p:nvGraphicFramePr>
        <p:xfrm>
          <a:off x="6263640" y="1463040"/>
          <a:ext cx="5376672" cy="4800600"/>
        </p:xfrm>
        <a:graphic>
          <a:graphicData uri="http://schemas.openxmlformats.org/drawingml/2006/table">
            <a:tbl>
              <a:tblPr/>
              <a:tblGrid>
                <a:gridCol w="1280160"/>
                <a:gridCol w="1097280"/>
                <a:gridCol w="2011680"/>
                <a:gridCol w="987552"/>
              </a:tblGrid>
              <a:tr h="502920">
                <a:tc>
                  <a:txBody>
                    <a:bodyPr/>
                    <a:lstStyle/>
                    <a:p>
                      <a:pPr algn="l" marL="0" indent="0">
                        <a:buNone/>
                      </a:pPr>
                      <a:r>
                        <a:rPr lang="en-US" sz="1200" b="1" dirty="0">
                          <a:solidFill>
                            <a:srgbClr val="FFFFFF"/>
                          </a:solidFill>
                        </a:rPr>
                        <a:t>Statutory Clause</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0B1B3A"/>
                    </a:solidFill>
                  </a:tcPr>
                </a:tc>
                <a:tc>
                  <a:txBody>
                    <a:bodyPr/>
                    <a:lstStyle/>
                    <a:p>
                      <a:pPr algn="l" marL="0" indent="0">
                        <a:buNone/>
                      </a:pPr>
                      <a:r>
                        <a:rPr lang="en-US" sz="1200" b="1" dirty="0">
                          <a:solidFill>
                            <a:srgbClr val="FFFFFF"/>
                          </a:solidFill>
                        </a:rPr>
                        <a:t>Legal Mandate</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0B1B3A"/>
                    </a:solidFill>
                  </a:tcPr>
                </a:tc>
                <a:tc>
                  <a:txBody>
                    <a:bodyPr/>
                    <a:lstStyle/>
                    <a:p>
                      <a:pPr algn="l" marL="0" indent="0">
                        <a:buNone/>
                      </a:pPr>
                      <a:r>
                        <a:rPr lang="en-US" sz="1200" b="1" dirty="0">
                          <a:solidFill>
                            <a:srgbClr val="FFFFFF"/>
                          </a:solidFill>
                        </a:rPr>
                        <a:t>How EduCred Implements It</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0B1B3A"/>
                    </a:solidFill>
                  </a:tcPr>
                </a:tc>
                <a:tc>
                  <a:txBody>
                    <a:bodyPr/>
                    <a:lstStyle/>
                    <a:p>
                      <a:pPr algn="ctr" marL="0" indent="0">
                        <a:buNone/>
                      </a:pPr>
                      <a:r>
                        <a:rPr lang="en-US" sz="1200" b="1" dirty="0">
                          <a:solidFill>
                            <a:srgbClr val="FFFFFF"/>
                          </a:solidFill>
                        </a:rPr>
                        <a:t>Status</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0B1B3A"/>
                    </a:solidFill>
                  </a:tcPr>
                </a:tc>
              </a:tr>
              <a:tr h="1074420">
                <a:tc>
                  <a:txBody>
                    <a:bodyPr/>
                    <a:lstStyle/>
                    <a:p>
                      <a:pPr algn="l" marL="0" indent="0">
                        <a:buNone/>
                      </a:pPr>
                      <a:r>
                        <a:rPr lang="en-US" sz="1200" b="1" dirty="0">
                          <a:solidFill>
                            <a:srgbClr val="1E293B"/>
                          </a:solidFill>
                        </a:rPr>
                        <a:t>Section 8(7) DPDP 2023</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algn="l" marL="0" indent="0">
                        <a:buNone/>
                      </a:pPr>
                      <a:r>
                        <a:rPr lang="en-US" sz="1200" dirty="0">
                          <a:solidFill>
                            <a:srgbClr val="1E293B"/>
                          </a:solidFill>
                        </a:rPr>
                        <a:t>Data Minimization</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algn="l" marL="0" indent="0">
                        <a:buNone/>
                      </a:pPr>
                      <a:r>
                        <a:rPr lang="en-US" sz="1200" dirty="0">
                          <a:solidFill>
                            <a:srgbClr val="1E293B"/>
                          </a:solidFill>
                        </a:rPr>
                        <a:t>Zero cleartext student marks/names on-chain; only 32-byte hash</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algn="ctr" marL="0" indent="0">
                        <a:buNone/>
                      </a:pPr>
                      <a:r>
                        <a:rPr lang="en-US" sz="1200" b="1" dirty="0">
                          <a:solidFill>
                            <a:srgbClr val="15803D"/>
                          </a:solidFill>
                        </a:rPr>
                        <a:t>Compliant</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r>
              <a:tr h="1074420">
                <a:tc>
                  <a:txBody>
                    <a:bodyPr/>
                    <a:lstStyle/>
                    <a:p>
                      <a:pPr algn="l" marL="0" indent="0">
                        <a:buNone/>
                      </a:pPr>
                      <a:r>
                        <a:rPr lang="en-US" sz="1200" b="1" dirty="0">
                          <a:solidFill>
                            <a:srgbClr val="1E293B"/>
                          </a:solidFill>
                        </a:rPr>
                        <a:t>Section 12 DPDP 2023</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8FAFC"/>
                    </a:solidFill>
                  </a:tcPr>
                </a:tc>
                <a:tc>
                  <a:txBody>
                    <a:bodyPr/>
                    <a:lstStyle/>
                    <a:p>
                      <a:pPr algn="l" marL="0" indent="0">
                        <a:buNone/>
                      </a:pPr>
                      <a:r>
                        <a:rPr lang="en-US" sz="1200" dirty="0">
                          <a:solidFill>
                            <a:srgbClr val="1E293B"/>
                          </a:solidFill>
                        </a:rPr>
                        <a:t>Right to Erasure</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8FAFC"/>
                    </a:solidFill>
                  </a:tcPr>
                </a:tc>
                <a:tc>
                  <a:txBody>
                    <a:bodyPr/>
                    <a:lstStyle/>
                    <a:p>
                      <a:pPr algn="l" marL="0" indent="0">
                        <a:buNone/>
                      </a:pPr>
                      <a:r>
                        <a:rPr lang="en-US" sz="1200" dirty="0">
                          <a:solidFill>
                            <a:srgbClr val="1E293B"/>
                          </a:solidFill>
                        </a:rPr>
                        <a:t>Unpin off-chain IPFS document; orphaned hash reveals 0 PII</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8FAFC"/>
                    </a:solidFill>
                  </a:tcPr>
                </a:tc>
                <a:tc>
                  <a:txBody>
                    <a:bodyPr/>
                    <a:lstStyle/>
                    <a:p>
                      <a:pPr algn="ctr" marL="0" indent="0">
                        <a:buNone/>
                      </a:pPr>
                      <a:r>
                        <a:rPr lang="en-US" sz="1200" b="1" dirty="0">
                          <a:solidFill>
                            <a:srgbClr val="15803D"/>
                          </a:solidFill>
                        </a:rPr>
                        <a:t>Compliant</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8FAFC"/>
                    </a:solidFill>
                  </a:tcPr>
                </a:tc>
              </a:tr>
              <a:tr h="1074420">
                <a:tc>
                  <a:txBody>
                    <a:bodyPr/>
                    <a:lstStyle/>
                    <a:p>
                      <a:pPr algn="l" marL="0" indent="0">
                        <a:buNone/>
                      </a:pPr>
                      <a:r>
                        <a:rPr lang="en-US" sz="1200" b="1" dirty="0">
                          <a:solidFill>
                            <a:srgbClr val="1E293B"/>
                          </a:solidFill>
                        </a:rPr>
                        <a:t>Section 6 DPDP 2023</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algn="l" marL="0" indent="0">
                        <a:buNone/>
                      </a:pPr>
                      <a:r>
                        <a:rPr lang="en-US" sz="1200" dirty="0">
                          <a:solidFill>
                            <a:srgbClr val="1E293B"/>
                          </a:solidFill>
                        </a:rPr>
                        <a:t>Purpose Limitation</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algn="l" marL="0" indent="0">
                        <a:buNone/>
                      </a:pPr>
                      <a:r>
                        <a:rPr lang="en-US" sz="1200" dirty="0">
                          <a:solidFill>
                            <a:srgbClr val="1E293B"/>
                          </a:solidFill>
                        </a:rPr>
                        <a:t>Cryptographic fingerprinting verifies integrity without exposure</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c>
                  <a:txBody>
                    <a:bodyPr/>
                    <a:lstStyle/>
                    <a:p>
                      <a:pPr algn="ctr" marL="0" indent="0">
                        <a:buNone/>
                      </a:pPr>
                      <a:r>
                        <a:rPr lang="en-US" sz="1200" b="1" dirty="0">
                          <a:solidFill>
                            <a:srgbClr val="15803D"/>
                          </a:solidFill>
                        </a:rPr>
                        <a:t>Compliant</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FFFFF"/>
                    </a:solidFill>
                  </a:tcPr>
                </a:tc>
              </a:tr>
              <a:tr h="1074420">
                <a:tc>
                  <a:txBody>
                    <a:bodyPr/>
                    <a:lstStyle/>
                    <a:p>
                      <a:pPr algn="l" marL="0" indent="0">
                        <a:buNone/>
                      </a:pPr>
                      <a:r>
                        <a:rPr lang="en-US" sz="1200" b="1" dirty="0">
                          <a:solidFill>
                            <a:srgbClr val="1E293B"/>
                          </a:solidFill>
                        </a:rPr>
                        <a:t>Article 17 EU GDPR</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8FAFC"/>
                    </a:solidFill>
                  </a:tcPr>
                </a:tc>
                <a:tc>
                  <a:txBody>
                    <a:bodyPr/>
                    <a:lstStyle/>
                    <a:p>
                      <a:pPr algn="l" marL="0" indent="0">
                        <a:buNone/>
                      </a:pPr>
                      <a:r>
                        <a:rPr lang="en-US" sz="1200" dirty="0">
                          <a:solidFill>
                            <a:srgbClr val="1E293B"/>
                          </a:solidFill>
                        </a:rPr>
                        <a:t>Right to be Forgotten</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8FAFC"/>
                    </a:solidFill>
                  </a:tcPr>
                </a:tc>
                <a:tc>
                  <a:txBody>
                    <a:bodyPr/>
                    <a:lstStyle/>
                    <a:p>
                      <a:pPr algn="l" marL="0" indent="0">
                        <a:buNone/>
                      </a:pPr>
                      <a:r>
                        <a:rPr lang="en-US" sz="1200" dirty="0">
                          <a:solidFill>
                            <a:srgbClr val="1E293B"/>
                          </a:solidFill>
                        </a:rPr>
                        <a:t>Dual-layer storage separates state validation from file storage</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8FAFC"/>
                    </a:solidFill>
                  </a:tcPr>
                </a:tc>
                <a:tc>
                  <a:txBody>
                    <a:bodyPr/>
                    <a:lstStyle/>
                    <a:p>
                      <a:pPr algn="ctr" marL="0" indent="0">
                        <a:buNone/>
                      </a:pPr>
                      <a:r>
                        <a:rPr lang="en-US" sz="1200" b="1" dirty="0">
                          <a:solidFill>
                            <a:srgbClr val="15803D"/>
                          </a:solidFill>
                        </a:rPr>
                        <a:t>Compliant</a:t>
                      </a:r>
                    </a:p>
                  </a:txBody>
                  <a:tcPr marL="91440" marR="91440" marT="45720" marB="45720" anchor="ctr">
                    <a:lnL w="9525">
                      <a:solidFill>
                        <a:srgbClr val="E2E8F0"/>
                      </a:solidFill>
                    </a:lnL>
                    <a:lnR w="9525">
                      <a:solidFill>
                        <a:srgbClr val="E2E8F0"/>
                      </a:solidFill>
                    </a:lnR>
                    <a:lnT w="9525">
                      <a:solidFill>
                        <a:srgbClr val="E2E8F0"/>
                      </a:solidFill>
                    </a:lnT>
                    <a:lnB w="9525">
                      <a:solidFill>
                        <a:srgbClr val="E2E8F0"/>
                      </a:solidFill>
                    </a:lnB>
                    <a:solidFill>
                      <a:srgbClr val="F8FAFC"/>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ph idx="100" type="body" hasCustomPrompt="1"/>
          </p:nvPr>
        </p:nvSpPr>
        <p:spPr>
          <a:xfrm>
            <a:off x="548640" y="292608"/>
            <a:ext cx="11094415"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LEGAL &amp; REGULATORY COMPLIANCE  |  STANDARDS</a:t>
            </a:r>
            <a:endParaRPr lang="en-US" sz="1200" dirty="0"/>
          </a:p>
        </p:txBody>
      </p:sp>
      <p:sp>
        <p:nvSpPr>
          <p:cNvPr id="3" name="Text 0"/>
          <p:cNvSpPr txBox="1"/>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Standards and Frameworks Followed</a:t>
            </a:r>
            <a:endParaRPr lang="en-US" sz="32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13</a:t>
            </a:fld>
            <a:endParaRPr lang="en-US"/>
          </a:p>
        </p:txBody>
      </p:sp>
      <p:sp>
        <p:nvSpPr>
          <p:cNvPr id="26" name="Standard card 1"/>
          <p:cNvSpPr/>
          <p:nvPr/>
        </p:nvSpPr>
        <p:spPr>
          <a:xfrm>
            <a:off x="548640" y="1463040"/>
            <a:ext cx="11091672" cy="868680"/>
          </a:xfrm>
          <a:prstGeom prst="roundRect">
            <a:avLst>
              <a:gd name="adj" fmla="val 10500"/>
            </a:avLst>
          </a:prstGeom>
          <a:solidFill>
            <a:schemeClr val="bg2"/>
          </a:solidFill>
          <a:ln/>
        </p:spPr>
      </p:sp>
      <p:sp>
        <p:nvSpPr>
          <p:cNvPr id="27" name="Standard number 1"/>
          <p:cNvSpPr/>
          <p:nvPr/>
        </p:nvSpPr>
        <p:spPr>
          <a:xfrm>
            <a:off x="868680" y="1668780"/>
            <a:ext cx="457200" cy="457200"/>
          </a:xfrm>
          <a:prstGeom prst="ellipse">
            <a:avLst/>
          </a:prstGeom>
          <a:solidFill>
            <a:schemeClr val="accent1"/>
          </a:solidFill>
          <a:ln/>
        </p:spPr>
        <p:txBody>
          <a:bodyPr wrap="square" lIns="0" tIns="0" rIns="0" bIns="0" rtlCol="0" anchor="ctr"/>
          <a:lstStyle/>
          <a:p>
            <a:pPr algn="ctr" marL="0" indent="0">
              <a:buNone/>
            </a:pPr>
            <a:r>
              <a:rPr lang="en-US" sz="1600" b="1" dirty="0">
                <a:solidFill>
                  <a:schemeClr val="bg1"/>
                </a:solidFill>
              </a:rPr>
              <a:t>1</a:t>
            </a:r>
            <a:endParaRPr lang="en-US" sz="1200" dirty="0"/>
          </a:p>
        </p:txBody>
      </p:sp>
      <p:sp>
        <p:nvSpPr>
          <p:cNvPr id="28" name="Standard name 1"/>
          <p:cNvSpPr txBox="1"/>
          <p:nvPr/>
        </p:nvSpPr>
        <p:spPr>
          <a:xfrm>
            <a:off x="1645920" y="1463040"/>
            <a:ext cx="3200400" cy="868680"/>
          </a:xfrm>
          <a:prstGeom prst="rect">
            <a:avLst/>
          </a:prstGeom>
          <a:noFill/>
          <a:ln/>
        </p:spPr>
        <p:txBody>
          <a:bodyPr wrap="square" lIns="0" tIns="0" rIns="0" bIns="0" rtlCol="0" anchor="ctr"/>
          <a:lstStyle/>
          <a:p>
            <a:pPr algn="l" marL="0" indent="0">
              <a:buNone/>
            </a:pPr>
            <a:r>
              <a:rPr lang="en-US" sz="1700" b="1" dirty="0">
                <a:solidFill>
                  <a:schemeClr val="tx2"/>
                </a:solidFill>
                <a:latin typeface="Cambria" pitchFamily="34" charset="0"/>
                <a:ea typeface="Cambria" pitchFamily="34" charset="-122"/>
                <a:cs typeface="Cambria" pitchFamily="34" charset="-120"/>
              </a:rPr>
              <a:t>NIST FIPS PUB 180-4</a:t>
            </a:r>
            <a:endParaRPr lang="en-US" sz="1200" dirty="0"/>
          </a:p>
        </p:txBody>
      </p:sp>
      <p:sp>
        <p:nvSpPr>
          <p:cNvPr id="29" name="Standard detail 1"/>
          <p:cNvSpPr txBox="1"/>
          <p:nvPr/>
        </p:nvSpPr>
        <p:spPr>
          <a:xfrm>
            <a:off x="5029200" y="1463040"/>
            <a:ext cx="6309360" cy="868680"/>
          </a:xfrm>
          <a:prstGeom prst="rect">
            <a:avLst/>
          </a:prstGeom>
          <a:noFill/>
          <a:ln/>
        </p:spPr>
        <p:txBody>
          <a:bodyPr wrap="square" lIns="0" tIns="0" rIns="0" bIns="0" rtlCol="0" anchor="ctr"/>
          <a:lstStyle/>
          <a:p>
            <a:pPr algn="l" marL="0" indent="0">
              <a:buNone/>
            </a:pPr>
            <a:r>
              <a:rPr lang="en-US" sz="1400" dirty="0">
                <a:solidFill>
                  <a:schemeClr val="tx1"/>
                </a:solidFill>
              </a:rPr>
              <a:t>Standard SHA-256, giving a 128-bit collision security margin (2^128 operations).</a:t>
            </a:r>
            <a:endParaRPr lang="en-US" sz="1200" dirty="0"/>
          </a:p>
        </p:txBody>
      </p:sp>
      <p:sp>
        <p:nvSpPr>
          <p:cNvPr id="30" name="Standard card 2"/>
          <p:cNvSpPr/>
          <p:nvPr/>
        </p:nvSpPr>
        <p:spPr>
          <a:xfrm>
            <a:off x="548640" y="2446020"/>
            <a:ext cx="11091672" cy="868680"/>
          </a:xfrm>
          <a:prstGeom prst="roundRect">
            <a:avLst>
              <a:gd name="adj" fmla="val 10500"/>
            </a:avLst>
          </a:prstGeom>
          <a:solidFill>
            <a:schemeClr val="bg2"/>
          </a:solidFill>
          <a:ln/>
        </p:spPr>
      </p:sp>
      <p:sp>
        <p:nvSpPr>
          <p:cNvPr id="31" name="Standard number 2"/>
          <p:cNvSpPr/>
          <p:nvPr/>
        </p:nvSpPr>
        <p:spPr>
          <a:xfrm>
            <a:off x="868680" y="2651760"/>
            <a:ext cx="457200" cy="457200"/>
          </a:xfrm>
          <a:prstGeom prst="ellipse">
            <a:avLst/>
          </a:prstGeom>
          <a:solidFill>
            <a:schemeClr val="accent1"/>
          </a:solidFill>
          <a:ln/>
        </p:spPr>
        <p:txBody>
          <a:bodyPr wrap="square" lIns="0" tIns="0" rIns="0" bIns="0" rtlCol="0" anchor="ctr"/>
          <a:lstStyle/>
          <a:p>
            <a:pPr algn="ctr" marL="0" indent="0">
              <a:buNone/>
            </a:pPr>
            <a:r>
              <a:rPr lang="en-US" sz="1600" b="1" dirty="0">
                <a:solidFill>
                  <a:schemeClr val="bg1"/>
                </a:solidFill>
              </a:rPr>
              <a:t>2</a:t>
            </a:r>
            <a:endParaRPr lang="en-US" sz="1200" dirty="0"/>
          </a:p>
        </p:txBody>
      </p:sp>
      <p:sp>
        <p:nvSpPr>
          <p:cNvPr id="32" name="Standard name 2"/>
          <p:cNvSpPr txBox="1"/>
          <p:nvPr/>
        </p:nvSpPr>
        <p:spPr>
          <a:xfrm>
            <a:off x="1645920" y="2446020"/>
            <a:ext cx="3200400" cy="868680"/>
          </a:xfrm>
          <a:prstGeom prst="rect">
            <a:avLst/>
          </a:prstGeom>
          <a:noFill/>
          <a:ln/>
        </p:spPr>
        <p:txBody>
          <a:bodyPr wrap="square" lIns="0" tIns="0" rIns="0" bIns="0" rtlCol="0" anchor="ctr"/>
          <a:lstStyle/>
          <a:p>
            <a:pPr algn="l" marL="0" indent="0">
              <a:buNone/>
            </a:pPr>
            <a:r>
              <a:rPr lang="en-US" sz="1700" b="1" dirty="0">
                <a:solidFill>
                  <a:schemeClr val="tx2"/>
                </a:solidFill>
                <a:latin typeface="Cambria" pitchFamily="34" charset="0"/>
                <a:ea typeface="Cambria" pitchFamily="34" charset="-122"/>
                <a:cs typeface="Cambria" pitchFamily="34" charset="-120"/>
              </a:rPr>
              <a:t>IEEE 1471 / ISO 42010</a:t>
            </a:r>
            <a:endParaRPr lang="en-US" sz="1200" dirty="0"/>
          </a:p>
        </p:txBody>
      </p:sp>
      <p:sp>
        <p:nvSpPr>
          <p:cNvPr id="33" name="Standard detail 2"/>
          <p:cNvSpPr txBox="1"/>
          <p:nvPr/>
        </p:nvSpPr>
        <p:spPr>
          <a:xfrm>
            <a:off x="5029200" y="2446020"/>
            <a:ext cx="6309360" cy="868680"/>
          </a:xfrm>
          <a:prstGeom prst="rect">
            <a:avLst/>
          </a:prstGeom>
          <a:noFill/>
          <a:ln/>
        </p:spPr>
        <p:txBody>
          <a:bodyPr wrap="square" lIns="0" tIns="0" rIns="0" bIns="0" rtlCol="0" anchor="ctr"/>
          <a:lstStyle/>
          <a:p>
            <a:pPr algn="l" marL="0" indent="0">
              <a:buNone/>
            </a:pPr>
            <a:r>
              <a:rPr lang="en-US" sz="1400" dirty="0">
                <a:solidFill>
                  <a:schemeClr val="tx1"/>
                </a:solidFill>
              </a:rPr>
              <a:t>Multi-view stakeholder modeling that separates data boundaries from consensus.</a:t>
            </a:r>
            <a:endParaRPr lang="en-US" sz="1200" dirty="0"/>
          </a:p>
        </p:txBody>
      </p:sp>
      <p:sp>
        <p:nvSpPr>
          <p:cNvPr id="34" name="Standard card 3"/>
          <p:cNvSpPr/>
          <p:nvPr/>
        </p:nvSpPr>
        <p:spPr>
          <a:xfrm>
            <a:off x="548640" y="3429000"/>
            <a:ext cx="11091672" cy="868680"/>
          </a:xfrm>
          <a:prstGeom prst="roundRect">
            <a:avLst>
              <a:gd name="adj" fmla="val 10500"/>
            </a:avLst>
          </a:prstGeom>
          <a:solidFill>
            <a:schemeClr val="bg2"/>
          </a:solidFill>
          <a:ln/>
        </p:spPr>
      </p:sp>
      <p:sp>
        <p:nvSpPr>
          <p:cNvPr id="35" name="Standard number 3"/>
          <p:cNvSpPr/>
          <p:nvPr/>
        </p:nvSpPr>
        <p:spPr>
          <a:xfrm>
            <a:off x="868680" y="3634740"/>
            <a:ext cx="457200" cy="457200"/>
          </a:xfrm>
          <a:prstGeom prst="ellipse">
            <a:avLst/>
          </a:prstGeom>
          <a:solidFill>
            <a:schemeClr val="accent1"/>
          </a:solidFill>
          <a:ln/>
        </p:spPr>
        <p:txBody>
          <a:bodyPr wrap="square" lIns="0" tIns="0" rIns="0" bIns="0" rtlCol="0" anchor="ctr"/>
          <a:lstStyle/>
          <a:p>
            <a:pPr algn="ctr" marL="0" indent="0">
              <a:buNone/>
            </a:pPr>
            <a:r>
              <a:rPr lang="en-US" sz="1600" b="1" dirty="0">
                <a:solidFill>
                  <a:schemeClr val="bg1"/>
                </a:solidFill>
              </a:rPr>
              <a:t>3</a:t>
            </a:r>
            <a:endParaRPr lang="en-US" sz="1200" dirty="0"/>
          </a:p>
        </p:txBody>
      </p:sp>
      <p:sp>
        <p:nvSpPr>
          <p:cNvPr id="36" name="Standard name 3"/>
          <p:cNvSpPr txBox="1"/>
          <p:nvPr/>
        </p:nvSpPr>
        <p:spPr>
          <a:xfrm>
            <a:off x="1645920" y="3429000"/>
            <a:ext cx="3200400" cy="868680"/>
          </a:xfrm>
          <a:prstGeom prst="rect">
            <a:avLst/>
          </a:prstGeom>
          <a:noFill/>
          <a:ln/>
        </p:spPr>
        <p:txBody>
          <a:bodyPr wrap="square" lIns="0" tIns="0" rIns="0" bIns="0" rtlCol="0" anchor="ctr"/>
          <a:lstStyle/>
          <a:p>
            <a:pPr algn="l" marL="0" indent="0">
              <a:buNone/>
            </a:pPr>
            <a:r>
              <a:rPr lang="en-US" sz="1700" b="1" dirty="0">
                <a:solidFill>
                  <a:schemeClr val="tx2"/>
                </a:solidFill>
                <a:latin typeface="Cambria" pitchFamily="34" charset="0"/>
                <a:ea typeface="Cambria" pitchFamily="34" charset="-122"/>
                <a:cs typeface="Cambria" pitchFamily="34" charset="-120"/>
              </a:rPr>
              <a:t>IEEE 730-2014 SQA</a:t>
            </a:r>
            <a:endParaRPr lang="en-US" sz="1200" dirty="0"/>
          </a:p>
        </p:txBody>
      </p:sp>
      <p:sp>
        <p:nvSpPr>
          <p:cNvPr id="37" name="Standard detail 3"/>
          <p:cNvSpPr txBox="1"/>
          <p:nvPr/>
        </p:nvSpPr>
        <p:spPr>
          <a:xfrm>
            <a:off x="5029200" y="3429000"/>
            <a:ext cx="6309360" cy="868680"/>
          </a:xfrm>
          <a:prstGeom prst="rect">
            <a:avLst/>
          </a:prstGeom>
          <a:noFill/>
          <a:ln/>
        </p:spPr>
        <p:txBody>
          <a:bodyPr wrap="square" lIns="0" tIns="0" rIns="0" bIns="0" rtlCol="0" anchor="ctr"/>
          <a:lstStyle/>
          <a:p>
            <a:pPr algn="l" marL="0" indent="0">
              <a:buNone/>
            </a:pPr>
            <a:r>
              <a:rPr lang="en-US" sz="1400" dirty="0">
                <a:solidFill>
                  <a:schemeClr val="tx1"/>
                </a:solidFill>
              </a:rPr>
              <a:t>Verified by the 29-case automated Chai test suite.</a:t>
            </a:r>
            <a:endParaRPr lang="en-US" sz="1200" dirty="0"/>
          </a:p>
        </p:txBody>
      </p:sp>
      <p:sp>
        <p:nvSpPr>
          <p:cNvPr id="38" name="Standard card 4"/>
          <p:cNvSpPr/>
          <p:nvPr/>
        </p:nvSpPr>
        <p:spPr>
          <a:xfrm>
            <a:off x="548640" y="4411979"/>
            <a:ext cx="11091672" cy="868680"/>
          </a:xfrm>
          <a:prstGeom prst="roundRect">
            <a:avLst>
              <a:gd name="adj" fmla="val 10500"/>
            </a:avLst>
          </a:prstGeom>
          <a:solidFill>
            <a:schemeClr val="bg2"/>
          </a:solidFill>
          <a:ln/>
        </p:spPr>
      </p:sp>
      <p:sp>
        <p:nvSpPr>
          <p:cNvPr id="39" name="Standard number 4"/>
          <p:cNvSpPr/>
          <p:nvPr/>
        </p:nvSpPr>
        <p:spPr>
          <a:xfrm>
            <a:off x="868680" y="4617719"/>
            <a:ext cx="457200" cy="457200"/>
          </a:xfrm>
          <a:prstGeom prst="ellipse">
            <a:avLst/>
          </a:prstGeom>
          <a:solidFill>
            <a:schemeClr val="accent1"/>
          </a:solidFill>
          <a:ln/>
        </p:spPr>
        <p:txBody>
          <a:bodyPr wrap="square" lIns="0" tIns="0" rIns="0" bIns="0" rtlCol="0" anchor="ctr"/>
          <a:lstStyle/>
          <a:p>
            <a:pPr algn="ctr" marL="0" indent="0">
              <a:buNone/>
            </a:pPr>
            <a:r>
              <a:rPr lang="en-US" sz="1600" b="1" dirty="0">
                <a:solidFill>
                  <a:schemeClr val="bg1"/>
                </a:solidFill>
              </a:rPr>
              <a:t>4</a:t>
            </a:r>
            <a:endParaRPr lang="en-US" sz="1200" dirty="0"/>
          </a:p>
        </p:txBody>
      </p:sp>
      <p:sp>
        <p:nvSpPr>
          <p:cNvPr id="40" name="Standard name 4"/>
          <p:cNvSpPr txBox="1"/>
          <p:nvPr/>
        </p:nvSpPr>
        <p:spPr>
          <a:xfrm>
            <a:off x="1645920" y="4411979"/>
            <a:ext cx="3200400" cy="868680"/>
          </a:xfrm>
          <a:prstGeom prst="rect">
            <a:avLst/>
          </a:prstGeom>
          <a:noFill/>
          <a:ln/>
        </p:spPr>
        <p:txBody>
          <a:bodyPr wrap="square" lIns="0" tIns="0" rIns="0" bIns="0" rtlCol="0" anchor="ctr"/>
          <a:lstStyle/>
          <a:p>
            <a:pPr algn="l" marL="0" indent="0">
              <a:buNone/>
            </a:pPr>
            <a:r>
              <a:rPr lang="en-US" sz="1700" b="1" dirty="0">
                <a:solidFill>
                  <a:schemeClr val="tx2"/>
                </a:solidFill>
                <a:latin typeface="Cambria" pitchFamily="34" charset="0"/>
                <a:ea typeface="Cambria" pitchFamily="34" charset="-122"/>
                <a:cs typeface="Cambria" pitchFamily="34" charset="-120"/>
              </a:rPr>
              <a:t>UGC / NAD alignment</a:t>
            </a:r>
            <a:endParaRPr lang="en-US" sz="1200" dirty="0"/>
          </a:p>
        </p:txBody>
      </p:sp>
      <p:sp>
        <p:nvSpPr>
          <p:cNvPr id="41" name="Standard detail 4"/>
          <p:cNvSpPr txBox="1"/>
          <p:nvPr/>
        </p:nvSpPr>
        <p:spPr>
          <a:xfrm>
            <a:off x="5029200" y="4411979"/>
            <a:ext cx="6309360" cy="868680"/>
          </a:xfrm>
          <a:prstGeom prst="rect">
            <a:avLst/>
          </a:prstGeom>
          <a:noFill/>
          <a:ln/>
        </p:spPr>
        <p:txBody>
          <a:bodyPr wrap="square" lIns="0" tIns="0" rIns="0" bIns="0" rtlCol="0" anchor="ctr"/>
          <a:lstStyle/>
          <a:p>
            <a:pPr algn="l" marL="0" indent="0">
              <a:buNone/>
            </a:pPr>
            <a:r>
              <a:rPr lang="en-US" sz="1400" dirty="0">
                <a:solidFill>
                  <a:schemeClr val="tx1"/>
                </a:solidFill>
              </a:rPr>
              <a:t>SAP IDs standardized for interoperability with the National Academic Depository.</a:t>
            </a:r>
            <a:endParaRPr lang="en-US" sz="1200" dirty="0"/>
          </a:p>
        </p:txBody>
      </p:sp>
      <p:sp>
        <p:nvSpPr>
          <p:cNvPr id="42" name="Standard card 5"/>
          <p:cNvSpPr/>
          <p:nvPr/>
        </p:nvSpPr>
        <p:spPr>
          <a:xfrm>
            <a:off x="548640" y="5394960"/>
            <a:ext cx="11091672" cy="868680"/>
          </a:xfrm>
          <a:prstGeom prst="roundRect">
            <a:avLst>
              <a:gd name="adj" fmla="val 10500"/>
            </a:avLst>
          </a:prstGeom>
          <a:solidFill>
            <a:schemeClr val="bg2"/>
          </a:solidFill>
          <a:ln/>
        </p:spPr>
      </p:sp>
      <p:sp>
        <p:nvSpPr>
          <p:cNvPr id="43" name="Standard number 5"/>
          <p:cNvSpPr/>
          <p:nvPr/>
        </p:nvSpPr>
        <p:spPr>
          <a:xfrm>
            <a:off x="868680" y="5600700"/>
            <a:ext cx="457200" cy="457200"/>
          </a:xfrm>
          <a:prstGeom prst="ellipse">
            <a:avLst/>
          </a:prstGeom>
          <a:solidFill>
            <a:schemeClr val="accent1"/>
          </a:solidFill>
          <a:ln/>
        </p:spPr>
        <p:txBody>
          <a:bodyPr wrap="square" lIns="0" tIns="0" rIns="0" bIns="0" rtlCol="0" anchor="ctr"/>
          <a:lstStyle/>
          <a:p>
            <a:pPr algn="ctr" marL="0" indent="0">
              <a:buNone/>
            </a:pPr>
            <a:r>
              <a:rPr lang="en-US" sz="1600" b="1" dirty="0">
                <a:solidFill>
                  <a:schemeClr val="bg1"/>
                </a:solidFill>
              </a:rPr>
              <a:t>5</a:t>
            </a:r>
            <a:endParaRPr lang="en-US" sz="1200" dirty="0"/>
          </a:p>
        </p:txBody>
      </p:sp>
      <p:sp>
        <p:nvSpPr>
          <p:cNvPr id="44" name="Standard name 5"/>
          <p:cNvSpPr txBox="1"/>
          <p:nvPr/>
        </p:nvSpPr>
        <p:spPr>
          <a:xfrm>
            <a:off x="1645920" y="5394960"/>
            <a:ext cx="3200400" cy="868680"/>
          </a:xfrm>
          <a:prstGeom prst="rect">
            <a:avLst/>
          </a:prstGeom>
          <a:noFill/>
          <a:ln/>
        </p:spPr>
        <p:txBody>
          <a:bodyPr wrap="square" lIns="0" tIns="0" rIns="0" bIns="0" rtlCol="0" anchor="ctr"/>
          <a:lstStyle/>
          <a:p>
            <a:pPr algn="l" marL="0" indent="0">
              <a:buNone/>
            </a:pPr>
            <a:r>
              <a:rPr lang="en-US" sz="1700" b="1" dirty="0">
                <a:solidFill>
                  <a:schemeClr val="tx2"/>
                </a:solidFill>
                <a:latin typeface="Cambria" pitchFamily="34" charset="0"/>
                <a:ea typeface="Cambria" pitchFamily="34" charset="-122"/>
                <a:cs typeface="Cambria" pitchFamily="34" charset="-120"/>
              </a:rPr>
              <a:t>UN SDG 4 and SDG 9</a:t>
            </a:r>
            <a:endParaRPr lang="en-US" sz="1200" dirty="0"/>
          </a:p>
        </p:txBody>
      </p:sp>
      <p:sp>
        <p:nvSpPr>
          <p:cNvPr id="45" name="Standard detail 5"/>
          <p:cNvSpPr txBox="1"/>
          <p:nvPr/>
        </p:nvSpPr>
        <p:spPr>
          <a:xfrm>
            <a:off x="5029200" y="5394960"/>
            <a:ext cx="6309360" cy="868680"/>
          </a:xfrm>
          <a:prstGeom prst="rect">
            <a:avLst/>
          </a:prstGeom>
          <a:noFill/>
          <a:ln/>
        </p:spPr>
        <p:txBody>
          <a:bodyPr wrap="square" lIns="0" tIns="0" rIns="0" bIns="0" rtlCol="0" anchor="ctr"/>
          <a:lstStyle/>
          <a:p>
            <a:pPr algn="l" marL="0" indent="0">
              <a:buNone/>
            </a:pPr>
            <a:r>
              <a:rPr lang="en-US" sz="1400" dirty="0">
                <a:solidFill>
                  <a:schemeClr val="tx1"/>
                </a:solidFill>
              </a:rPr>
              <a:t>Quality Education; Industry &amp; Innovation, with 99.99% lower energy use on Proof-of-Stake.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ph idx="100" type="body" hasCustomPrompt="1"/>
          </p:nvPr>
        </p:nvSpPr>
        <p:spPr>
          <a:xfrm>
            <a:off x="548640" y="292608"/>
            <a:ext cx="11094415"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CHAPTER 5  |  TEAMWORK &amp; INDIVIDUAL EVIDENCE REGISTER</a:t>
            </a:r>
            <a:endParaRPr lang="en-US" sz="1200" dirty="0"/>
          </a:p>
        </p:txBody>
      </p:sp>
      <p:sp>
        <p:nvSpPr>
          <p:cNvPr id="3" name="Text 0"/>
          <p:cNvSpPr txBox="1"/>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Team Roles &amp; Contribution Matrix</a:t>
            </a:r>
            <a:endParaRPr lang="en-US" sz="3200" dirty="0"/>
          </a:p>
        </p:txBody>
      </p:sp>
      <p:sp>
        <p:nvSpPr>
          <p:cNvPr id="4" name="Team card 1"/>
          <p:cNvSpPr/>
          <p:nvPr/>
        </p:nvSpPr>
        <p:spPr>
          <a:xfrm>
            <a:off x="548640" y="1463040"/>
            <a:ext cx="3520440" cy="4800600"/>
          </a:xfrm>
          <a:prstGeom prst="roundRect">
            <a:avLst>
              <a:gd name="adj" fmla="val 2597"/>
            </a:avLst>
          </a:prstGeom>
          <a:solidFill>
            <a:schemeClr val="bg2"/>
          </a:solidFill>
          <a:ln/>
        </p:spPr>
      </p:sp>
      <p:sp>
        <p:nvSpPr>
          <p:cNvPr id="5" name="Avatar HG"/>
          <p:cNvSpPr/>
          <p:nvPr/>
        </p:nvSpPr>
        <p:spPr>
          <a:xfrm>
            <a:off x="822960" y="173736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HG</a:t>
            </a:r>
            <a:endParaRPr lang="en-US" sz="1800" dirty="0"/>
          </a:p>
        </p:txBody>
      </p:sp>
      <p:sp>
        <p:nvSpPr>
          <p:cNvPr id="6" name="Member name 1"/>
          <p:cNvSpPr txBox="1"/>
          <p:nvPr/>
        </p:nvSpPr>
        <p:spPr>
          <a:xfrm>
            <a:off x="1645920" y="1755648"/>
            <a:ext cx="2194560" cy="329184"/>
          </a:xfrm>
          <a:prstGeom prst="rect">
            <a:avLst/>
          </a:prstGeom>
          <a:noFill/>
          <a:ln/>
        </p:spPr>
        <p:txBody>
          <a:bodyPr wrap="square" lIns="0" tIns="0" rIns="0" bIns="0" rtlCol="0" anchor="t"/>
          <a:lstStyle/>
          <a:p>
            <a:pPr algn="l" indent="0" marL="0">
              <a:buNone/>
            </a:pPr>
            <a:r>
              <a:rPr lang="en-US" sz="1800" b="1" dirty="0">
                <a:solidFill>
                  <a:schemeClr val="tx2"/>
                </a:solidFill>
                <a:latin typeface="Cambria" pitchFamily="34" charset="0"/>
                <a:ea typeface="Cambria" pitchFamily="34" charset="-122"/>
                <a:cs typeface="Cambria" pitchFamily="34" charset="-120"/>
              </a:rPr>
              <a:t>Himanshu Garg</a:t>
            </a:r>
            <a:endParaRPr lang="en-US" sz="1800" dirty="0"/>
          </a:p>
        </p:txBody>
      </p:sp>
      <p:sp>
        <p:nvSpPr>
          <p:cNvPr id="7" name="Member id 1"/>
          <p:cNvSpPr txBox="1"/>
          <p:nvPr/>
        </p:nvSpPr>
        <p:spPr>
          <a:xfrm>
            <a:off x="1645920" y="2103120"/>
            <a:ext cx="2286000" cy="256032"/>
          </a:xfrm>
          <a:prstGeom prst="rect">
            <a:avLst/>
          </a:prstGeom>
          <a:noFill/>
          <a:ln/>
        </p:spPr>
        <p:txBody>
          <a:bodyPr wrap="square" lIns="0" tIns="0" rIns="0" bIns="0" rtlCol="0" anchor="t"/>
          <a:lstStyle/>
          <a:p>
            <a:pPr algn="l" indent="0" marL="0">
              <a:buNone/>
            </a:pPr>
            <a:r>
              <a:rPr lang="en-US" sz="1200" dirty="0">
                <a:solidFill>
                  <a:schemeClr val="accent6"/>
                </a:solidFill>
              </a:rPr>
              <a:t>E250  |  SAP 70552400057</a:t>
            </a:r>
            <a:endParaRPr lang="en-US" sz="1200" dirty="0"/>
          </a:p>
        </p:txBody>
      </p:sp>
      <p:sp>
        <p:nvSpPr>
          <p:cNvPr id="8" name="Member role 1"/>
          <p:cNvSpPr txBox="1"/>
          <p:nvPr/>
        </p:nvSpPr>
        <p:spPr>
          <a:xfrm>
            <a:off x="822960" y="2560320"/>
            <a:ext cx="2971800" cy="548640"/>
          </a:xfrm>
          <a:prstGeom prst="rect">
            <a:avLst/>
          </a:prstGeom>
          <a:noFill/>
          <a:ln/>
        </p:spPr>
        <p:txBody>
          <a:bodyPr wrap="square" lIns="0" tIns="0" rIns="0" bIns="0" rtlCol="0" anchor="t"/>
          <a:lstStyle/>
          <a:p>
            <a:pPr algn="l" indent="0" marL="0">
              <a:buNone/>
            </a:pPr>
            <a:r>
              <a:rPr lang="en-US" sz="1400" b="1" dirty="0">
                <a:solidFill>
                  <a:schemeClr val="accent1"/>
                </a:solidFill>
              </a:rPr>
              <a:t>Lead System Architect &amp; Smart Contract Lead</a:t>
            </a:r>
            <a:endParaRPr lang="en-US" sz="1400" dirty="0"/>
          </a:p>
        </p:txBody>
      </p:sp>
      <p:sp>
        <p:nvSpPr>
          <p:cNvPr id="9" name="Member work 1"/>
          <p:cNvSpPr txBox="1"/>
          <p:nvPr/>
        </p:nvSpPr>
        <p:spPr>
          <a:xfrm>
            <a:off x="822960" y="3200400"/>
            <a:ext cx="2971800" cy="1371600"/>
          </a:xfrm>
          <a:prstGeom prst="rect">
            <a:avLst/>
          </a:prstGeom>
          <a:noFill/>
          <a:ln/>
        </p:spPr>
        <p:txBody>
          <a:bodyPr wrap="square" lIns="0" tIns="0" rIns="0" bIns="0" rtlCol="0" anchor="t"/>
          <a:lstStyle/>
          <a:p>
            <a:pPr algn="l" marL="342900" indent="-342900">
              <a:spcAft>
                <a:spcPts val="600"/>
              </a:spcAft>
              <a:buSzPct val="100000"/>
              <a:buChar char="•"/>
            </a:pPr>
            <a:r>
              <a:rPr lang="en-US" sz="1300" dirty="0">
                <a:solidFill>
                  <a:schemeClr val="tx1"/>
                </a:solidFill>
              </a:rPr>
              <a:t>CredentialRegistry.sol (Solidity 0.8.20 + OpenZeppelin v5)</a:t>
            </a:r>
            <a:endParaRPr lang="en-US" sz="1300" dirty="0"/>
          </a:p>
          <a:p>
            <a:pPr algn="l" marL="342900" indent="-342900">
              <a:spcAft>
                <a:spcPts val="600"/>
              </a:spcAft>
              <a:buSzPct val="100000"/>
              <a:buChar char="•"/>
            </a:pPr>
            <a:r>
              <a:rPr lang="en-US" sz="1300" dirty="0">
                <a:solidFill>
                  <a:schemeClr val="tx1"/>
                </a:solidFill>
              </a:rPr>
              <a:t>Web Crypto SHA-256 pipeline, avalanche experiment, gas benchmarking</a:t>
            </a:r>
            <a:endParaRPr lang="en-US" sz="1300" dirty="0"/>
          </a:p>
        </p:txBody>
      </p:sp>
      <p:sp>
        <p:nvSpPr>
          <p:cNvPr id="10" name="Evidence EV-01"/>
          <p:cNvSpPr/>
          <p:nvPr/>
        </p:nvSpPr>
        <p:spPr>
          <a:xfrm>
            <a:off x="822960" y="4663440"/>
            <a:ext cx="685800" cy="292608"/>
          </a:xfrm>
          <a:prstGeom prst="roundRect">
            <a:avLst>
              <a:gd name="adj" fmla="val 18750"/>
            </a:avLst>
          </a:prstGeom>
          <a:solidFill>
            <a:schemeClr val="accent1">
              <a:alpha val="15000"/>
            </a:schemeClr>
          </a:solidFill>
          <a:ln/>
        </p:spPr>
        <p:txBody>
          <a:bodyPr wrap="square" lIns="0" tIns="0" rIns="0" bIns="0" rtlCol="0" anchor="ctr"/>
          <a:lstStyle/>
          <a:p>
            <a:pPr algn="ctr" indent="0" marL="0">
              <a:buNone/>
            </a:pPr>
            <a:r>
              <a:rPr lang="en-US" sz="1100" b="1" dirty="0">
                <a:solidFill>
                  <a:schemeClr val="accent1"/>
                </a:solidFill>
              </a:rPr>
              <a:t>EV-01</a:t>
            </a:r>
            <a:endParaRPr lang="en-US" sz="1100" dirty="0"/>
          </a:p>
        </p:txBody>
      </p:sp>
      <p:sp>
        <p:nvSpPr>
          <p:cNvPr id="11" name="Evidence EV-06"/>
          <p:cNvSpPr/>
          <p:nvPr/>
        </p:nvSpPr>
        <p:spPr>
          <a:xfrm>
            <a:off x="1600200" y="4663440"/>
            <a:ext cx="685800" cy="292608"/>
          </a:xfrm>
          <a:prstGeom prst="roundRect">
            <a:avLst>
              <a:gd name="adj" fmla="val 18750"/>
            </a:avLst>
          </a:prstGeom>
          <a:solidFill>
            <a:schemeClr val="accent1">
              <a:alpha val="15000"/>
            </a:schemeClr>
          </a:solidFill>
          <a:ln/>
        </p:spPr>
        <p:txBody>
          <a:bodyPr wrap="square" lIns="0" tIns="0" rIns="0" bIns="0" rtlCol="0" anchor="ctr"/>
          <a:lstStyle/>
          <a:p>
            <a:pPr algn="ctr" indent="0" marL="0">
              <a:buNone/>
            </a:pPr>
            <a:r>
              <a:rPr lang="en-US" sz="1100" b="1" dirty="0">
                <a:solidFill>
                  <a:schemeClr val="accent1"/>
                </a:solidFill>
              </a:rPr>
              <a:t>EV-06</a:t>
            </a:r>
            <a:endParaRPr lang="en-US" sz="1100" dirty="0"/>
          </a:p>
        </p:txBody>
      </p:sp>
      <p:sp>
        <p:nvSpPr>
          <p:cNvPr id="12" name="Evidence EV-07"/>
          <p:cNvSpPr/>
          <p:nvPr/>
        </p:nvSpPr>
        <p:spPr>
          <a:xfrm>
            <a:off x="2377440" y="4663440"/>
            <a:ext cx="685800" cy="292608"/>
          </a:xfrm>
          <a:prstGeom prst="roundRect">
            <a:avLst>
              <a:gd name="adj" fmla="val 18750"/>
            </a:avLst>
          </a:prstGeom>
          <a:solidFill>
            <a:schemeClr val="accent1">
              <a:alpha val="15000"/>
            </a:schemeClr>
          </a:solidFill>
          <a:ln/>
        </p:spPr>
        <p:txBody>
          <a:bodyPr wrap="square" lIns="0" tIns="0" rIns="0" bIns="0" rtlCol="0" anchor="ctr"/>
          <a:lstStyle/>
          <a:p>
            <a:pPr algn="ctr" indent="0" marL="0">
              <a:buNone/>
            </a:pPr>
            <a:r>
              <a:rPr lang="en-US" sz="1100" b="1" dirty="0">
                <a:solidFill>
                  <a:schemeClr val="accent1"/>
                </a:solidFill>
              </a:rPr>
              <a:t>EV-07</a:t>
            </a:r>
            <a:endParaRPr lang="en-US" sz="1100" dirty="0"/>
          </a:p>
        </p:txBody>
      </p:sp>
      <p:sp>
        <p:nvSpPr>
          <p:cNvPr id="13" name="Reflection box"/>
          <p:cNvSpPr/>
          <p:nvPr/>
        </p:nvSpPr>
        <p:spPr>
          <a:xfrm>
            <a:off x="731520" y="5120640"/>
            <a:ext cx="3154680" cy="960120"/>
          </a:xfrm>
          <a:prstGeom prst="roundRect">
            <a:avLst>
              <a:gd name="adj" fmla="val 9524"/>
            </a:avLst>
          </a:prstGeom>
          <a:solidFill>
            <a:schemeClr val="bg1"/>
          </a:solidFill>
          <a:ln/>
        </p:spPr>
      </p:sp>
      <p:sp>
        <p:nvSpPr>
          <p:cNvPr id="14" name="Reflection 1"/>
          <p:cNvSpPr txBox="1"/>
          <p:nvPr/>
        </p:nvSpPr>
        <p:spPr>
          <a:xfrm>
            <a:off x="868680" y="5166360"/>
            <a:ext cx="2880360" cy="868680"/>
          </a:xfrm>
          <a:prstGeom prst="rect">
            <a:avLst/>
          </a:prstGeom>
          <a:noFill/>
          <a:ln/>
        </p:spPr>
        <p:txBody>
          <a:bodyPr wrap="square" lIns="0" tIns="0" rIns="0" bIns="0" rtlCol="0" anchor="ctr"/>
          <a:lstStyle/>
          <a:p>
            <a:pPr algn="l" indent="0" marL="0">
              <a:buNone/>
            </a:pPr>
            <a:r>
              <a:rPr lang="en-US" sz="1200" i="1" dirty="0">
                <a:solidFill>
                  <a:schemeClr val="tx1"/>
                </a:solidFill>
              </a:rPr>
              <a:t>Decoupling hash from content achieved O(1) free verification while eliminating NFT transferability bugs.</a:t>
            </a:r>
            <a:endParaRPr lang="en-US" sz="1200" dirty="0"/>
          </a:p>
        </p:txBody>
      </p:sp>
      <p:sp>
        <p:nvSpPr>
          <p:cNvPr id="15" name="Team card 2"/>
          <p:cNvSpPr/>
          <p:nvPr/>
        </p:nvSpPr>
        <p:spPr>
          <a:xfrm>
            <a:off x="4334256" y="1463040"/>
            <a:ext cx="3520440" cy="4800600"/>
          </a:xfrm>
          <a:prstGeom prst="roundRect">
            <a:avLst>
              <a:gd name="adj" fmla="val 2597"/>
            </a:avLst>
          </a:prstGeom>
          <a:solidFill>
            <a:schemeClr val="bg2"/>
          </a:solidFill>
          <a:ln/>
        </p:spPr>
      </p:sp>
      <p:sp>
        <p:nvSpPr>
          <p:cNvPr id="16" name="Avatar MP"/>
          <p:cNvSpPr/>
          <p:nvPr/>
        </p:nvSpPr>
        <p:spPr>
          <a:xfrm>
            <a:off x="4608576" y="173736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MP</a:t>
            </a:r>
            <a:endParaRPr lang="en-US" sz="1800" dirty="0"/>
          </a:p>
        </p:txBody>
      </p:sp>
      <p:sp>
        <p:nvSpPr>
          <p:cNvPr id="17" name="Member name 2"/>
          <p:cNvSpPr txBox="1"/>
          <p:nvPr/>
        </p:nvSpPr>
        <p:spPr>
          <a:xfrm>
            <a:off x="5431536" y="1755648"/>
            <a:ext cx="2194560" cy="329184"/>
          </a:xfrm>
          <a:prstGeom prst="rect">
            <a:avLst/>
          </a:prstGeom>
          <a:noFill/>
          <a:ln/>
        </p:spPr>
        <p:txBody>
          <a:bodyPr wrap="square" lIns="0" tIns="0" rIns="0" bIns="0" rtlCol="0" anchor="t"/>
          <a:lstStyle/>
          <a:p>
            <a:pPr algn="l" indent="0" marL="0">
              <a:buNone/>
            </a:pPr>
            <a:r>
              <a:rPr lang="en-US" sz="1800" b="1" dirty="0">
                <a:solidFill>
                  <a:schemeClr val="tx2"/>
                </a:solidFill>
                <a:latin typeface="Cambria" pitchFamily="34" charset="0"/>
                <a:ea typeface="Cambria" pitchFamily="34" charset="-122"/>
                <a:cs typeface="Cambria" pitchFamily="34" charset="-120"/>
              </a:rPr>
              <a:t>Manthan Patil</a:t>
            </a:r>
            <a:endParaRPr lang="en-US" sz="1800" dirty="0"/>
          </a:p>
        </p:txBody>
      </p:sp>
      <p:sp>
        <p:nvSpPr>
          <p:cNvPr id="18" name="Member id 2"/>
          <p:cNvSpPr txBox="1"/>
          <p:nvPr/>
        </p:nvSpPr>
        <p:spPr>
          <a:xfrm>
            <a:off x="5431536" y="2103120"/>
            <a:ext cx="2286000" cy="256032"/>
          </a:xfrm>
          <a:prstGeom prst="rect">
            <a:avLst/>
          </a:prstGeom>
          <a:noFill/>
          <a:ln/>
        </p:spPr>
        <p:txBody>
          <a:bodyPr wrap="square" lIns="0" tIns="0" rIns="0" bIns="0" rtlCol="0" anchor="t"/>
          <a:lstStyle/>
          <a:p>
            <a:pPr algn="l" indent="0" marL="0">
              <a:buNone/>
            </a:pPr>
            <a:r>
              <a:rPr lang="en-US" sz="1200" dirty="0">
                <a:solidFill>
                  <a:schemeClr val="accent6"/>
                </a:solidFill>
              </a:rPr>
              <a:t>E323  |  SAP 70552400133</a:t>
            </a:r>
            <a:endParaRPr lang="en-US" sz="1200" dirty="0"/>
          </a:p>
        </p:txBody>
      </p:sp>
      <p:sp>
        <p:nvSpPr>
          <p:cNvPr id="19" name="Member role 2"/>
          <p:cNvSpPr txBox="1"/>
          <p:nvPr/>
        </p:nvSpPr>
        <p:spPr>
          <a:xfrm>
            <a:off x="4608576" y="2560320"/>
            <a:ext cx="2971800" cy="548640"/>
          </a:xfrm>
          <a:prstGeom prst="rect">
            <a:avLst/>
          </a:prstGeom>
          <a:noFill/>
          <a:ln/>
        </p:spPr>
        <p:txBody>
          <a:bodyPr wrap="square" lIns="0" tIns="0" rIns="0" bIns="0" rtlCol="0" anchor="t"/>
          <a:lstStyle/>
          <a:p>
            <a:pPr algn="l" indent="0" marL="0">
              <a:buNone/>
            </a:pPr>
            <a:r>
              <a:rPr lang="en-US" sz="1400" b="1" dirty="0">
                <a:solidFill>
                  <a:schemeClr val="accent1"/>
                </a:solidFill>
              </a:rPr>
              <a:t>Frontend Web3 Engineer &amp; UX Lead</a:t>
            </a:r>
            <a:endParaRPr lang="en-US" sz="1400" dirty="0"/>
          </a:p>
        </p:txBody>
      </p:sp>
      <p:sp>
        <p:nvSpPr>
          <p:cNvPr id="20" name="Member work 2"/>
          <p:cNvSpPr txBox="1"/>
          <p:nvPr/>
        </p:nvSpPr>
        <p:spPr>
          <a:xfrm>
            <a:off x="4608576" y="3200400"/>
            <a:ext cx="2971800" cy="1371600"/>
          </a:xfrm>
          <a:prstGeom prst="rect">
            <a:avLst/>
          </a:prstGeom>
          <a:noFill/>
          <a:ln/>
        </p:spPr>
        <p:txBody>
          <a:bodyPr wrap="square" lIns="0" tIns="0" rIns="0" bIns="0" rtlCol="0" anchor="t"/>
          <a:lstStyle/>
          <a:p>
            <a:pPr algn="l" marL="342900" indent="-342900">
              <a:spcAft>
                <a:spcPts val="600"/>
              </a:spcAft>
              <a:buSzPct val="100000"/>
              <a:buChar char="•"/>
            </a:pPr>
            <a:r>
              <a:rPr lang="en-US" sz="1300" dirty="0">
                <a:solidFill>
                  <a:schemeClr val="tx1"/>
                </a:solidFill>
              </a:rPr>
              <a:t>React 18 + Vite dashboard (App.jsx) with Tailwind CSS</a:t>
            </a:r>
            <a:endParaRPr lang="en-US" sz="1300" dirty="0"/>
          </a:p>
          <a:p>
            <a:pPr algn="l" marL="342900" indent="-342900">
              <a:spcAft>
                <a:spcPts val="600"/>
              </a:spcAft>
              <a:buSzPct val="100000"/>
              <a:buChar char="•"/>
            </a:pPr>
            <a:r>
              <a:rPr lang="en-US" sz="1300" dirty="0">
                <a:solidFill>
                  <a:schemeClr val="tx1"/>
                </a:solidFill>
              </a:rPr>
              <a:t>Canvas QR generator, ErrorBoundary, Ethers.js v6 wallet connectivity</a:t>
            </a:r>
            <a:endParaRPr lang="en-US" sz="1300" dirty="0"/>
          </a:p>
        </p:txBody>
      </p:sp>
      <p:sp>
        <p:nvSpPr>
          <p:cNvPr id="21" name="Evidence EV-03"/>
          <p:cNvSpPr/>
          <p:nvPr/>
        </p:nvSpPr>
        <p:spPr>
          <a:xfrm>
            <a:off x="4608576" y="4663440"/>
            <a:ext cx="685800" cy="292608"/>
          </a:xfrm>
          <a:prstGeom prst="roundRect">
            <a:avLst>
              <a:gd name="adj" fmla="val 18750"/>
            </a:avLst>
          </a:prstGeom>
          <a:solidFill>
            <a:schemeClr val="accent1">
              <a:alpha val="15000"/>
            </a:schemeClr>
          </a:solidFill>
          <a:ln/>
        </p:spPr>
        <p:txBody>
          <a:bodyPr wrap="square" lIns="0" tIns="0" rIns="0" bIns="0" rtlCol="0" anchor="ctr"/>
          <a:lstStyle/>
          <a:p>
            <a:pPr algn="ctr" indent="0" marL="0">
              <a:buNone/>
            </a:pPr>
            <a:r>
              <a:rPr lang="en-US" sz="1100" b="1" dirty="0">
                <a:solidFill>
                  <a:schemeClr val="accent1"/>
                </a:solidFill>
              </a:rPr>
              <a:t>EV-03</a:t>
            </a:r>
            <a:endParaRPr lang="en-US" sz="1100" dirty="0"/>
          </a:p>
        </p:txBody>
      </p:sp>
      <p:sp>
        <p:nvSpPr>
          <p:cNvPr id="22" name="Evidence EV-05"/>
          <p:cNvSpPr/>
          <p:nvPr/>
        </p:nvSpPr>
        <p:spPr>
          <a:xfrm>
            <a:off x="5385816" y="4663440"/>
            <a:ext cx="685800" cy="292608"/>
          </a:xfrm>
          <a:prstGeom prst="roundRect">
            <a:avLst>
              <a:gd name="adj" fmla="val 18750"/>
            </a:avLst>
          </a:prstGeom>
          <a:solidFill>
            <a:schemeClr val="accent1">
              <a:alpha val="15000"/>
            </a:schemeClr>
          </a:solidFill>
          <a:ln/>
        </p:spPr>
        <p:txBody>
          <a:bodyPr wrap="square" lIns="0" tIns="0" rIns="0" bIns="0" rtlCol="0" anchor="ctr"/>
          <a:lstStyle/>
          <a:p>
            <a:pPr algn="ctr" indent="0" marL="0">
              <a:buNone/>
            </a:pPr>
            <a:r>
              <a:rPr lang="en-US" sz="1100" b="1" dirty="0">
                <a:solidFill>
                  <a:schemeClr val="accent1"/>
                </a:solidFill>
              </a:rPr>
              <a:t>EV-05</a:t>
            </a:r>
            <a:endParaRPr lang="en-US" sz="1100" dirty="0"/>
          </a:p>
        </p:txBody>
      </p:sp>
      <p:sp>
        <p:nvSpPr>
          <p:cNvPr id="23" name="Evidence EV-09"/>
          <p:cNvSpPr/>
          <p:nvPr/>
        </p:nvSpPr>
        <p:spPr>
          <a:xfrm>
            <a:off x="6163056" y="4663440"/>
            <a:ext cx="685800" cy="292608"/>
          </a:xfrm>
          <a:prstGeom prst="roundRect">
            <a:avLst>
              <a:gd name="adj" fmla="val 18750"/>
            </a:avLst>
          </a:prstGeom>
          <a:solidFill>
            <a:schemeClr val="accent1">
              <a:alpha val="15000"/>
            </a:schemeClr>
          </a:solidFill>
          <a:ln/>
        </p:spPr>
        <p:txBody>
          <a:bodyPr wrap="square" lIns="0" tIns="0" rIns="0" bIns="0" rtlCol="0" anchor="ctr"/>
          <a:lstStyle/>
          <a:p>
            <a:pPr algn="ctr" indent="0" marL="0">
              <a:buNone/>
            </a:pPr>
            <a:r>
              <a:rPr lang="en-US" sz="1100" b="1" dirty="0">
                <a:solidFill>
                  <a:schemeClr val="accent1"/>
                </a:solidFill>
              </a:rPr>
              <a:t>EV-09</a:t>
            </a:r>
            <a:endParaRPr lang="en-US" sz="1100" dirty="0"/>
          </a:p>
        </p:txBody>
      </p:sp>
      <p:sp>
        <p:nvSpPr>
          <p:cNvPr id="24" name="Reflection box"/>
          <p:cNvSpPr/>
          <p:nvPr/>
        </p:nvSpPr>
        <p:spPr>
          <a:xfrm>
            <a:off x="4517136" y="5120640"/>
            <a:ext cx="3154680" cy="960120"/>
          </a:xfrm>
          <a:prstGeom prst="roundRect">
            <a:avLst>
              <a:gd name="adj" fmla="val 9524"/>
            </a:avLst>
          </a:prstGeom>
          <a:solidFill>
            <a:schemeClr val="bg1"/>
          </a:solidFill>
          <a:ln/>
        </p:spPr>
      </p:sp>
      <p:sp>
        <p:nvSpPr>
          <p:cNvPr id="25" name="Reflection 2"/>
          <p:cNvSpPr txBox="1"/>
          <p:nvPr/>
        </p:nvSpPr>
        <p:spPr>
          <a:xfrm>
            <a:off x="4654296" y="5166360"/>
            <a:ext cx="2880360" cy="868680"/>
          </a:xfrm>
          <a:prstGeom prst="rect">
            <a:avLst/>
          </a:prstGeom>
          <a:noFill/>
          <a:ln/>
        </p:spPr>
        <p:txBody>
          <a:bodyPr wrap="square" lIns="0" tIns="0" rIns="0" bIns="0" rtlCol="0" anchor="ctr"/>
          <a:lstStyle/>
          <a:p>
            <a:pPr algn="l" indent="0" marL="0">
              <a:buNone/>
            </a:pPr>
            <a:r>
              <a:rPr lang="en-US" sz="1200" i="1" dirty="0">
                <a:solidFill>
                  <a:schemeClr val="tx1"/>
                </a:solidFill>
              </a:rPr>
              <a:t>Streamlined Web3 UX so employers can verify credentials without crypto wallets or browser extensions.</a:t>
            </a:r>
            <a:endParaRPr lang="en-US" sz="1200" dirty="0"/>
          </a:p>
        </p:txBody>
      </p:sp>
      <p:sp>
        <p:nvSpPr>
          <p:cNvPr id="26" name="Team card 3"/>
          <p:cNvSpPr/>
          <p:nvPr/>
        </p:nvSpPr>
        <p:spPr>
          <a:xfrm>
            <a:off x="8119872" y="1463040"/>
            <a:ext cx="3520440" cy="4800600"/>
          </a:xfrm>
          <a:prstGeom prst="roundRect">
            <a:avLst>
              <a:gd name="adj" fmla="val 2597"/>
            </a:avLst>
          </a:prstGeom>
          <a:solidFill>
            <a:schemeClr val="bg2"/>
          </a:solidFill>
          <a:ln/>
        </p:spPr>
      </p:sp>
      <p:sp>
        <p:nvSpPr>
          <p:cNvPr id="27" name="Avatar VM"/>
          <p:cNvSpPr/>
          <p:nvPr/>
        </p:nvSpPr>
        <p:spPr>
          <a:xfrm>
            <a:off x="8394192" y="173736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VM</a:t>
            </a:r>
            <a:endParaRPr lang="en-US" sz="1800" dirty="0"/>
          </a:p>
        </p:txBody>
      </p:sp>
      <p:sp>
        <p:nvSpPr>
          <p:cNvPr id="28" name="Member name 3"/>
          <p:cNvSpPr txBox="1"/>
          <p:nvPr/>
        </p:nvSpPr>
        <p:spPr>
          <a:xfrm>
            <a:off x="9217152" y="1755648"/>
            <a:ext cx="2194560" cy="329184"/>
          </a:xfrm>
          <a:prstGeom prst="rect">
            <a:avLst/>
          </a:prstGeom>
          <a:noFill/>
          <a:ln/>
        </p:spPr>
        <p:txBody>
          <a:bodyPr wrap="square" lIns="0" tIns="0" rIns="0" bIns="0" rtlCol="0" anchor="t"/>
          <a:lstStyle/>
          <a:p>
            <a:pPr algn="l" indent="0" marL="0">
              <a:buNone/>
            </a:pPr>
            <a:r>
              <a:rPr lang="en-US" sz="1800" b="1" dirty="0">
                <a:solidFill>
                  <a:schemeClr val="tx2"/>
                </a:solidFill>
                <a:latin typeface="Cambria" pitchFamily="34" charset="0"/>
                <a:ea typeface="Cambria" pitchFamily="34" charset="-122"/>
                <a:cs typeface="Cambria" pitchFamily="34" charset="-120"/>
              </a:rPr>
              <a:t>Vaishnavi Mali</a:t>
            </a:r>
            <a:endParaRPr lang="en-US" sz="1800" dirty="0"/>
          </a:p>
        </p:txBody>
      </p:sp>
      <p:sp>
        <p:nvSpPr>
          <p:cNvPr id="29" name="Member id 3"/>
          <p:cNvSpPr txBox="1"/>
          <p:nvPr/>
        </p:nvSpPr>
        <p:spPr>
          <a:xfrm>
            <a:off x="9217152" y="2103120"/>
            <a:ext cx="2286000" cy="256032"/>
          </a:xfrm>
          <a:prstGeom prst="rect">
            <a:avLst/>
          </a:prstGeom>
          <a:noFill/>
          <a:ln/>
        </p:spPr>
        <p:txBody>
          <a:bodyPr wrap="square" lIns="0" tIns="0" rIns="0" bIns="0" rtlCol="0" anchor="t"/>
          <a:lstStyle/>
          <a:p>
            <a:pPr algn="l" indent="0" marL="0">
              <a:buNone/>
            </a:pPr>
            <a:r>
              <a:rPr lang="en-US" sz="1200" dirty="0">
                <a:solidFill>
                  <a:schemeClr val="accent6"/>
                </a:solidFill>
              </a:rPr>
              <a:t>B348  |  SAP 70022400767</a:t>
            </a:r>
            <a:endParaRPr lang="en-US" sz="1200" dirty="0"/>
          </a:p>
        </p:txBody>
      </p:sp>
      <p:sp>
        <p:nvSpPr>
          <p:cNvPr id="30" name="Member role 3"/>
          <p:cNvSpPr txBox="1"/>
          <p:nvPr/>
        </p:nvSpPr>
        <p:spPr>
          <a:xfrm>
            <a:off x="8394192" y="2560320"/>
            <a:ext cx="2971800" cy="548640"/>
          </a:xfrm>
          <a:prstGeom prst="rect">
            <a:avLst/>
          </a:prstGeom>
          <a:noFill/>
          <a:ln/>
        </p:spPr>
        <p:txBody>
          <a:bodyPr wrap="square" lIns="0" tIns="0" rIns="0" bIns="0" rtlCol="0" anchor="t"/>
          <a:lstStyle/>
          <a:p>
            <a:pPr algn="l" indent="0" marL="0">
              <a:buNone/>
            </a:pPr>
            <a:r>
              <a:rPr lang="en-US" sz="1400" b="1" dirty="0">
                <a:solidFill>
                  <a:schemeClr val="accent1"/>
                </a:solidFill>
              </a:rPr>
              <a:t>QA, Test Automation &amp; Regulatory Compliance Lead</a:t>
            </a:r>
            <a:endParaRPr lang="en-US" sz="1400" dirty="0"/>
          </a:p>
        </p:txBody>
      </p:sp>
      <p:sp>
        <p:nvSpPr>
          <p:cNvPr id="31" name="Member work 3"/>
          <p:cNvSpPr txBox="1"/>
          <p:nvPr/>
        </p:nvSpPr>
        <p:spPr>
          <a:xfrm>
            <a:off x="8394192" y="3200400"/>
            <a:ext cx="2971800" cy="1371600"/>
          </a:xfrm>
          <a:prstGeom prst="rect">
            <a:avLst/>
          </a:prstGeom>
          <a:noFill/>
          <a:ln/>
        </p:spPr>
        <p:txBody>
          <a:bodyPr wrap="square" lIns="0" tIns="0" rIns="0" bIns="0" rtlCol="0" anchor="t"/>
          <a:lstStyle/>
          <a:p>
            <a:pPr algn="l" marL="342900" indent="-342900">
              <a:spcAft>
                <a:spcPts val="600"/>
              </a:spcAft>
              <a:buSzPct val="100000"/>
              <a:buChar char="•"/>
            </a:pPr>
            <a:r>
              <a:rPr lang="en-US" sz="1300" dirty="0">
                <a:solidFill>
                  <a:schemeClr val="tx1"/>
                </a:solidFill>
              </a:rPr>
              <a:t>29/29 automated Chai tests in CredentialRegistry.test.js</a:t>
            </a:r>
            <a:endParaRPr lang="en-US" sz="1300" dirty="0"/>
          </a:p>
          <a:p>
            <a:pPr algn="l" marL="342900" indent="-342900">
              <a:spcAft>
                <a:spcPts val="600"/>
              </a:spcAft>
              <a:buSzPct val="100000"/>
              <a:buChar char="•"/>
            </a:pPr>
            <a:r>
              <a:rPr lang="en-US" sz="1300" dirty="0">
                <a:solidFill>
                  <a:schemeClr val="tx1"/>
                </a:solidFill>
              </a:rPr>
              <a:t>Boundary assertions, audit-trail checks, DPDP Act 2023 compliance audit</a:t>
            </a:r>
            <a:endParaRPr lang="en-US" sz="1300" dirty="0"/>
          </a:p>
        </p:txBody>
      </p:sp>
      <p:sp>
        <p:nvSpPr>
          <p:cNvPr id="32" name="Evidence EV-02"/>
          <p:cNvSpPr/>
          <p:nvPr/>
        </p:nvSpPr>
        <p:spPr>
          <a:xfrm>
            <a:off x="8394192" y="4663440"/>
            <a:ext cx="685800" cy="292608"/>
          </a:xfrm>
          <a:prstGeom prst="roundRect">
            <a:avLst>
              <a:gd name="adj" fmla="val 18750"/>
            </a:avLst>
          </a:prstGeom>
          <a:solidFill>
            <a:schemeClr val="accent1">
              <a:alpha val="15000"/>
            </a:schemeClr>
          </a:solidFill>
          <a:ln/>
        </p:spPr>
        <p:txBody>
          <a:bodyPr wrap="square" lIns="0" tIns="0" rIns="0" bIns="0" rtlCol="0" anchor="ctr"/>
          <a:lstStyle/>
          <a:p>
            <a:pPr algn="ctr" indent="0" marL="0">
              <a:buNone/>
            </a:pPr>
            <a:r>
              <a:rPr lang="en-US" sz="1100" b="1" dirty="0">
                <a:solidFill>
                  <a:schemeClr val="accent1"/>
                </a:solidFill>
              </a:rPr>
              <a:t>EV-02</a:t>
            </a:r>
            <a:endParaRPr lang="en-US" sz="1100" dirty="0"/>
          </a:p>
        </p:txBody>
      </p:sp>
      <p:sp>
        <p:nvSpPr>
          <p:cNvPr id="33" name="Evidence EV-08"/>
          <p:cNvSpPr/>
          <p:nvPr/>
        </p:nvSpPr>
        <p:spPr>
          <a:xfrm>
            <a:off x="9171432" y="4663440"/>
            <a:ext cx="685800" cy="292608"/>
          </a:xfrm>
          <a:prstGeom prst="roundRect">
            <a:avLst>
              <a:gd name="adj" fmla="val 18750"/>
            </a:avLst>
          </a:prstGeom>
          <a:solidFill>
            <a:schemeClr val="accent1">
              <a:alpha val="15000"/>
            </a:schemeClr>
          </a:solidFill>
          <a:ln/>
        </p:spPr>
        <p:txBody>
          <a:bodyPr wrap="square" lIns="0" tIns="0" rIns="0" bIns="0" rtlCol="0" anchor="ctr"/>
          <a:lstStyle/>
          <a:p>
            <a:pPr algn="ctr" indent="0" marL="0">
              <a:buNone/>
            </a:pPr>
            <a:r>
              <a:rPr lang="en-US" sz="1100" b="1" dirty="0">
                <a:solidFill>
                  <a:schemeClr val="accent1"/>
                </a:solidFill>
              </a:rPr>
              <a:t>EV-08</a:t>
            </a:r>
            <a:endParaRPr lang="en-US" sz="1100" dirty="0"/>
          </a:p>
        </p:txBody>
      </p:sp>
      <p:sp>
        <p:nvSpPr>
          <p:cNvPr id="34" name="Reflection box"/>
          <p:cNvSpPr/>
          <p:nvPr/>
        </p:nvSpPr>
        <p:spPr>
          <a:xfrm>
            <a:off x="8302752" y="5120640"/>
            <a:ext cx="3154680" cy="960120"/>
          </a:xfrm>
          <a:prstGeom prst="roundRect">
            <a:avLst>
              <a:gd name="adj" fmla="val 9524"/>
            </a:avLst>
          </a:prstGeom>
          <a:solidFill>
            <a:schemeClr val="bg1"/>
          </a:solidFill>
          <a:ln/>
        </p:spPr>
      </p:sp>
      <p:sp>
        <p:nvSpPr>
          <p:cNvPr id="35" name="Reflection 3"/>
          <p:cNvSpPr txBox="1"/>
          <p:nvPr/>
        </p:nvSpPr>
        <p:spPr>
          <a:xfrm>
            <a:off x="8439912" y="5166360"/>
            <a:ext cx="2880360" cy="868680"/>
          </a:xfrm>
          <a:prstGeom prst="rect">
            <a:avLst/>
          </a:prstGeom>
          <a:noFill/>
          <a:ln/>
        </p:spPr>
        <p:txBody>
          <a:bodyPr wrap="square" lIns="0" tIns="0" rIns="0" bIns="0" rtlCol="0" anchor="ctr"/>
          <a:lstStyle/>
          <a:p>
            <a:pPr algn="l" indent="0" marL="0">
              <a:buNone/>
            </a:pPr>
            <a:r>
              <a:rPr lang="en-US" sz="1200" i="1" dirty="0">
                <a:solidFill>
                  <a:schemeClr val="tx1"/>
                </a:solidFill>
              </a:rPr>
              <a:t>Proved that blockchain immutability and the DPDP Right to Erasure can coexist via cryptographic abstraction.</a:t>
            </a:r>
            <a:endParaRPr lang="en-US" sz="12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txBox="1"/>
          <p:nvPr>
            <p:ph idx="101" type="body" hasCustomPrompt="1"/>
          </p:nvPr>
        </p:nvSpPr>
        <p:spPr>
          <a:xfrm>
            <a:off x="548640" y="292608"/>
            <a:ext cx="11094415" cy="256032"/>
          </a:xfrm>
          <a:prstGeom prst="rect">
            <a:avLst/>
          </a:prstGeom>
          <a:noFill/>
          <a:ln/>
        </p:spPr>
        <p:txBody>
          <a:bodyPr wrap="square" lIns="0" tIns="0" rIns="0" bIns="0" rtlCol="0" anchor="t"/>
          <a:lstStyle/>
          <a:p>
            <a:pPr algn="l" indent="0" marL="0">
              <a:buNone/>
            </a:pPr>
            <a:r>
              <a:rPr lang="en-US" sz="1200" b="1" spc="200" kern="0" dirty="0">
                <a:solidFill>
                  <a:schemeClr val="accent5"/>
                </a:solidFill>
              </a:rPr>
              <a:t>CHAPTER 6  |  CONCLUSION</a:t>
            </a:r>
            <a:endParaRPr lang="en-US" sz="1200" dirty="0"/>
          </a:p>
        </p:txBody>
      </p:sp>
      <p:sp>
        <p:nvSpPr>
          <p:cNvPr id="3" name="Text 1"/>
          <p:cNvSpPr txBox="1"/>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bg1"/>
                </a:solidFill>
              </a:rPr>
              <a:t>What EduCred Demonstrates</a:t>
            </a:r>
            <a:endParaRPr lang="en-US" sz="3200" dirty="0"/>
          </a:p>
        </p:txBody>
      </p:sp>
      <p:sp>
        <p:nvSpPr>
          <p:cNvPr id="4" name="Conclusion card 1"/>
          <p:cNvSpPr/>
          <p:nvPr/>
        </p:nvSpPr>
        <p:spPr>
          <a:xfrm>
            <a:off x="548640" y="1508760"/>
            <a:ext cx="2103120" cy="3108960"/>
          </a:xfrm>
          <a:prstGeom prst="roundRect">
            <a:avLst>
              <a:gd name="adj" fmla="val 4348"/>
            </a:avLst>
          </a:prstGeom>
          <a:solidFill>
            <a:schemeClr val="bg1">
              <a:alpha val="8000"/>
            </a:schemeClr>
          </a:solidFill>
          <a:ln/>
        </p:spPr>
      </p:sp>
      <p:sp>
        <p:nvSpPr>
          <p:cNvPr id="5" name="Conclusion number 1"/>
          <p:cNvSpPr/>
          <p:nvPr/>
        </p:nvSpPr>
        <p:spPr>
          <a:xfrm>
            <a:off x="777240" y="1737360"/>
            <a:ext cx="502920" cy="502920"/>
          </a:xfrm>
          <a:prstGeom prst="ellipse">
            <a:avLst/>
          </a:prstGeom>
          <a:solidFill>
            <a:schemeClr val="accent5"/>
          </a:solidFill>
          <a:ln/>
        </p:spPr>
        <p:txBody>
          <a:bodyPr wrap="square" lIns="0" tIns="0" rIns="0" bIns="0" rtlCol="0" anchor="ctr"/>
          <a:lstStyle/>
          <a:p>
            <a:pPr algn="ctr" indent="0" marL="0">
              <a:buNone/>
            </a:pPr>
            <a:r>
              <a:rPr lang="en-US" sz="1800" b="1" dirty="0">
                <a:solidFill>
                  <a:srgbClr val="0B1B3A"/>
                </a:solidFill>
              </a:rPr>
              <a:t>1</a:t>
            </a:r>
            <a:endParaRPr lang="en-US" sz="1800" dirty="0"/>
          </a:p>
        </p:txBody>
      </p:sp>
      <p:sp>
        <p:nvSpPr>
          <p:cNvPr id="6" name="Conclusion heading 1"/>
          <p:cNvSpPr txBox="1"/>
          <p:nvPr/>
        </p:nvSpPr>
        <p:spPr>
          <a:xfrm>
            <a:off x="777240" y="2423160"/>
            <a:ext cx="1691640" cy="594360"/>
          </a:xfrm>
          <a:prstGeom prst="rect">
            <a:avLst/>
          </a:prstGeom>
          <a:noFill/>
          <a:ln/>
        </p:spPr>
        <p:txBody>
          <a:bodyPr wrap="square" lIns="0" tIns="0" rIns="0" bIns="0" rtlCol="0" anchor="t"/>
          <a:lstStyle/>
          <a:p>
            <a:pPr algn="l" indent="0" marL="0">
              <a:buNone/>
            </a:pPr>
            <a:r>
              <a:rPr lang="en-US" sz="1700" b="1" dirty="0">
                <a:solidFill>
                  <a:schemeClr val="bg1"/>
                </a:solidFill>
                <a:latin typeface="Cambria" pitchFamily="34" charset="0"/>
                <a:ea typeface="Cambria" pitchFamily="34" charset="-122"/>
                <a:cs typeface="Cambria" pitchFamily="34" charset="-120"/>
              </a:rPr>
              <a:t>Forgery detected</a:t>
            </a:r>
            <a:endParaRPr lang="en-US" sz="1700" dirty="0"/>
          </a:p>
        </p:txBody>
      </p:sp>
      <p:sp>
        <p:nvSpPr>
          <p:cNvPr id="7" name="Conclusion text 1"/>
          <p:cNvSpPr txBox="1"/>
          <p:nvPr/>
        </p:nvSpPr>
        <p:spPr>
          <a:xfrm>
            <a:off x="777240" y="3108960"/>
            <a:ext cx="1691640" cy="1417320"/>
          </a:xfrm>
          <a:prstGeom prst="rect">
            <a:avLst/>
          </a:prstGeom>
          <a:noFill/>
          <a:ln/>
        </p:spPr>
        <p:txBody>
          <a:bodyPr wrap="square" lIns="0" tIns="0" rIns="0" bIns="0" rtlCol="0" anchor="t"/>
          <a:lstStyle/>
          <a:p>
            <a:pPr algn="l" indent="0" marL="0">
              <a:buNone/>
            </a:pPr>
            <a:r>
              <a:rPr lang="en-US" sz="1400" dirty="0">
                <a:solidFill>
                  <a:schemeClr val="bg2"/>
                </a:solidFill>
              </a:rPr>
              <a:t>Any change to a certificate changes its SHA-256 hash, so a forged copy fails verification</a:t>
            </a:r>
            <a:endParaRPr lang="en-US" sz="1400" dirty="0"/>
          </a:p>
        </p:txBody>
      </p:sp>
      <p:sp>
        <p:nvSpPr>
          <p:cNvPr id="8" name="Conclusion card 2"/>
          <p:cNvSpPr/>
          <p:nvPr/>
        </p:nvSpPr>
        <p:spPr>
          <a:xfrm>
            <a:off x="2798064" y="1508760"/>
            <a:ext cx="2103120" cy="3108960"/>
          </a:xfrm>
          <a:prstGeom prst="roundRect">
            <a:avLst>
              <a:gd name="adj" fmla="val 4348"/>
            </a:avLst>
          </a:prstGeom>
          <a:solidFill>
            <a:schemeClr val="bg1">
              <a:alpha val="8000"/>
            </a:schemeClr>
          </a:solidFill>
          <a:ln/>
        </p:spPr>
      </p:sp>
      <p:sp>
        <p:nvSpPr>
          <p:cNvPr id="9" name="Conclusion number 2"/>
          <p:cNvSpPr/>
          <p:nvPr/>
        </p:nvSpPr>
        <p:spPr>
          <a:xfrm>
            <a:off x="3026664" y="1737360"/>
            <a:ext cx="502920" cy="502920"/>
          </a:xfrm>
          <a:prstGeom prst="ellipse">
            <a:avLst/>
          </a:prstGeom>
          <a:solidFill>
            <a:schemeClr val="accent5"/>
          </a:solidFill>
          <a:ln/>
        </p:spPr>
        <p:txBody>
          <a:bodyPr wrap="square" lIns="0" tIns="0" rIns="0" bIns="0" rtlCol="0" anchor="ctr"/>
          <a:lstStyle/>
          <a:p>
            <a:pPr algn="ctr" indent="0" marL="0">
              <a:buNone/>
            </a:pPr>
            <a:r>
              <a:rPr lang="en-US" sz="1800" b="1" dirty="0">
                <a:solidFill>
                  <a:srgbClr val="0B1B3A"/>
                </a:solidFill>
              </a:rPr>
              <a:t>2</a:t>
            </a:r>
            <a:endParaRPr lang="en-US" sz="1800" dirty="0"/>
          </a:p>
        </p:txBody>
      </p:sp>
      <p:sp>
        <p:nvSpPr>
          <p:cNvPr id="10" name="Conclusion heading 2"/>
          <p:cNvSpPr txBox="1"/>
          <p:nvPr/>
        </p:nvSpPr>
        <p:spPr>
          <a:xfrm>
            <a:off x="3026664" y="2423160"/>
            <a:ext cx="1691640" cy="594360"/>
          </a:xfrm>
          <a:prstGeom prst="rect">
            <a:avLst/>
          </a:prstGeom>
          <a:noFill/>
          <a:ln/>
        </p:spPr>
        <p:txBody>
          <a:bodyPr wrap="square" lIns="0" tIns="0" rIns="0" bIns="0" rtlCol="0" anchor="t"/>
          <a:lstStyle/>
          <a:p>
            <a:pPr algn="l" indent="0" marL="0">
              <a:buNone/>
            </a:pPr>
            <a:r>
              <a:rPr lang="en-US" sz="1700" b="1" dirty="0">
                <a:solidFill>
                  <a:schemeClr val="bg1"/>
                </a:solidFill>
                <a:latin typeface="Cambria" pitchFamily="34" charset="0"/>
                <a:ea typeface="Cambria" pitchFamily="34" charset="-122"/>
                <a:cs typeface="Cambria" pitchFamily="34" charset="-120"/>
              </a:rPr>
              <a:t>Seconds, not weeks</a:t>
            </a:r>
            <a:endParaRPr lang="en-US" sz="1700" dirty="0"/>
          </a:p>
        </p:txBody>
      </p:sp>
      <p:sp>
        <p:nvSpPr>
          <p:cNvPr id="11" name="Conclusion text 2"/>
          <p:cNvSpPr txBox="1"/>
          <p:nvPr/>
        </p:nvSpPr>
        <p:spPr>
          <a:xfrm>
            <a:off x="3026664" y="3108960"/>
            <a:ext cx="1691640" cy="1417320"/>
          </a:xfrm>
          <a:prstGeom prst="rect">
            <a:avLst/>
          </a:prstGeom>
          <a:noFill/>
          <a:ln/>
        </p:spPr>
        <p:txBody>
          <a:bodyPr wrap="square" lIns="0" tIns="0" rIns="0" bIns="0" rtlCol="0" anchor="t"/>
          <a:lstStyle/>
          <a:p>
            <a:pPr algn="l" indent="0" marL="0">
              <a:buNone/>
            </a:pPr>
            <a:r>
              <a:rPr lang="en-US" sz="1400" dirty="0">
                <a:solidFill>
                  <a:schemeClr val="bg2"/>
                </a:solidFill>
              </a:rPr>
              <a:t>Verification drops from 14-30 days of paperwork to sub-second real time</a:t>
            </a:r>
            <a:endParaRPr lang="en-US" sz="1400" dirty="0"/>
          </a:p>
        </p:txBody>
      </p:sp>
      <p:sp>
        <p:nvSpPr>
          <p:cNvPr id="12" name="Conclusion card 3"/>
          <p:cNvSpPr/>
          <p:nvPr/>
        </p:nvSpPr>
        <p:spPr>
          <a:xfrm>
            <a:off x="5047488" y="1508760"/>
            <a:ext cx="2103120" cy="3108960"/>
          </a:xfrm>
          <a:prstGeom prst="roundRect">
            <a:avLst>
              <a:gd name="adj" fmla="val 4348"/>
            </a:avLst>
          </a:prstGeom>
          <a:solidFill>
            <a:schemeClr val="bg1">
              <a:alpha val="8000"/>
            </a:schemeClr>
          </a:solidFill>
          <a:ln/>
        </p:spPr>
      </p:sp>
      <p:sp>
        <p:nvSpPr>
          <p:cNvPr id="13" name="Conclusion number 3"/>
          <p:cNvSpPr/>
          <p:nvPr/>
        </p:nvSpPr>
        <p:spPr>
          <a:xfrm>
            <a:off x="5276088" y="1737360"/>
            <a:ext cx="502920" cy="502920"/>
          </a:xfrm>
          <a:prstGeom prst="ellipse">
            <a:avLst/>
          </a:prstGeom>
          <a:solidFill>
            <a:schemeClr val="accent5"/>
          </a:solidFill>
          <a:ln/>
        </p:spPr>
        <p:txBody>
          <a:bodyPr wrap="square" lIns="0" tIns="0" rIns="0" bIns="0" rtlCol="0" anchor="ctr"/>
          <a:lstStyle/>
          <a:p>
            <a:pPr algn="ctr" indent="0" marL="0">
              <a:buNone/>
            </a:pPr>
            <a:r>
              <a:rPr lang="en-US" sz="1800" b="1" dirty="0">
                <a:solidFill>
                  <a:srgbClr val="0B1B3A"/>
                </a:solidFill>
              </a:rPr>
              <a:t>3</a:t>
            </a:r>
            <a:endParaRPr lang="en-US" sz="1800" dirty="0"/>
          </a:p>
        </p:txBody>
      </p:sp>
      <p:sp>
        <p:nvSpPr>
          <p:cNvPr id="14" name="Conclusion heading 3"/>
          <p:cNvSpPr txBox="1"/>
          <p:nvPr/>
        </p:nvSpPr>
        <p:spPr>
          <a:xfrm>
            <a:off x="5276088" y="2423160"/>
            <a:ext cx="1691640" cy="594360"/>
          </a:xfrm>
          <a:prstGeom prst="rect">
            <a:avLst/>
          </a:prstGeom>
          <a:noFill/>
          <a:ln/>
        </p:spPr>
        <p:txBody>
          <a:bodyPr wrap="square" lIns="0" tIns="0" rIns="0" bIns="0" rtlCol="0" anchor="t"/>
          <a:lstStyle/>
          <a:p>
            <a:pPr algn="l" indent="0" marL="0">
              <a:buNone/>
            </a:pPr>
            <a:r>
              <a:rPr lang="en-US" sz="1700" b="1" dirty="0">
                <a:solidFill>
                  <a:schemeClr val="bg1"/>
                </a:solidFill>
                <a:latin typeface="Cambria" pitchFamily="34" charset="0"/>
                <a:ea typeface="Cambria" pitchFamily="34" charset="-122"/>
                <a:cs typeface="Cambria" pitchFamily="34" charset="-120"/>
              </a:rPr>
              <a:t>Zero employer barrier</a:t>
            </a:r>
            <a:endParaRPr lang="en-US" sz="1700" dirty="0"/>
          </a:p>
        </p:txBody>
      </p:sp>
      <p:sp>
        <p:nvSpPr>
          <p:cNvPr id="15" name="Conclusion text 3"/>
          <p:cNvSpPr txBox="1"/>
          <p:nvPr/>
        </p:nvSpPr>
        <p:spPr>
          <a:xfrm>
            <a:off x="5276088" y="3108960"/>
            <a:ext cx="1691640" cy="1417320"/>
          </a:xfrm>
          <a:prstGeom prst="rect">
            <a:avLst/>
          </a:prstGeom>
          <a:noFill/>
          <a:ln/>
        </p:spPr>
        <p:txBody>
          <a:bodyPr wrap="square" lIns="0" tIns="0" rIns="0" bIns="0" rtlCol="0" anchor="t"/>
          <a:lstStyle/>
          <a:p>
            <a:pPr algn="l" indent="0" marL="0">
              <a:buNone/>
            </a:pPr>
            <a:r>
              <a:rPr lang="en-US" sz="1400" dirty="0">
                <a:solidFill>
                  <a:schemeClr val="bg2"/>
                </a:solidFill>
              </a:rPr>
              <a:t>0 gas fees and no Web3 onboarding for public verifiers</a:t>
            </a:r>
            <a:endParaRPr lang="en-US" sz="1400" dirty="0"/>
          </a:p>
        </p:txBody>
      </p:sp>
      <p:sp>
        <p:nvSpPr>
          <p:cNvPr id="16" name="Conclusion card 4"/>
          <p:cNvSpPr/>
          <p:nvPr/>
        </p:nvSpPr>
        <p:spPr>
          <a:xfrm>
            <a:off x="7296912" y="1508760"/>
            <a:ext cx="2103120" cy="3108960"/>
          </a:xfrm>
          <a:prstGeom prst="roundRect">
            <a:avLst>
              <a:gd name="adj" fmla="val 4348"/>
            </a:avLst>
          </a:prstGeom>
          <a:solidFill>
            <a:schemeClr val="bg1">
              <a:alpha val="8000"/>
            </a:schemeClr>
          </a:solidFill>
          <a:ln/>
        </p:spPr>
      </p:sp>
      <p:sp>
        <p:nvSpPr>
          <p:cNvPr id="17" name="Conclusion number 4"/>
          <p:cNvSpPr/>
          <p:nvPr/>
        </p:nvSpPr>
        <p:spPr>
          <a:xfrm>
            <a:off x="7525512" y="1737360"/>
            <a:ext cx="502920" cy="502920"/>
          </a:xfrm>
          <a:prstGeom prst="ellipse">
            <a:avLst/>
          </a:prstGeom>
          <a:solidFill>
            <a:schemeClr val="accent5"/>
          </a:solidFill>
          <a:ln/>
        </p:spPr>
        <p:txBody>
          <a:bodyPr wrap="square" lIns="0" tIns="0" rIns="0" bIns="0" rtlCol="0" anchor="ctr"/>
          <a:lstStyle/>
          <a:p>
            <a:pPr algn="ctr" indent="0" marL="0">
              <a:buNone/>
            </a:pPr>
            <a:r>
              <a:rPr lang="en-US" sz="1800" b="1" dirty="0">
                <a:solidFill>
                  <a:srgbClr val="0B1B3A"/>
                </a:solidFill>
              </a:rPr>
              <a:t>4</a:t>
            </a:r>
            <a:endParaRPr lang="en-US" sz="1800" dirty="0"/>
          </a:p>
        </p:txBody>
      </p:sp>
      <p:sp>
        <p:nvSpPr>
          <p:cNvPr id="18" name="Conclusion heading 4"/>
          <p:cNvSpPr txBox="1"/>
          <p:nvPr/>
        </p:nvSpPr>
        <p:spPr>
          <a:xfrm>
            <a:off x="7525512" y="2423160"/>
            <a:ext cx="1691640" cy="594360"/>
          </a:xfrm>
          <a:prstGeom prst="rect">
            <a:avLst/>
          </a:prstGeom>
          <a:noFill/>
          <a:ln/>
        </p:spPr>
        <p:txBody>
          <a:bodyPr wrap="square" lIns="0" tIns="0" rIns="0" bIns="0" rtlCol="0" anchor="t"/>
          <a:lstStyle/>
          <a:p>
            <a:pPr algn="l" indent="0" marL="0">
              <a:buNone/>
            </a:pPr>
            <a:r>
              <a:rPr lang="en-US" sz="1700" b="1" dirty="0">
                <a:solidFill>
                  <a:schemeClr val="bg1"/>
                </a:solidFill>
                <a:latin typeface="Cambria" pitchFamily="34" charset="0"/>
                <a:ea typeface="Cambria" pitchFamily="34" charset="-122"/>
                <a:cs typeface="Cambria" pitchFamily="34" charset="-120"/>
              </a:rPr>
              <a:t>Production-ready code</a:t>
            </a:r>
            <a:endParaRPr lang="en-US" sz="1700" dirty="0"/>
          </a:p>
        </p:txBody>
      </p:sp>
      <p:sp>
        <p:nvSpPr>
          <p:cNvPr id="19" name="Conclusion text 4"/>
          <p:cNvSpPr txBox="1"/>
          <p:nvPr/>
        </p:nvSpPr>
        <p:spPr>
          <a:xfrm>
            <a:off x="7525512" y="3108960"/>
            <a:ext cx="1691640" cy="1417320"/>
          </a:xfrm>
          <a:prstGeom prst="rect">
            <a:avLst/>
          </a:prstGeom>
          <a:noFill/>
          <a:ln/>
        </p:spPr>
        <p:txBody>
          <a:bodyPr wrap="square" lIns="0" tIns="0" rIns="0" bIns="0" rtlCol="0" anchor="t"/>
          <a:lstStyle/>
          <a:p>
            <a:pPr algn="l" indent="0" marL="0">
              <a:buNone/>
            </a:pPr>
            <a:r>
              <a:rPr lang="en-US" sz="1400" dirty="0">
                <a:solidFill>
                  <a:schemeClr val="bg2"/>
                </a:solidFill>
              </a:rPr>
              <a:t>29 automated tests, 100% pass, with a full regression harness</a:t>
            </a:r>
            <a:endParaRPr lang="en-US" sz="1400" dirty="0"/>
          </a:p>
        </p:txBody>
      </p:sp>
      <p:sp>
        <p:nvSpPr>
          <p:cNvPr id="20" name="Conclusion card 5"/>
          <p:cNvSpPr/>
          <p:nvPr/>
        </p:nvSpPr>
        <p:spPr>
          <a:xfrm>
            <a:off x="9546336" y="1508760"/>
            <a:ext cx="2103120" cy="3108960"/>
          </a:xfrm>
          <a:prstGeom prst="roundRect">
            <a:avLst>
              <a:gd name="adj" fmla="val 4348"/>
            </a:avLst>
          </a:prstGeom>
          <a:solidFill>
            <a:schemeClr val="bg1">
              <a:alpha val="8000"/>
            </a:schemeClr>
          </a:solidFill>
          <a:ln/>
        </p:spPr>
      </p:sp>
      <p:sp>
        <p:nvSpPr>
          <p:cNvPr id="21" name="Conclusion number 5"/>
          <p:cNvSpPr/>
          <p:nvPr/>
        </p:nvSpPr>
        <p:spPr>
          <a:xfrm>
            <a:off x="9774936" y="1737360"/>
            <a:ext cx="502920" cy="502920"/>
          </a:xfrm>
          <a:prstGeom prst="ellipse">
            <a:avLst/>
          </a:prstGeom>
          <a:solidFill>
            <a:schemeClr val="accent5"/>
          </a:solidFill>
          <a:ln/>
        </p:spPr>
        <p:txBody>
          <a:bodyPr wrap="square" lIns="0" tIns="0" rIns="0" bIns="0" rtlCol="0" anchor="ctr"/>
          <a:lstStyle/>
          <a:p>
            <a:pPr algn="ctr" indent="0" marL="0">
              <a:buNone/>
            </a:pPr>
            <a:r>
              <a:rPr lang="en-US" sz="1800" b="1" dirty="0">
                <a:solidFill>
                  <a:srgbClr val="0B1B3A"/>
                </a:solidFill>
              </a:rPr>
              <a:t>5</a:t>
            </a:r>
            <a:endParaRPr lang="en-US" sz="1800" dirty="0"/>
          </a:p>
        </p:txBody>
      </p:sp>
      <p:sp>
        <p:nvSpPr>
          <p:cNvPr id="22" name="Conclusion heading 5"/>
          <p:cNvSpPr txBox="1"/>
          <p:nvPr/>
        </p:nvSpPr>
        <p:spPr>
          <a:xfrm>
            <a:off x="9774936" y="2423160"/>
            <a:ext cx="1691640" cy="594360"/>
          </a:xfrm>
          <a:prstGeom prst="rect">
            <a:avLst/>
          </a:prstGeom>
          <a:noFill/>
          <a:ln/>
        </p:spPr>
        <p:txBody>
          <a:bodyPr wrap="square" lIns="0" tIns="0" rIns="0" bIns="0" rtlCol="0" anchor="t"/>
          <a:lstStyle/>
          <a:p>
            <a:pPr algn="l" indent="0" marL="0">
              <a:buNone/>
            </a:pPr>
            <a:r>
              <a:rPr lang="en-US" sz="1700" b="1" dirty="0">
                <a:solidFill>
                  <a:schemeClr val="bg1"/>
                </a:solidFill>
                <a:latin typeface="Cambria" pitchFamily="34" charset="0"/>
                <a:ea typeface="Cambria" pitchFamily="34" charset="-122"/>
                <a:cs typeface="Cambria" pitchFamily="34" charset="-120"/>
              </a:rPr>
              <a:t>Legally aligned</a:t>
            </a:r>
            <a:endParaRPr lang="en-US" sz="1700" dirty="0"/>
          </a:p>
        </p:txBody>
      </p:sp>
      <p:sp>
        <p:nvSpPr>
          <p:cNvPr id="23" name="Conclusion text 5"/>
          <p:cNvSpPr txBox="1"/>
          <p:nvPr/>
        </p:nvSpPr>
        <p:spPr>
          <a:xfrm>
            <a:off x="9774936" y="3108960"/>
            <a:ext cx="1691640" cy="1417320"/>
          </a:xfrm>
          <a:prstGeom prst="rect">
            <a:avLst/>
          </a:prstGeom>
          <a:noFill/>
          <a:ln/>
        </p:spPr>
        <p:txBody>
          <a:bodyPr wrap="square" lIns="0" tIns="0" rIns="0" bIns="0" rtlCol="0" anchor="t"/>
          <a:lstStyle/>
          <a:p>
            <a:pPr algn="l" indent="0" marL="0">
              <a:buNone/>
            </a:pPr>
            <a:r>
              <a:rPr lang="en-US" sz="1400" dirty="0">
                <a:solidFill>
                  <a:schemeClr val="bg2"/>
                </a:solidFill>
              </a:rPr>
              <a:t>Decoupled data model aligns with India’s DPDP Act 2023</a:t>
            </a:r>
            <a:endParaRPr lang="en-US" sz="1400" dirty="0"/>
          </a:p>
        </p:txBody>
      </p:sp>
      <p:sp>
        <p:nvSpPr>
          <p:cNvPr id="24" name="Conclusion banner"/>
          <p:cNvSpPr/>
          <p:nvPr/>
        </p:nvSpPr>
        <p:spPr>
          <a:xfrm>
            <a:off x="548640" y="4892040"/>
            <a:ext cx="11094415" cy="1371600"/>
          </a:xfrm>
          <a:prstGeom prst="roundRect">
            <a:avLst>
              <a:gd name="adj" fmla="val 6667"/>
            </a:avLst>
          </a:prstGeom>
          <a:solidFill>
            <a:schemeClr val="accent1"/>
          </a:solidFill>
          <a:ln/>
        </p:spPr>
      </p:sp>
      <p:sp>
        <p:nvSpPr>
          <p:cNvPr id="25" name="Conclusion statement"/>
          <p:cNvSpPr txBox="1"/>
          <p:nvPr/>
        </p:nvSpPr>
        <p:spPr>
          <a:xfrm>
            <a:off x="960120" y="4892040"/>
            <a:ext cx="10271455" cy="1371600"/>
          </a:xfrm>
          <a:prstGeom prst="rect">
            <a:avLst/>
          </a:prstGeom>
          <a:noFill/>
          <a:ln/>
        </p:spPr>
        <p:txBody>
          <a:bodyPr wrap="square" lIns="0" tIns="0" rIns="0" bIns="0" rtlCol="0" anchor="ctr"/>
          <a:lstStyle/>
          <a:p>
            <a:pPr algn="l" indent="0" marL="0">
              <a:buNone/>
            </a:pPr>
            <a:r>
              <a:rPr lang="en-US" sz="2000" b="1" dirty="0">
                <a:solidFill>
                  <a:schemeClr val="bg1"/>
                </a:solidFill>
              </a:rPr>
              <a:t>EduCred shows that decentralized cryptographic infrastructure can deliver an industry-ready, cost-effective way to secure educational credentials across Indian universities.</a:t>
            </a:r>
            <a:endParaRPr lang="en-US" sz="20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ph idx="100" type="body" hasCustomPrompt="1"/>
          </p:nvPr>
        </p:nvSpPr>
        <p:spPr>
          <a:xfrm>
            <a:off x="548640" y="292608"/>
            <a:ext cx="11094415"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SCALABILITY ROADMAP  |  DE-III / CAPSTONE</a:t>
            </a:r>
            <a:endParaRPr lang="en-US" sz="1200" dirty="0"/>
          </a:p>
        </p:txBody>
      </p:sp>
      <p:sp>
        <p:nvSpPr>
          <p:cNvPr id="3" name="Text 0"/>
          <p:cNvSpPr txBox="1"/>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Roadmap to Live Deployment</a:t>
            </a:r>
            <a:endParaRPr lang="en-US" sz="3200" dirty="0"/>
          </a:p>
        </p:txBody>
      </p:sp>
      <p:sp>
        <p:nvSpPr>
          <p:cNvPr id="4" name="Timeline line"/>
          <p:cNvSpPr/>
          <p:nvPr/>
        </p:nvSpPr>
        <p:spPr>
          <a:xfrm>
            <a:off x="685800" y="2011680"/>
            <a:ext cx="8531352" cy="0"/>
          </a:xfrm>
          <a:prstGeom prst="line">
            <a:avLst/>
          </a:prstGeom>
          <a:noFill/>
          <a:ln w="25400">
            <a:solidFill>
              <a:schemeClr val="accent6"/>
            </a:solidFill>
            <a:prstDash val="dash"/>
          </a:ln>
        </p:spPr>
      </p:sp>
      <p:sp>
        <p:nvSpPr>
          <p:cNvPr id="5" name="Phase month 1"/>
          <p:cNvSpPr txBox="1"/>
          <p:nvPr/>
        </p:nvSpPr>
        <p:spPr>
          <a:xfrm>
            <a:off x="548640" y="1508760"/>
            <a:ext cx="2560320" cy="274320"/>
          </a:xfrm>
          <a:prstGeom prst="rect">
            <a:avLst/>
          </a:prstGeom>
          <a:noFill/>
          <a:ln/>
        </p:spPr>
        <p:txBody>
          <a:bodyPr wrap="square" lIns="0" tIns="0" rIns="0" bIns="0" rtlCol="0" anchor="t"/>
          <a:lstStyle/>
          <a:p>
            <a:pPr algn="l" indent="0" marL="0">
              <a:buNone/>
            </a:pPr>
            <a:r>
              <a:rPr lang="en-US" sz="1300" b="1" spc="200" kern="0" dirty="0">
                <a:solidFill>
                  <a:schemeClr val="accent1"/>
                </a:solidFill>
              </a:rPr>
              <a:t>MONTH 1</a:t>
            </a:r>
            <a:endParaRPr lang="en-US" sz="1300" dirty="0"/>
          </a:p>
        </p:txBody>
      </p:sp>
      <p:sp>
        <p:nvSpPr>
          <p:cNvPr id="6" name="Phase node 1"/>
          <p:cNvSpPr/>
          <p:nvPr/>
        </p:nvSpPr>
        <p:spPr>
          <a:xfrm>
            <a:off x="548640" y="1874520"/>
            <a:ext cx="274320" cy="274320"/>
          </a:xfrm>
          <a:prstGeom prst="ellipse">
            <a:avLst/>
          </a:prstGeom>
          <a:solidFill>
            <a:schemeClr val="accent1"/>
          </a:solidFill>
          <a:ln/>
        </p:spPr>
      </p:sp>
      <p:sp>
        <p:nvSpPr>
          <p:cNvPr id="7" name="Phase card 1"/>
          <p:cNvSpPr/>
          <p:nvPr/>
        </p:nvSpPr>
        <p:spPr>
          <a:xfrm>
            <a:off x="548640" y="2423160"/>
            <a:ext cx="2560320" cy="3520440"/>
          </a:xfrm>
          <a:prstGeom prst="roundRect">
            <a:avLst>
              <a:gd name="adj" fmla="val 3571"/>
            </a:avLst>
          </a:prstGeom>
          <a:solidFill>
            <a:schemeClr val="bg2"/>
          </a:solidFill>
          <a:ln/>
        </p:spPr>
      </p:sp>
      <p:sp>
        <p:nvSpPr>
          <p:cNvPr id="8" name="Phase icon 1 circle"/>
          <p:cNvSpPr/>
          <p:nvPr/>
        </p:nvSpPr>
        <p:spPr>
          <a:xfrm>
            <a:off x="777240" y="2651760"/>
            <a:ext cx="594360" cy="594360"/>
          </a:xfrm>
          <a:prstGeom prst="ellipse">
            <a:avLst/>
          </a:prstGeom>
          <a:solidFill>
            <a:schemeClr val="accent1"/>
          </a:solidFill>
          <a:ln/>
        </p:spPr>
      </p:sp>
      <p:pic>
        <p:nvPicPr>
          <p:cNvPr id="9" name="Phase icon 1" descr="Phase icon 1">    </p:cNvPr>
          <p:cNvPicPr>
            <a:picLocks noChangeAspect="1"/>
          </p:cNvPicPr>
          <p:nvPr/>
        </p:nvPicPr>
        <p:blipFill>
          <a:blip r:embed="rId1"/>
          <a:stretch>
            <a:fillRect/>
          </a:stretch>
        </p:blipFill>
        <p:spPr>
          <a:xfrm>
            <a:off x="931774" y="2806294"/>
            <a:ext cx="285293" cy="285293"/>
          </a:xfrm>
          <a:prstGeom prst="rect">
            <a:avLst/>
          </a:prstGeom>
        </p:spPr>
      </p:pic>
      <p:sp>
        <p:nvSpPr>
          <p:cNvPr id="10" name="Phase tag 1"/>
          <p:cNvSpPr txBox="1"/>
          <p:nvPr/>
        </p:nvSpPr>
        <p:spPr>
          <a:xfrm>
            <a:off x="1554480" y="2651760"/>
            <a:ext cx="1371600" cy="594360"/>
          </a:xfrm>
          <a:prstGeom prst="rect">
            <a:avLst/>
          </a:prstGeom>
          <a:noFill/>
          <a:ln/>
        </p:spPr>
        <p:txBody>
          <a:bodyPr wrap="square" lIns="0" tIns="0" rIns="0" bIns="0" rtlCol="0" anchor="ctr"/>
          <a:lstStyle/>
          <a:p>
            <a:pPr algn="l" indent="0" marL="0">
              <a:buNone/>
            </a:pPr>
            <a:r>
              <a:rPr lang="en-US" sz="1300" b="1" dirty="0">
                <a:solidFill>
                  <a:schemeClr val="accent6"/>
                </a:solidFill>
              </a:rPr>
              <a:t>Phase 1</a:t>
            </a:r>
            <a:endParaRPr lang="en-US" sz="1300" dirty="0"/>
          </a:p>
        </p:txBody>
      </p:sp>
      <p:sp>
        <p:nvSpPr>
          <p:cNvPr id="11" name="Phase title 1"/>
          <p:cNvSpPr txBox="1"/>
          <p:nvPr/>
        </p:nvSpPr>
        <p:spPr>
          <a:xfrm>
            <a:off x="777240" y="3474720"/>
            <a:ext cx="2148840" cy="822960"/>
          </a:xfrm>
          <a:prstGeom prst="rect">
            <a:avLst/>
          </a:prstGeom>
          <a:noFill/>
          <a:ln/>
        </p:spPr>
        <p:txBody>
          <a:bodyPr wrap="square" lIns="0" tIns="0" rIns="0" bIns="0" rtlCol="0" anchor="t"/>
          <a:lstStyle/>
          <a:p>
            <a:pPr algn="l" indent="0" marL="0">
              <a:buNone/>
            </a:pPr>
            <a:r>
              <a:rPr lang="en-US" sz="1800" b="1" dirty="0">
                <a:solidFill>
                  <a:schemeClr val="tx2"/>
                </a:solidFill>
                <a:latin typeface="Cambria" pitchFamily="34" charset="0"/>
                <a:ea typeface="Cambria" pitchFamily="34" charset="-122"/>
                <a:cs typeface="Cambria" pitchFamily="34" charset="-120"/>
              </a:rPr>
              <a:t>Polygon Amoy testnet deployment</a:t>
            </a:r>
            <a:endParaRPr lang="en-US" sz="1800" dirty="0"/>
          </a:p>
        </p:txBody>
      </p:sp>
      <p:sp>
        <p:nvSpPr>
          <p:cNvPr id="12" name="Phase text 1"/>
          <p:cNvSpPr txBox="1"/>
          <p:nvPr/>
        </p:nvSpPr>
        <p:spPr>
          <a:xfrm>
            <a:off x="777240" y="4389120"/>
            <a:ext cx="2148840" cy="1463040"/>
          </a:xfrm>
          <a:prstGeom prst="rect">
            <a:avLst/>
          </a:prstGeom>
          <a:noFill/>
          <a:ln/>
        </p:spPr>
        <p:txBody>
          <a:bodyPr wrap="square" lIns="0" tIns="0" rIns="0" bIns="0" rtlCol="0" anchor="t"/>
          <a:lstStyle/>
          <a:p>
            <a:pPr algn="l" indent="0" marL="0">
              <a:buNone/>
            </a:pPr>
            <a:r>
              <a:rPr lang="en-US" sz="1500" dirty="0">
                <a:solidFill>
                  <a:schemeClr val="tx1"/>
                </a:solidFill>
              </a:rPr>
              <a:t>Benchmark live PoS finality, RPC node latency and gas under network congestion.</a:t>
            </a:r>
            <a:endParaRPr lang="en-US" sz="1500" dirty="0"/>
          </a:p>
        </p:txBody>
      </p:sp>
      <p:sp>
        <p:nvSpPr>
          <p:cNvPr id="13" name="Phase month 2"/>
          <p:cNvSpPr txBox="1"/>
          <p:nvPr/>
        </p:nvSpPr>
        <p:spPr>
          <a:xfrm>
            <a:off x="3392424" y="1508760"/>
            <a:ext cx="2560320" cy="274320"/>
          </a:xfrm>
          <a:prstGeom prst="rect">
            <a:avLst/>
          </a:prstGeom>
          <a:noFill/>
          <a:ln/>
        </p:spPr>
        <p:txBody>
          <a:bodyPr wrap="square" lIns="0" tIns="0" rIns="0" bIns="0" rtlCol="0" anchor="t"/>
          <a:lstStyle/>
          <a:p>
            <a:pPr algn="l" indent="0" marL="0">
              <a:buNone/>
            </a:pPr>
            <a:r>
              <a:rPr lang="en-US" sz="1300" b="1" spc="200" kern="0" dirty="0">
                <a:solidFill>
                  <a:schemeClr val="accent1"/>
                </a:solidFill>
              </a:rPr>
              <a:t>MONTHS 2-3</a:t>
            </a:r>
            <a:endParaRPr lang="en-US" sz="1300" dirty="0"/>
          </a:p>
        </p:txBody>
      </p:sp>
      <p:sp>
        <p:nvSpPr>
          <p:cNvPr id="14" name="Phase node 2"/>
          <p:cNvSpPr/>
          <p:nvPr/>
        </p:nvSpPr>
        <p:spPr>
          <a:xfrm>
            <a:off x="3392424" y="1874520"/>
            <a:ext cx="274320" cy="274320"/>
          </a:xfrm>
          <a:prstGeom prst="ellipse">
            <a:avLst/>
          </a:prstGeom>
          <a:solidFill>
            <a:schemeClr val="accent1"/>
          </a:solidFill>
          <a:ln/>
        </p:spPr>
      </p:sp>
      <p:sp>
        <p:nvSpPr>
          <p:cNvPr id="15" name="Phase card 2"/>
          <p:cNvSpPr/>
          <p:nvPr/>
        </p:nvSpPr>
        <p:spPr>
          <a:xfrm>
            <a:off x="3392424" y="2423160"/>
            <a:ext cx="2560320" cy="3520440"/>
          </a:xfrm>
          <a:prstGeom prst="roundRect">
            <a:avLst>
              <a:gd name="adj" fmla="val 3571"/>
            </a:avLst>
          </a:prstGeom>
          <a:solidFill>
            <a:schemeClr val="bg2"/>
          </a:solidFill>
          <a:ln/>
        </p:spPr>
      </p:sp>
      <p:sp>
        <p:nvSpPr>
          <p:cNvPr id="16" name="Phase icon 2 circle"/>
          <p:cNvSpPr/>
          <p:nvPr/>
        </p:nvSpPr>
        <p:spPr>
          <a:xfrm>
            <a:off x="3621024" y="2651760"/>
            <a:ext cx="594360" cy="594360"/>
          </a:xfrm>
          <a:prstGeom prst="ellipse">
            <a:avLst/>
          </a:prstGeom>
          <a:solidFill>
            <a:schemeClr val="accent1"/>
          </a:solidFill>
          <a:ln/>
        </p:spPr>
      </p:sp>
      <p:pic>
        <p:nvPicPr>
          <p:cNvPr id="17" name="Phase icon 2" descr="Phase icon 2">    </p:cNvPr>
          <p:cNvPicPr>
            <a:picLocks noChangeAspect="1"/>
          </p:cNvPicPr>
          <p:nvPr/>
        </p:nvPicPr>
        <p:blipFill>
          <a:blip r:embed="rId2"/>
          <a:stretch>
            <a:fillRect/>
          </a:stretch>
        </p:blipFill>
        <p:spPr>
          <a:xfrm>
            <a:off x="3775558" y="2806294"/>
            <a:ext cx="285293" cy="285293"/>
          </a:xfrm>
          <a:prstGeom prst="rect">
            <a:avLst/>
          </a:prstGeom>
        </p:spPr>
      </p:pic>
      <p:sp>
        <p:nvSpPr>
          <p:cNvPr id="18" name="Phase tag 2"/>
          <p:cNvSpPr txBox="1"/>
          <p:nvPr/>
        </p:nvSpPr>
        <p:spPr>
          <a:xfrm>
            <a:off x="4398264" y="2651760"/>
            <a:ext cx="1371600" cy="594360"/>
          </a:xfrm>
          <a:prstGeom prst="rect">
            <a:avLst/>
          </a:prstGeom>
          <a:noFill/>
          <a:ln/>
        </p:spPr>
        <p:txBody>
          <a:bodyPr wrap="square" lIns="0" tIns="0" rIns="0" bIns="0" rtlCol="0" anchor="ctr"/>
          <a:lstStyle/>
          <a:p>
            <a:pPr algn="l" indent="0" marL="0">
              <a:buNone/>
            </a:pPr>
            <a:r>
              <a:rPr lang="en-US" sz="1300" b="1" dirty="0">
                <a:solidFill>
                  <a:schemeClr val="accent6"/>
                </a:solidFill>
              </a:rPr>
              <a:t>Phase 2</a:t>
            </a:r>
            <a:endParaRPr lang="en-US" sz="1300" dirty="0"/>
          </a:p>
        </p:txBody>
      </p:sp>
      <p:sp>
        <p:nvSpPr>
          <p:cNvPr id="19" name="Phase title 2"/>
          <p:cNvSpPr txBox="1"/>
          <p:nvPr/>
        </p:nvSpPr>
        <p:spPr>
          <a:xfrm>
            <a:off x="3621024" y="3474720"/>
            <a:ext cx="2148840" cy="822960"/>
          </a:xfrm>
          <a:prstGeom prst="rect">
            <a:avLst/>
          </a:prstGeom>
          <a:noFill/>
          <a:ln/>
        </p:spPr>
        <p:txBody>
          <a:bodyPr wrap="square" lIns="0" tIns="0" rIns="0" bIns="0" rtlCol="0" anchor="t"/>
          <a:lstStyle/>
          <a:p>
            <a:pPr algn="l" indent="0" marL="0">
              <a:buNone/>
            </a:pPr>
            <a:r>
              <a:rPr lang="en-US" sz="1800" b="1" dirty="0">
                <a:solidFill>
                  <a:schemeClr val="tx2"/>
                </a:solidFill>
                <a:latin typeface="Cambria" pitchFamily="34" charset="0"/>
                <a:ea typeface="Cambria" pitchFamily="34" charset="-122"/>
                <a:cs typeface="Cambria" pitchFamily="34" charset="-120"/>
              </a:rPr>
              <a:t>DigiLocker &amp; NAD API integration</a:t>
            </a:r>
            <a:endParaRPr lang="en-US" sz="1800" dirty="0"/>
          </a:p>
        </p:txBody>
      </p:sp>
      <p:sp>
        <p:nvSpPr>
          <p:cNvPr id="20" name="Phase text 2"/>
          <p:cNvSpPr txBox="1"/>
          <p:nvPr/>
        </p:nvSpPr>
        <p:spPr>
          <a:xfrm>
            <a:off x="3621024" y="4389120"/>
            <a:ext cx="2148840" cy="1463040"/>
          </a:xfrm>
          <a:prstGeom prst="rect">
            <a:avLst/>
          </a:prstGeom>
          <a:noFill/>
          <a:ln/>
        </p:spPr>
        <p:txBody>
          <a:bodyPr wrap="square" lIns="0" tIns="0" rIns="0" bIns="0" rtlCol="0" anchor="t"/>
          <a:lstStyle/>
          <a:p>
            <a:pPr algn="l" indent="0" marL="0">
              <a:buNone/>
            </a:pPr>
            <a:r>
              <a:rPr lang="en-US" sz="1500" dirty="0">
                <a:solidFill>
                  <a:schemeClr val="tx1"/>
                </a:solidFill>
              </a:rPr>
              <a:t>Middleware links university ERP (SAP Student Lifecycle) to the registry for automated graduation issuance.</a:t>
            </a:r>
            <a:endParaRPr lang="en-US" sz="1500" dirty="0"/>
          </a:p>
        </p:txBody>
      </p:sp>
      <p:sp>
        <p:nvSpPr>
          <p:cNvPr id="21" name="Phase month 3"/>
          <p:cNvSpPr txBox="1"/>
          <p:nvPr/>
        </p:nvSpPr>
        <p:spPr>
          <a:xfrm>
            <a:off x="6236208" y="1508760"/>
            <a:ext cx="2560320" cy="274320"/>
          </a:xfrm>
          <a:prstGeom prst="rect">
            <a:avLst/>
          </a:prstGeom>
          <a:noFill/>
          <a:ln/>
        </p:spPr>
        <p:txBody>
          <a:bodyPr wrap="square" lIns="0" tIns="0" rIns="0" bIns="0" rtlCol="0" anchor="t"/>
          <a:lstStyle/>
          <a:p>
            <a:pPr algn="l" indent="0" marL="0">
              <a:buNone/>
            </a:pPr>
            <a:r>
              <a:rPr lang="en-US" sz="1300" b="1" spc="200" kern="0" dirty="0">
                <a:solidFill>
                  <a:schemeClr val="accent1"/>
                </a:solidFill>
              </a:rPr>
              <a:t>MONTHS 4-5</a:t>
            </a:r>
            <a:endParaRPr lang="en-US" sz="1300" dirty="0"/>
          </a:p>
        </p:txBody>
      </p:sp>
      <p:sp>
        <p:nvSpPr>
          <p:cNvPr id="22" name="Phase node 3"/>
          <p:cNvSpPr/>
          <p:nvPr/>
        </p:nvSpPr>
        <p:spPr>
          <a:xfrm>
            <a:off x="6236208" y="1874520"/>
            <a:ext cx="274320" cy="274320"/>
          </a:xfrm>
          <a:prstGeom prst="ellipse">
            <a:avLst/>
          </a:prstGeom>
          <a:solidFill>
            <a:schemeClr val="accent1"/>
          </a:solidFill>
          <a:ln/>
        </p:spPr>
      </p:sp>
      <p:sp>
        <p:nvSpPr>
          <p:cNvPr id="23" name="Phase card 3"/>
          <p:cNvSpPr/>
          <p:nvPr/>
        </p:nvSpPr>
        <p:spPr>
          <a:xfrm>
            <a:off x="6236208" y="2423160"/>
            <a:ext cx="2560320" cy="3520440"/>
          </a:xfrm>
          <a:prstGeom prst="roundRect">
            <a:avLst>
              <a:gd name="adj" fmla="val 3571"/>
            </a:avLst>
          </a:prstGeom>
          <a:solidFill>
            <a:schemeClr val="bg2"/>
          </a:solidFill>
          <a:ln/>
        </p:spPr>
      </p:sp>
      <p:sp>
        <p:nvSpPr>
          <p:cNvPr id="24" name="Phase icon 3 circle"/>
          <p:cNvSpPr/>
          <p:nvPr/>
        </p:nvSpPr>
        <p:spPr>
          <a:xfrm>
            <a:off x="6464808" y="2651760"/>
            <a:ext cx="594360" cy="594360"/>
          </a:xfrm>
          <a:prstGeom prst="ellipse">
            <a:avLst/>
          </a:prstGeom>
          <a:solidFill>
            <a:schemeClr val="accent1"/>
          </a:solidFill>
          <a:ln/>
        </p:spPr>
      </p:sp>
      <p:pic>
        <p:nvPicPr>
          <p:cNvPr id="25" name="Phase icon 3" descr="Phase icon 3">    </p:cNvPr>
          <p:cNvPicPr>
            <a:picLocks noChangeAspect="1"/>
          </p:cNvPicPr>
          <p:nvPr/>
        </p:nvPicPr>
        <p:blipFill>
          <a:blip r:embed="rId3"/>
          <a:stretch>
            <a:fillRect/>
          </a:stretch>
        </p:blipFill>
        <p:spPr>
          <a:xfrm>
            <a:off x="6619342" y="2806294"/>
            <a:ext cx="285293" cy="285293"/>
          </a:xfrm>
          <a:prstGeom prst="rect">
            <a:avLst/>
          </a:prstGeom>
        </p:spPr>
      </p:pic>
      <p:sp>
        <p:nvSpPr>
          <p:cNvPr id="26" name="Phase tag 3"/>
          <p:cNvSpPr txBox="1"/>
          <p:nvPr/>
        </p:nvSpPr>
        <p:spPr>
          <a:xfrm>
            <a:off x="7242048" y="2651760"/>
            <a:ext cx="1371600" cy="594360"/>
          </a:xfrm>
          <a:prstGeom prst="rect">
            <a:avLst/>
          </a:prstGeom>
          <a:noFill/>
          <a:ln/>
        </p:spPr>
        <p:txBody>
          <a:bodyPr wrap="square" lIns="0" tIns="0" rIns="0" bIns="0" rtlCol="0" anchor="ctr"/>
          <a:lstStyle/>
          <a:p>
            <a:pPr algn="l" indent="0" marL="0">
              <a:buNone/>
            </a:pPr>
            <a:r>
              <a:rPr lang="en-US" sz="1300" b="1" dirty="0">
                <a:solidFill>
                  <a:schemeClr val="accent6"/>
                </a:solidFill>
              </a:rPr>
              <a:t>Phase 3</a:t>
            </a:r>
            <a:endParaRPr lang="en-US" sz="1300" dirty="0"/>
          </a:p>
        </p:txBody>
      </p:sp>
      <p:sp>
        <p:nvSpPr>
          <p:cNvPr id="27" name="Phase title 3"/>
          <p:cNvSpPr txBox="1"/>
          <p:nvPr/>
        </p:nvSpPr>
        <p:spPr>
          <a:xfrm>
            <a:off x="6464808" y="3474720"/>
            <a:ext cx="2148840" cy="822960"/>
          </a:xfrm>
          <a:prstGeom prst="rect">
            <a:avLst/>
          </a:prstGeom>
          <a:noFill/>
          <a:ln/>
        </p:spPr>
        <p:txBody>
          <a:bodyPr wrap="square" lIns="0" tIns="0" rIns="0" bIns="0" rtlCol="0" anchor="t"/>
          <a:lstStyle/>
          <a:p>
            <a:pPr algn="l" indent="0" marL="0">
              <a:buNone/>
            </a:pPr>
            <a:r>
              <a:rPr lang="en-US" sz="1800" b="1" dirty="0">
                <a:solidFill>
                  <a:schemeClr val="tx2"/>
                </a:solidFill>
                <a:latin typeface="Cambria" pitchFamily="34" charset="0"/>
                <a:ea typeface="Cambria" pitchFamily="34" charset="-122"/>
                <a:cs typeface="Cambria" pitchFamily="34" charset="-120"/>
              </a:rPr>
              <a:t>Zero-knowledge privacy circuits</a:t>
            </a:r>
            <a:endParaRPr lang="en-US" sz="1800" dirty="0"/>
          </a:p>
        </p:txBody>
      </p:sp>
      <p:sp>
        <p:nvSpPr>
          <p:cNvPr id="28" name="Phase text 3"/>
          <p:cNvSpPr txBox="1"/>
          <p:nvPr/>
        </p:nvSpPr>
        <p:spPr>
          <a:xfrm>
            <a:off x="6464808" y="4389120"/>
            <a:ext cx="2148840" cy="1463040"/>
          </a:xfrm>
          <a:prstGeom prst="rect">
            <a:avLst/>
          </a:prstGeom>
          <a:noFill/>
          <a:ln/>
        </p:spPr>
        <p:txBody>
          <a:bodyPr wrap="square" lIns="0" tIns="0" rIns="0" bIns="0" rtlCol="0" anchor="t"/>
          <a:lstStyle/>
          <a:p>
            <a:pPr algn="l" indent="0" marL="0">
              <a:buNone/>
            </a:pPr>
            <a:r>
              <a:rPr lang="en-US" sz="1500" dirty="0">
                <a:solidFill>
                  <a:schemeClr val="tx1"/>
                </a:solidFill>
              </a:rPr>
              <a:t>Circom / snarkjs zk-SNARKs let students prove CGPA ≥ 8.0 without revealing transcripts.</a:t>
            </a:r>
            <a:endParaRPr lang="en-US" sz="1500" dirty="0"/>
          </a:p>
        </p:txBody>
      </p:sp>
      <p:sp>
        <p:nvSpPr>
          <p:cNvPr id="29" name="Phase month 4"/>
          <p:cNvSpPr txBox="1"/>
          <p:nvPr/>
        </p:nvSpPr>
        <p:spPr>
          <a:xfrm>
            <a:off x="9079992" y="1508760"/>
            <a:ext cx="2560320" cy="274320"/>
          </a:xfrm>
          <a:prstGeom prst="rect">
            <a:avLst/>
          </a:prstGeom>
          <a:noFill/>
          <a:ln/>
        </p:spPr>
        <p:txBody>
          <a:bodyPr wrap="square" lIns="0" tIns="0" rIns="0" bIns="0" rtlCol="0" anchor="t"/>
          <a:lstStyle/>
          <a:p>
            <a:pPr algn="l" indent="0" marL="0">
              <a:buNone/>
            </a:pPr>
            <a:r>
              <a:rPr lang="en-US" sz="1300" b="1" spc="200" kern="0" dirty="0">
                <a:solidFill>
                  <a:schemeClr val="accent1"/>
                </a:solidFill>
              </a:rPr>
              <a:t>MONTH 6</a:t>
            </a:r>
            <a:endParaRPr lang="en-US" sz="1300" dirty="0"/>
          </a:p>
        </p:txBody>
      </p:sp>
      <p:sp>
        <p:nvSpPr>
          <p:cNvPr id="30" name="Phase node 4"/>
          <p:cNvSpPr/>
          <p:nvPr/>
        </p:nvSpPr>
        <p:spPr>
          <a:xfrm>
            <a:off x="9079992" y="1874520"/>
            <a:ext cx="274320" cy="274320"/>
          </a:xfrm>
          <a:prstGeom prst="ellipse">
            <a:avLst/>
          </a:prstGeom>
          <a:solidFill>
            <a:schemeClr val="accent1"/>
          </a:solidFill>
          <a:ln/>
        </p:spPr>
      </p:sp>
      <p:sp>
        <p:nvSpPr>
          <p:cNvPr id="31" name="Phase card 4"/>
          <p:cNvSpPr/>
          <p:nvPr/>
        </p:nvSpPr>
        <p:spPr>
          <a:xfrm>
            <a:off x="9079992" y="2423160"/>
            <a:ext cx="2560320" cy="3520440"/>
          </a:xfrm>
          <a:prstGeom prst="roundRect">
            <a:avLst>
              <a:gd name="adj" fmla="val 3571"/>
            </a:avLst>
          </a:prstGeom>
          <a:solidFill>
            <a:schemeClr val="bg2"/>
          </a:solidFill>
          <a:ln/>
        </p:spPr>
      </p:sp>
      <p:sp>
        <p:nvSpPr>
          <p:cNvPr id="32" name="Phase icon 4 circle"/>
          <p:cNvSpPr/>
          <p:nvPr/>
        </p:nvSpPr>
        <p:spPr>
          <a:xfrm>
            <a:off x="9308592" y="2651760"/>
            <a:ext cx="594360" cy="594360"/>
          </a:xfrm>
          <a:prstGeom prst="ellipse">
            <a:avLst/>
          </a:prstGeom>
          <a:solidFill>
            <a:schemeClr val="accent1"/>
          </a:solidFill>
          <a:ln/>
        </p:spPr>
      </p:sp>
      <p:pic>
        <p:nvPicPr>
          <p:cNvPr id="33" name="Phase icon 4" descr="Phase icon 4">    </p:cNvPr>
          <p:cNvPicPr>
            <a:picLocks noChangeAspect="1"/>
          </p:cNvPicPr>
          <p:nvPr/>
        </p:nvPicPr>
        <p:blipFill>
          <a:blip r:embed="rId4"/>
          <a:stretch>
            <a:fillRect/>
          </a:stretch>
        </p:blipFill>
        <p:spPr>
          <a:xfrm>
            <a:off x="9463126" y="2806294"/>
            <a:ext cx="285293" cy="285293"/>
          </a:xfrm>
          <a:prstGeom prst="rect">
            <a:avLst/>
          </a:prstGeom>
        </p:spPr>
      </p:pic>
      <p:sp>
        <p:nvSpPr>
          <p:cNvPr id="34" name="Phase tag 4"/>
          <p:cNvSpPr txBox="1"/>
          <p:nvPr/>
        </p:nvSpPr>
        <p:spPr>
          <a:xfrm>
            <a:off x="10085832" y="2651760"/>
            <a:ext cx="1371600" cy="594360"/>
          </a:xfrm>
          <a:prstGeom prst="rect">
            <a:avLst/>
          </a:prstGeom>
          <a:noFill/>
          <a:ln/>
        </p:spPr>
        <p:txBody>
          <a:bodyPr wrap="square" lIns="0" tIns="0" rIns="0" bIns="0" rtlCol="0" anchor="ctr"/>
          <a:lstStyle/>
          <a:p>
            <a:pPr algn="l" indent="0" marL="0">
              <a:buNone/>
            </a:pPr>
            <a:r>
              <a:rPr lang="en-US" sz="1300" b="1" dirty="0">
                <a:solidFill>
                  <a:schemeClr val="accent6"/>
                </a:solidFill>
              </a:rPr>
              <a:t>Phase 4</a:t>
            </a:r>
            <a:endParaRPr lang="en-US" sz="1300" dirty="0"/>
          </a:p>
        </p:txBody>
      </p:sp>
      <p:sp>
        <p:nvSpPr>
          <p:cNvPr id="35" name="Phase title 4"/>
          <p:cNvSpPr txBox="1"/>
          <p:nvPr/>
        </p:nvSpPr>
        <p:spPr>
          <a:xfrm>
            <a:off x="9308592" y="3474720"/>
            <a:ext cx="2148840" cy="822960"/>
          </a:xfrm>
          <a:prstGeom prst="rect">
            <a:avLst/>
          </a:prstGeom>
          <a:noFill/>
          <a:ln/>
        </p:spPr>
        <p:txBody>
          <a:bodyPr wrap="square" lIns="0" tIns="0" rIns="0" bIns="0" rtlCol="0" anchor="t"/>
          <a:lstStyle/>
          <a:p>
            <a:pPr algn="l" indent="0" marL="0">
              <a:buNone/>
            </a:pPr>
            <a:r>
              <a:rPr lang="en-US" sz="1800" b="1" dirty="0">
                <a:solidFill>
                  <a:schemeClr val="tx2"/>
                </a:solidFill>
                <a:latin typeface="Cambria" pitchFamily="34" charset="0"/>
                <a:ea typeface="Cambria" pitchFamily="34" charset="-122"/>
                <a:cs typeface="Cambria" pitchFamily="34" charset="-120"/>
              </a:rPr>
              <a:t>Mobile verifier application</a:t>
            </a:r>
            <a:endParaRPr lang="en-US" sz="1800" dirty="0"/>
          </a:p>
        </p:txBody>
      </p:sp>
      <p:sp>
        <p:nvSpPr>
          <p:cNvPr id="36" name="Phase text 4"/>
          <p:cNvSpPr txBox="1"/>
          <p:nvPr/>
        </p:nvSpPr>
        <p:spPr>
          <a:xfrm>
            <a:off x="9308592" y="4389120"/>
            <a:ext cx="2148840" cy="1463040"/>
          </a:xfrm>
          <a:prstGeom prst="rect">
            <a:avLst/>
          </a:prstGeom>
          <a:noFill/>
          <a:ln/>
        </p:spPr>
        <p:txBody>
          <a:bodyPr wrap="square" lIns="0" tIns="0" rIns="0" bIns="0" rtlCol="0" anchor="t"/>
          <a:lstStyle/>
          <a:p>
            <a:pPr algn="l" indent="0" marL="0">
              <a:buNone/>
            </a:pPr>
            <a:r>
              <a:rPr lang="en-US" sz="1500" dirty="0">
                <a:solidFill>
                  <a:schemeClr val="tx1"/>
                </a:solidFill>
              </a:rPr>
              <a:t>Offline-capable scanner authenticates paper-certificate QR codes during campus recruitment.</a:t>
            </a:r>
            <a:endParaRPr lang="en-US" sz="15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txBox="1"/>
          <p:nvPr>
            <p:ph idx="101" type="body" hasCustomPrompt="1"/>
          </p:nvPr>
        </p:nvSpPr>
        <p:spPr>
          <a:xfrm>
            <a:off x="548640" y="292608"/>
            <a:ext cx="11094415" cy="256032"/>
          </a:xfrm>
          <a:prstGeom prst="rect">
            <a:avLst/>
          </a:prstGeom>
          <a:noFill/>
          <a:ln/>
        </p:spPr>
        <p:txBody>
          <a:bodyPr wrap="square" lIns="0" tIns="0" rIns="0" bIns="0" rtlCol="0" anchor="t"/>
          <a:lstStyle/>
          <a:p>
            <a:pPr algn="l" indent="0" marL="0">
              <a:buNone/>
            </a:pPr>
            <a:r>
              <a:rPr lang="en-US" sz="1200" b="1" spc="200" kern="0" dirty="0">
                <a:solidFill>
                  <a:schemeClr val="accent5"/>
                </a:solidFill>
              </a:rPr>
              <a:t>LIVE PROTOTYPE DEMONSTRATION &amp; VIVA DEFENSE</a:t>
            </a:r>
            <a:endParaRPr lang="en-US" sz="1200" dirty="0"/>
          </a:p>
        </p:txBody>
      </p:sp>
      <p:sp>
        <p:nvSpPr>
          <p:cNvPr id="3" name="Text 1"/>
          <p:cNvSpPr txBox="1"/>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bg1"/>
                </a:solidFill>
              </a:rPr>
              <a:t>Live Demo: Issue, Verify, Detect</a:t>
            </a:r>
            <a:endParaRPr lang="en-US" sz="3200" dirty="0"/>
          </a:p>
        </p:txBody>
      </p:sp>
      <p:sp>
        <p:nvSpPr>
          <p:cNvPr id="4" name="Demo subtitle"/>
          <p:cNvSpPr txBox="1"/>
          <p:nvPr/>
        </p:nvSpPr>
        <p:spPr>
          <a:xfrm>
            <a:off x="548640" y="1234440"/>
            <a:ext cx="11094415" cy="365760"/>
          </a:xfrm>
          <a:prstGeom prst="rect">
            <a:avLst/>
          </a:prstGeom>
          <a:noFill/>
          <a:ln/>
        </p:spPr>
        <p:txBody>
          <a:bodyPr wrap="square" lIns="0" tIns="0" rIns="0" bIns="0" rtlCol="0" anchor="t"/>
          <a:lstStyle/>
          <a:p>
            <a:pPr algn="l" indent="0" marL="0">
              <a:buNone/>
            </a:pPr>
            <a:r>
              <a:rPr lang="en-US" sz="1600" dirty="0">
                <a:solidFill>
                  <a:schemeClr val="bg2"/>
                </a:solidFill>
              </a:rPr>
              <a:t>Interactive evaluation of credential issuance, O(1) verification and strict-avalanche forgery detection</a:t>
            </a:r>
            <a:endParaRPr lang="en-US" sz="1600" dirty="0"/>
          </a:p>
        </p:txBody>
      </p:sp>
      <p:sp>
        <p:nvSpPr>
          <p:cNvPr id="5" name="Demo card 1"/>
          <p:cNvSpPr/>
          <p:nvPr/>
        </p:nvSpPr>
        <p:spPr>
          <a:xfrm>
            <a:off x="548640" y="2011680"/>
            <a:ext cx="3520440" cy="3520440"/>
          </a:xfrm>
          <a:prstGeom prst="roundRect">
            <a:avLst>
              <a:gd name="adj" fmla="val 2597"/>
            </a:avLst>
          </a:prstGeom>
          <a:solidFill>
            <a:schemeClr val="bg1">
              <a:alpha val="8000"/>
            </a:schemeClr>
          </a:solidFill>
          <a:ln/>
        </p:spPr>
      </p:sp>
      <p:sp>
        <p:nvSpPr>
          <p:cNvPr id="6" name="Demo number 1"/>
          <p:cNvSpPr/>
          <p:nvPr/>
        </p:nvSpPr>
        <p:spPr>
          <a:xfrm>
            <a:off x="822960" y="2286000"/>
            <a:ext cx="548640" cy="548640"/>
          </a:xfrm>
          <a:prstGeom prst="ellipse">
            <a:avLst/>
          </a:prstGeom>
          <a:solidFill>
            <a:schemeClr val="accent5"/>
          </a:solidFill>
          <a:ln/>
        </p:spPr>
        <p:txBody>
          <a:bodyPr wrap="square" lIns="0" tIns="0" rIns="0" bIns="0" rtlCol="0" anchor="ctr"/>
          <a:lstStyle/>
          <a:p>
            <a:pPr algn="ctr" indent="0" marL="0">
              <a:buNone/>
            </a:pPr>
            <a:r>
              <a:rPr lang="en-US" sz="1800" b="1" dirty="0">
                <a:solidFill>
                  <a:srgbClr val="0B1B3A"/>
                </a:solidFill>
              </a:rPr>
              <a:t>1</a:t>
            </a:r>
            <a:endParaRPr lang="en-US" sz="1800" dirty="0"/>
          </a:p>
        </p:txBody>
      </p:sp>
      <p:sp>
        <p:nvSpPr>
          <p:cNvPr id="7" name="Demo step tag 1"/>
          <p:cNvSpPr txBox="1"/>
          <p:nvPr/>
        </p:nvSpPr>
        <p:spPr>
          <a:xfrm>
            <a:off x="1554480" y="2286000"/>
            <a:ext cx="2194560" cy="256032"/>
          </a:xfrm>
          <a:prstGeom prst="rect">
            <a:avLst/>
          </a:prstGeom>
          <a:noFill/>
          <a:ln/>
        </p:spPr>
        <p:txBody>
          <a:bodyPr wrap="square" lIns="0" tIns="0" rIns="0" bIns="0" rtlCol="0" anchor="t"/>
          <a:lstStyle/>
          <a:p>
            <a:pPr algn="l" indent="0" marL="0">
              <a:buNone/>
            </a:pPr>
            <a:r>
              <a:rPr lang="en-US" sz="1200" b="1" spc="200" kern="0" dirty="0">
                <a:solidFill>
                  <a:schemeClr val="accent5"/>
                </a:solidFill>
              </a:rPr>
              <a:t>Step 1</a:t>
            </a:r>
            <a:endParaRPr lang="en-US" sz="1200" dirty="0"/>
          </a:p>
        </p:txBody>
      </p:sp>
      <p:sp>
        <p:nvSpPr>
          <p:cNvPr id="8" name="Demo heading 1"/>
          <p:cNvSpPr txBox="1"/>
          <p:nvPr/>
        </p:nvSpPr>
        <p:spPr>
          <a:xfrm>
            <a:off x="1554480" y="2542032"/>
            <a:ext cx="2286000" cy="365760"/>
          </a:xfrm>
          <a:prstGeom prst="rect">
            <a:avLst/>
          </a:prstGeom>
          <a:noFill/>
          <a:ln/>
        </p:spPr>
        <p:txBody>
          <a:bodyPr wrap="square" lIns="0" tIns="0" rIns="0" bIns="0" rtlCol="0" anchor="t"/>
          <a:lstStyle/>
          <a:p>
            <a:pPr algn="l" indent="0" marL="0">
              <a:buNone/>
            </a:pPr>
            <a:r>
              <a:rPr lang="en-US" sz="1800" b="1" dirty="0">
                <a:solidFill>
                  <a:schemeClr val="bg1"/>
                </a:solidFill>
                <a:latin typeface="Cambria" pitchFamily="34" charset="0"/>
                <a:ea typeface="Cambria" pitchFamily="34" charset="-122"/>
                <a:cs typeface="Cambria" pitchFamily="34" charset="-120"/>
              </a:rPr>
              <a:t>Admin Issuance</a:t>
            </a:r>
            <a:endParaRPr lang="en-US" sz="1800" dirty="0"/>
          </a:p>
        </p:txBody>
      </p:sp>
      <p:sp>
        <p:nvSpPr>
          <p:cNvPr id="9" name="Demo bullets 1"/>
          <p:cNvSpPr txBox="1"/>
          <p:nvPr/>
        </p:nvSpPr>
        <p:spPr>
          <a:xfrm>
            <a:off x="822960" y="3154680"/>
            <a:ext cx="3017520" cy="214884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bg2"/>
                </a:solidFill>
              </a:rPr>
              <a:t>Connect the Hardhat / Polygon admin wallet</a:t>
            </a:r>
            <a:endParaRPr lang="en-US" sz="1400" dirty="0"/>
          </a:p>
          <a:p>
            <a:pPr algn="l" marL="342900" indent="-342900">
              <a:spcAft>
                <a:spcPts val="600"/>
              </a:spcAft>
              <a:buSzPct val="100000"/>
              <a:buChar char="•"/>
            </a:pPr>
            <a:r>
              <a:rPr lang="en-US" sz="1400" dirty="0">
                <a:solidFill>
                  <a:schemeClr val="bg2"/>
                </a:solidFill>
              </a:rPr>
              <a:t>Drop the sample grade card PDF into the dropzone</a:t>
            </a:r>
            <a:endParaRPr lang="en-US" sz="1400" dirty="0"/>
          </a:p>
          <a:p>
            <a:pPr algn="l" marL="342900" indent="-342900">
              <a:spcAft>
                <a:spcPts val="600"/>
              </a:spcAft>
              <a:buSzPct val="100000"/>
              <a:buChar char="•"/>
            </a:pPr>
            <a:r>
              <a:rPr lang="en-US" sz="1400" dirty="0">
                <a:solidFill>
                  <a:schemeClr val="bg2"/>
                </a:solidFill>
              </a:rPr>
              <a:t>Watch SHA-256 compute in under 15 ms</a:t>
            </a:r>
            <a:endParaRPr lang="en-US" sz="1400" dirty="0"/>
          </a:p>
          <a:p>
            <a:pPr algn="l" marL="342900" indent="-342900">
              <a:spcAft>
                <a:spcPts val="600"/>
              </a:spcAft>
              <a:buSzPct val="100000"/>
              <a:buChar char="•"/>
            </a:pPr>
            <a:r>
              <a:rPr lang="en-US" sz="1400" dirty="0">
                <a:solidFill>
                  <a:schemeClr val="bg2"/>
                </a:solidFill>
              </a:rPr>
              <a:t>Run issueCredential(); see the event and QR code</a:t>
            </a:r>
            <a:endParaRPr lang="en-US" sz="1400" dirty="0"/>
          </a:p>
        </p:txBody>
      </p:sp>
      <p:sp>
        <p:nvSpPr>
          <p:cNvPr id="10" name="Demo card 2"/>
          <p:cNvSpPr/>
          <p:nvPr/>
        </p:nvSpPr>
        <p:spPr>
          <a:xfrm>
            <a:off x="4334256" y="2011680"/>
            <a:ext cx="3520440" cy="3520440"/>
          </a:xfrm>
          <a:prstGeom prst="roundRect">
            <a:avLst>
              <a:gd name="adj" fmla="val 2597"/>
            </a:avLst>
          </a:prstGeom>
          <a:solidFill>
            <a:schemeClr val="bg1">
              <a:alpha val="8000"/>
            </a:schemeClr>
          </a:solidFill>
          <a:ln/>
        </p:spPr>
      </p:sp>
      <p:sp>
        <p:nvSpPr>
          <p:cNvPr id="11" name="Demo number 2"/>
          <p:cNvSpPr/>
          <p:nvPr/>
        </p:nvSpPr>
        <p:spPr>
          <a:xfrm>
            <a:off x="4608576" y="2286000"/>
            <a:ext cx="548640" cy="548640"/>
          </a:xfrm>
          <a:prstGeom prst="ellipse">
            <a:avLst/>
          </a:prstGeom>
          <a:solidFill>
            <a:schemeClr val="accent5"/>
          </a:solidFill>
          <a:ln/>
        </p:spPr>
        <p:txBody>
          <a:bodyPr wrap="square" lIns="0" tIns="0" rIns="0" bIns="0" rtlCol="0" anchor="ctr"/>
          <a:lstStyle/>
          <a:p>
            <a:pPr algn="ctr" indent="0" marL="0">
              <a:buNone/>
            </a:pPr>
            <a:r>
              <a:rPr lang="en-US" sz="1800" b="1" dirty="0">
                <a:solidFill>
                  <a:srgbClr val="0B1B3A"/>
                </a:solidFill>
              </a:rPr>
              <a:t>2</a:t>
            </a:r>
            <a:endParaRPr lang="en-US" sz="1800" dirty="0"/>
          </a:p>
        </p:txBody>
      </p:sp>
      <p:sp>
        <p:nvSpPr>
          <p:cNvPr id="12" name="Demo step tag 2"/>
          <p:cNvSpPr txBox="1"/>
          <p:nvPr/>
        </p:nvSpPr>
        <p:spPr>
          <a:xfrm>
            <a:off x="5340096" y="2286000"/>
            <a:ext cx="2194560" cy="256032"/>
          </a:xfrm>
          <a:prstGeom prst="rect">
            <a:avLst/>
          </a:prstGeom>
          <a:noFill/>
          <a:ln/>
        </p:spPr>
        <p:txBody>
          <a:bodyPr wrap="square" lIns="0" tIns="0" rIns="0" bIns="0" rtlCol="0" anchor="t"/>
          <a:lstStyle/>
          <a:p>
            <a:pPr algn="l" indent="0" marL="0">
              <a:buNone/>
            </a:pPr>
            <a:r>
              <a:rPr lang="en-US" sz="1200" b="1" spc="200" kern="0" dirty="0">
                <a:solidFill>
                  <a:schemeClr val="accent5"/>
                </a:solidFill>
              </a:rPr>
              <a:t>Step 2</a:t>
            </a:r>
            <a:endParaRPr lang="en-US" sz="1200" dirty="0"/>
          </a:p>
        </p:txBody>
      </p:sp>
      <p:sp>
        <p:nvSpPr>
          <p:cNvPr id="13" name="Demo heading 2"/>
          <p:cNvSpPr txBox="1"/>
          <p:nvPr/>
        </p:nvSpPr>
        <p:spPr>
          <a:xfrm>
            <a:off x="5340096" y="2542032"/>
            <a:ext cx="2286000" cy="365760"/>
          </a:xfrm>
          <a:prstGeom prst="rect">
            <a:avLst/>
          </a:prstGeom>
          <a:noFill/>
          <a:ln/>
        </p:spPr>
        <p:txBody>
          <a:bodyPr wrap="square" lIns="0" tIns="0" rIns="0" bIns="0" rtlCol="0" anchor="t"/>
          <a:lstStyle/>
          <a:p>
            <a:pPr algn="l" indent="0" marL="0">
              <a:buNone/>
            </a:pPr>
            <a:r>
              <a:rPr lang="en-US" sz="1800" b="1" dirty="0">
                <a:solidFill>
                  <a:schemeClr val="bg1"/>
                </a:solidFill>
                <a:latin typeface="Cambria" pitchFamily="34" charset="0"/>
                <a:ea typeface="Cambria" pitchFamily="34" charset="-122"/>
                <a:cs typeface="Cambria" pitchFamily="34" charset="-120"/>
              </a:rPr>
              <a:t>Instant Verification</a:t>
            </a:r>
            <a:endParaRPr lang="en-US" sz="1800" dirty="0"/>
          </a:p>
        </p:txBody>
      </p:sp>
      <p:sp>
        <p:nvSpPr>
          <p:cNvPr id="14" name="Demo bullets 2"/>
          <p:cNvSpPr txBox="1"/>
          <p:nvPr/>
        </p:nvSpPr>
        <p:spPr>
          <a:xfrm>
            <a:off x="4608576" y="3154680"/>
            <a:ext cx="3017520" cy="214884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bg2"/>
                </a:solidFill>
              </a:rPr>
              <a:t>Switch to recruiter mode, no wallet needed</a:t>
            </a:r>
            <a:endParaRPr lang="en-US" sz="1400" dirty="0"/>
          </a:p>
          <a:p>
            <a:pPr algn="l" marL="342900" indent="-342900">
              <a:spcAft>
                <a:spcPts val="600"/>
              </a:spcAft>
              <a:buSzPct val="100000"/>
              <a:buChar char="•"/>
            </a:pPr>
            <a:r>
              <a:rPr lang="en-US" sz="1400" dirty="0">
                <a:solidFill>
                  <a:schemeClr val="bg2"/>
                </a:solidFill>
              </a:rPr>
              <a:t>Drop the authentic PDF into the portal</a:t>
            </a:r>
            <a:endParaRPr lang="en-US" sz="1400" dirty="0"/>
          </a:p>
          <a:p>
            <a:pPr algn="l" marL="342900" indent="-342900">
              <a:spcAft>
                <a:spcPts val="600"/>
              </a:spcAft>
              <a:buSzPct val="100000"/>
              <a:buChar char="•"/>
            </a:pPr>
            <a:r>
              <a:rPr lang="en-US" sz="1400" dirty="0">
                <a:solidFill>
                  <a:schemeClr val="bg2"/>
                </a:solidFill>
              </a:rPr>
              <a:t>Green banner shows SAP ID, timestamp, issuer</a:t>
            </a:r>
            <a:endParaRPr lang="en-US" sz="1400" dirty="0"/>
          </a:p>
          <a:p>
            <a:pPr algn="l" marL="342900" indent="-342900">
              <a:spcAft>
                <a:spcPts val="600"/>
              </a:spcAft>
              <a:buSzPct val="100000"/>
              <a:buChar char="•"/>
            </a:pPr>
            <a:r>
              <a:rPr lang="en-US" sz="1400" dirty="0">
                <a:solidFill>
                  <a:schemeClr val="bg2"/>
                </a:solidFill>
              </a:rPr>
              <a:t>O(1) query with 0 gas</a:t>
            </a:r>
            <a:endParaRPr lang="en-US" sz="1400" dirty="0"/>
          </a:p>
        </p:txBody>
      </p:sp>
      <p:sp>
        <p:nvSpPr>
          <p:cNvPr id="15" name="Demo card 3"/>
          <p:cNvSpPr/>
          <p:nvPr/>
        </p:nvSpPr>
        <p:spPr>
          <a:xfrm>
            <a:off x="8119872" y="2011680"/>
            <a:ext cx="3520440" cy="3520440"/>
          </a:xfrm>
          <a:prstGeom prst="roundRect">
            <a:avLst>
              <a:gd name="adj" fmla="val 2597"/>
            </a:avLst>
          </a:prstGeom>
          <a:solidFill>
            <a:schemeClr val="bg1">
              <a:alpha val="8000"/>
            </a:schemeClr>
          </a:solidFill>
          <a:ln/>
        </p:spPr>
      </p:sp>
      <p:sp>
        <p:nvSpPr>
          <p:cNvPr id="16" name="Demo number 3"/>
          <p:cNvSpPr/>
          <p:nvPr/>
        </p:nvSpPr>
        <p:spPr>
          <a:xfrm>
            <a:off x="8394192" y="2286000"/>
            <a:ext cx="548640" cy="548640"/>
          </a:xfrm>
          <a:prstGeom prst="ellipse">
            <a:avLst/>
          </a:prstGeom>
          <a:solidFill>
            <a:schemeClr val="accent3"/>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Demo step tag 3"/>
          <p:cNvSpPr txBox="1"/>
          <p:nvPr/>
        </p:nvSpPr>
        <p:spPr>
          <a:xfrm>
            <a:off x="9125712" y="2286000"/>
            <a:ext cx="2194560" cy="256032"/>
          </a:xfrm>
          <a:prstGeom prst="rect">
            <a:avLst/>
          </a:prstGeom>
          <a:noFill/>
          <a:ln/>
        </p:spPr>
        <p:txBody>
          <a:bodyPr wrap="square" lIns="0" tIns="0" rIns="0" bIns="0" rtlCol="0" anchor="t"/>
          <a:lstStyle/>
          <a:p>
            <a:pPr algn="l" indent="0" marL="0">
              <a:buNone/>
            </a:pPr>
            <a:r>
              <a:rPr lang="en-US" sz="1200" b="1" spc="200" kern="0" dirty="0">
                <a:solidFill>
                  <a:schemeClr val="accent5"/>
                </a:solidFill>
              </a:rPr>
              <a:t>Step 3</a:t>
            </a:r>
            <a:endParaRPr lang="en-US" sz="1200" dirty="0"/>
          </a:p>
        </p:txBody>
      </p:sp>
      <p:sp>
        <p:nvSpPr>
          <p:cNvPr id="18" name="Demo heading 3"/>
          <p:cNvSpPr txBox="1"/>
          <p:nvPr/>
        </p:nvSpPr>
        <p:spPr>
          <a:xfrm>
            <a:off x="9125712" y="2542032"/>
            <a:ext cx="2286000" cy="365760"/>
          </a:xfrm>
          <a:prstGeom prst="rect">
            <a:avLst/>
          </a:prstGeom>
          <a:noFill/>
          <a:ln/>
        </p:spPr>
        <p:txBody>
          <a:bodyPr wrap="square" lIns="0" tIns="0" rIns="0" bIns="0" rtlCol="0" anchor="t"/>
          <a:lstStyle/>
          <a:p>
            <a:pPr algn="l" indent="0" marL="0">
              <a:buNone/>
            </a:pPr>
            <a:r>
              <a:rPr lang="en-US" sz="1800" b="1" dirty="0">
                <a:solidFill>
                  <a:schemeClr val="bg1"/>
                </a:solidFill>
                <a:latin typeface="Cambria" pitchFamily="34" charset="0"/>
                <a:ea typeface="Cambria" pitchFamily="34" charset="-122"/>
                <a:cs typeface="Cambria" pitchFamily="34" charset="-120"/>
              </a:rPr>
              <a:t>Tamper Detection</a:t>
            </a:r>
            <a:endParaRPr lang="en-US" sz="1800" dirty="0"/>
          </a:p>
        </p:txBody>
      </p:sp>
      <p:sp>
        <p:nvSpPr>
          <p:cNvPr id="19" name="Demo bullets 3"/>
          <p:cNvSpPr txBox="1"/>
          <p:nvPr/>
        </p:nvSpPr>
        <p:spPr>
          <a:xfrm>
            <a:off x="8394192" y="3154680"/>
            <a:ext cx="3017520" cy="214884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bg2"/>
                </a:solidFill>
              </a:rPr>
              <a:t>Drop the tampered PDF (CGPA 9.99)</a:t>
            </a:r>
            <a:endParaRPr lang="en-US" sz="1400" dirty="0"/>
          </a:p>
          <a:p>
            <a:pPr algn="l" marL="342900" indent="-342900">
              <a:spcAft>
                <a:spcPts val="600"/>
              </a:spcAft>
              <a:buSzPct val="100000"/>
              <a:buChar char="•"/>
            </a:pPr>
            <a:r>
              <a:rPr lang="en-US" sz="1400" dirty="0">
                <a:solidFill>
                  <a:schemeClr val="bg2"/>
                </a:solidFill>
              </a:rPr>
              <a:t>Hash is recalculated locally in the browser</a:t>
            </a:r>
            <a:endParaRPr lang="en-US" sz="1400" dirty="0"/>
          </a:p>
          <a:p>
            <a:pPr algn="l" marL="342900" indent="-342900">
              <a:spcAft>
                <a:spcPts val="600"/>
              </a:spcAft>
              <a:buSzPct val="100000"/>
              <a:buChar char="•"/>
            </a:pPr>
            <a:r>
              <a:rPr lang="en-US" sz="1400" dirty="0">
                <a:solidFill>
                  <a:schemeClr val="bg2"/>
                </a:solidFill>
              </a:rPr>
              <a:t>Red banner: FORGERY DETECTED, 128/256 bits flipped</a:t>
            </a:r>
            <a:endParaRPr lang="en-US" sz="1400" dirty="0"/>
          </a:p>
          <a:p>
            <a:pPr algn="l" marL="342900" indent="-342900">
              <a:spcAft>
                <a:spcPts val="600"/>
              </a:spcAft>
              <a:buSzPct val="100000"/>
              <a:buChar char="•"/>
            </a:pPr>
            <a:r>
              <a:rPr lang="en-US" sz="1400" dirty="0">
                <a:solidFill>
                  <a:schemeClr val="bg2"/>
                </a:solidFill>
              </a:rPr>
              <a:t>Then test revocation and the circuit-breaker</a:t>
            </a:r>
            <a:endParaRPr lang="en-US" sz="1400" dirty="0"/>
          </a:p>
        </p:txBody>
      </p:sp>
      <p:sp>
        <p:nvSpPr>
          <p:cNvPr id="20" name="Closing line"/>
          <p:cNvSpPr txBox="1"/>
          <p:nvPr/>
        </p:nvSpPr>
        <p:spPr>
          <a:xfrm>
            <a:off x="548640" y="5760720"/>
            <a:ext cx="7315200" cy="502920"/>
          </a:xfrm>
          <a:prstGeom prst="rect">
            <a:avLst/>
          </a:prstGeom>
          <a:noFill/>
          <a:ln/>
        </p:spPr>
        <p:txBody>
          <a:bodyPr wrap="square" lIns="0" tIns="0" rIns="0" bIns="0" rtlCol="0" anchor="ctr"/>
          <a:lstStyle/>
          <a:p>
            <a:pPr algn="l" indent="0" marL="0">
              <a:buNone/>
            </a:pPr>
            <a:r>
              <a:rPr lang="en-US" sz="2400" b="1" dirty="0">
                <a:solidFill>
                  <a:schemeClr val="accent5"/>
                </a:solidFill>
                <a:latin typeface="Cambria" pitchFamily="34" charset="0"/>
                <a:ea typeface="Cambria" pitchFamily="34" charset="-122"/>
                <a:cs typeface="Cambria" pitchFamily="34" charset="-120"/>
              </a:rPr>
              <a:t>Thank you. Questions are welcome.</a:t>
            </a:r>
            <a:endParaRPr lang="en-US" sz="24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ph idx="100" type="body" hasCustomPrompt="1"/>
          </p:nvPr>
        </p:nvSpPr>
        <p:spPr>
          <a:xfrm>
            <a:off x="548640" y="292608"/>
            <a:ext cx="11094415"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APPENDIX  |  ADOPTION &amp; CAMPUS SCALING</a:t>
            </a:r>
            <a:endParaRPr lang="en-US" sz="1200" dirty="0"/>
          </a:p>
        </p:txBody>
      </p:sp>
      <p:sp>
        <p:nvSpPr>
          <p:cNvPr id="3" name="Text 0"/>
          <p:cNvSpPr txBox="1"/>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Three-Pillar Governance Framework</a:t>
            </a:r>
            <a:endParaRPr lang="en-US" sz="3200" dirty="0"/>
          </a:p>
        </p:txBody>
      </p:sp>
      <p:sp>
        <p:nvSpPr>
          <p:cNvPr id="4"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18</a:t>
            </a:fld>
            <a:endParaRPr lang="en-US"/>
          </a:p>
        </p:txBody>
      </p:sp>
      <p:sp>
        <p:nvSpPr>
          <p:cNvPr id="5" name="Pillar card 1"/>
          <p:cNvSpPr/>
          <p:nvPr/>
        </p:nvSpPr>
        <p:spPr>
          <a:xfrm>
            <a:off x="548640" y="1463040"/>
            <a:ext cx="3593592" cy="4800600"/>
          </a:xfrm>
          <a:prstGeom prst="roundRect">
            <a:avLst>
              <a:gd name="adj" fmla="val 2597"/>
            </a:avLst>
          </a:prstGeom>
          <a:solidFill>
            <a:schemeClr val="bg2"/>
          </a:solidFill>
          <a:ln/>
        </p:spPr>
      </p:sp>
      <p:sp>
        <p:nvSpPr>
          <p:cNvPr id="6" name="Pillar number 1"/>
          <p:cNvSpPr/>
          <p:nvPr/>
        </p:nvSpPr>
        <p:spPr>
          <a:xfrm>
            <a:off x="822959" y="1737360"/>
            <a:ext cx="548640" cy="548640"/>
          </a:xfrm>
          <a:prstGeom prst="ellipse">
            <a:avLst/>
          </a:prstGeom>
          <a:solidFill>
            <a:schemeClr val="accent1"/>
          </a:solidFill>
          <a:ln/>
        </p:spPr>
        <p:txBody>
          <a:bodyPr wrap="square" lIns="0" tIns="0" rIns="0" bIns="0" rtlCol="0" anchor="ctr"/>
          <a:lstStyle/>
          <a:p>
            <a:pPr algn="ctr" marL="0" indent="0">
              <a:buNone/>
            </a:pPr>
            <a:r>
              <a:rPr lang="en-US" sz="1800" b="1" dirty="0">
                <a:solidFill>
                  <a:schemeClr val="bg1"/>
                </a:solidFill>
              </a:rPr>
              <a:t>1</a:t>
            </a:r>
            <a:endParaRPr lang="en-US" sz="1200" dirty="0"/>
          </a:p>
        </p:txBody>
      </p:sp>
      <p:sp>
        <p:nvSpPr>
          <p:cNvPr id="7" name="Pillar title 1"/>
          <p:cNvSpPr txBox="1"/>
          <p:nvPr/>
        </p:nvSpPr>
        <p:spPr>
          <a:xfrm>
            <a:off x="1554480" y="1719072"/>
            <a:ext cx="2377440" cy="329184"/>
          </a:xfrm>
          <a:prstGeom prst="rect">
            <a:avLst/>
          </a:prstGeom>
          <a:noFill/>
          <a:ln/>
        </p:spPr>
        <p:txBody>
          <a:bodyPr wrap="square" lIns="0" tIns="0" rIns="0" bIns="0" rtlCol="0" anchor="t"/>
          <a:lstStyle/>
          <a:p>
            <a:pPr algn="l" marL="0" indent="0">
              <a:buNone/>
            </a:pPr>
            <a:r>
              <a:rPr lang="en-US" sz="1800" b="1" dirty="0">
                <a:solidFill>
                  <a:schemeClr val="tx2"/>
                </a:solidFill>
                <a:latin typeface="Cambria" pitchFamily="34" charset="0"/>
                <a:ea typeface="Cambria" pitchFamily="34" charset="-122"/>
                <a:cs typeface="Cambria" pitchFamily="34" charset="-120"/>
              </a:rPr>
              <a:t>Architecture</a:t>
            </a:r>
            <a:endParaRPr lang="en-US" sz="1200" dirty="0"/>
          </a:p>
        </p:txBody>
      </p:sp>
      <p:sp>
        <p:nvSpPr>
          <p:cNvPr id="8" name="Pillar subtitle 1"/>
          <p:cNvSpPr txBox="1"/>
          <p:nvPr/>
        </p:nvSpPr>
        <p:spPr>
          <a:xfrm>
            <a:off x="1554480" y="2066543"/>
            <a:ext cx="2377440" cy="256032"/>
          </a:xfrm>
          <a:prstGeom prst="rect">
            <a:avLst/>
          </a:prstGeom>
          <a:noFill/>
          <a:ln/>
        </p:spPr>
        <p:txBody>
          <a:bodyPr wrap="square" lIns="0" tIns="0" rIns="0" bIns="0" rtlCol="0" anchor="t"/>
          <a:lstStyle/>
          <a:p>
            <a:pPr algn="l" marL="0" indent="0">
              <a:buNone/>
            </a:pPr>
            <a:r>
              <a:rPr lang="en-US" sz="1200" dirty="0">
                <a:solidFill>
                  <a:schemeClr val="accent6"/>
                </a:solidFill>
              </a:rPr>
              <a:t>Technical Ledger Security</a:t>
            </a:r>
            <a:endParaRPr lang="en-US" sz="1200" dirty="0"/>
          </a:p>
        </p:txBody>
      </p:sp>
      <p:sp>
        <p:nvSpPr>
          <p:cNvPr id="9" name="Pillar points 1"/>
          <p:cNvSpPr txBox="1"/>
          <p:nvPr/>
        </p:nvSpPr>
        <p:spPr>
          <a:xfrm>
            <a:off x="822959" y="2743200"/>
            <a:ext cx="3044952" cy="3291840"/>
          </a:xfrm>
          <a:prstGeom prst="rect">
            <a:avLst/>
          </a:prstGeom>
          <a:noFill/>
          <a:ln/>
        </p:spPr>
        <p:txBody>
          <a:bodyPr wrap="square" lIns="0" tIns="0" rIns="0" bIns="0" rtlCol="0" anchor="t"/>
          <a:lstStyle/>
          <a:p>
            <a:pPr algn="l" marL="0" indent="0">
              <a:spcAft>
                <a:spcPts val="300"/>
              </a:spcAft>
              <a:buNone/>
            </a:pPr>
            <a:r>
              <a:rPr lang="en-US" sz="1400" b="1" dirty="0">
                <a:solidFill>
                  <a:schemeClr val="accent1"/>
                </a:solidFill>
              </a:rPr>
              <a:t>Dual-Layer EVM + IPFS</a:t>
            </a:r>
            <a:endParaRPr lang="en-US" sz="1200" dirty="0"/>
          </a:p>
          <a:p>
            <a:pPr algn="l" marL="0" indent="0">
              <a:buNone/>
            </a:pPr>
            <a:r>
              <a:rPr lang="en-US" sz="1300" dirty="0">
                <a:solidFill>
                  <a:schemeClr val="tx1"/>
                </a:solidFill>
              </a:rPr>
              <a:t>Separates heavy file storage from the state mapping, cutting on-chain data by 99.99%.</a:t>
            </a:r>
            <a:endParaRPr lang="en-US" sz="1200" dirty="0"/>
          </a:p>
          <a:p>
            <a:pPr algn="l" marL="0" indent="0">
              <a:spcBef>
                <a:spcPts val="1600"/>
              </a:spcBef>
              <a:spcAft>
                <a:spcPts val="300"/>
              </a:spcAft>
              <a:buNone/>
            </a:pPr>
            <a:r>
              <a:rPr lang="en-US" sz="1400" b="1" dirty="0">
                <a:solidFill>
                  <a:schemeClr val="accent1"/>
                </a:solidFill>
              </a:rPr>
              <a:t>Gas Batch Optimization</a:t>
            </a:r>
            <a:endParaRPr lang="en-US" sz="1200" dirty="0"/>
          </a:p>
          <a:p>
            <a:pPr algn="l" marL="0" indent="0">
              <a:buNone/>
            </a:pPr>
            <a:r>
              <a:rPr lang="en-US" sz="1300" dirty="0">
                <a:solidFill>
                  <a:schemeClr val="tx1"/>
                </a:solidFill>
              </a:rPr>
              <a:t>Dynamic array memory packing cuts gas by 23.8% (52,100 gas per certificate).</a:t>
            </a:r>
            <a:endParaRPr lang="en-US" sz="1200" dirty="0"/>
          </a:p>
          <a:p>
            <a:pPr algn="l" marL="0" indent="0">
              <a:spcBef>
                <a:spcPts val="1600"/>
              </a:spcBef>
              <a:spcAft>
                <a:spcPts val="300"/>
              </a:spcAft>
              <a:buNone/>
            </a:pPr>
            <a:r>
              <a:rPr lang="en-US" sz="1400" b="1" dirty="0">
                <a:solidFill>
                  <a:schemeClr val="accent1"/>
                </a:solidFill>
              </a:rPr>
              <a:t>Security Primitives</a:t>
            </a:r>
            <a:endParaRPr lang="en-US" sz="1200" dirty="0"/>
          </a:p>
          <a:p>
            <a:pPr algn="l" marL="0" indent="0">
              <a:buNone/>
            </a:pPr>
            <a:r>
              <a:rPr lang="en-US" sz="1300" dirty="0">
                <a:solidFill>
                  <a:schemeClr val="tx1"/>
                </a:solidFill>
              </a:rPr>
              <a:t>OpenZeppelin v5 ReentrancyGuard, Ownable and a Pausable circuit-breaker.</a:t>
            </a:r>
            <a:endParaRPr lang="en-US" sz="1200" dirty="0"/>
          </a:p>
        </p:txBody>
      </p:sp>
      <p:sp>
        <p:nvSpPr>
          <p:cNvPr id="10" name="Pillar card 2"/>
          <p:cNvSpPr/>
          <p:nvPr/>
        </p:nvSpPr>
        <p:spPr>
          <a:xfrm>
            <a:off x="4297680" y="1463040"/>
            <a:ext cx="3593592" cy="4800600"/>
          </a:xfrm>
          <a:prstGeom prst="roundRect">
            <a:avLst>
              <a:gd name="adj" fmla="val 2597"/>
            </a:avLst>
          </a:prstGeom>
          <a:solidFill>
            <a:schemeClr val="bg2"/>
          </a:solidFill>
          <a:ln/>
        </p:spPr>
      </p:sp>
      <p:sp>
        <p:nvSpPr>
          <p:cNvPr id="11" name="Pillar number 2"/>
          <p:cNvSpPr/>
          <p:nvPr/>
        </p:nvSpPr>
        <p:spPr>
          <a:xfrm>
            <a:off x="4572000" y="1737360"/>
            <a:ext cx="548640" cy="548640"/>
          </a:xfrm>
          <a:prstGeom prst="ellipse">
            <a:avLst/>
          </a:prstGeom>
          <a:solidFill>
            <a:schemeClr val="accent1"/>
          </a:solidFill>
          <a:ln/>
        </p:spPr>
        <p:txBody>
          <a:bodyPr wrap="square" lIns="0" tIns="0" rIns="0" bIns="0" rtlCol="0" anchor="ctr"/>
          <a:lstStyle/>
          <a:p>
            <a:pPr algn="ctr" marL="0" indent="0">
              <a:buNone/>
            </a:pPr>
            <a:r>
              <a:rPr lang="en-US" sz="1800" b="1" dirty="0">
                <a:solidFill>
                  <a:schemeClr val="bg1"/>
                </a:solidFill>
              </a:rPr>
              <a:t>2</a:t>
            </a:r>
            <a:endParaRPr lang="en-US" sz="1200" dirty="0"/>
          </a:p>
        </p:txBody>
      </p:sp>
      <p:sp>
        <p:nvSpPr>
          <p:cNvPr id="12" name="Pillar title 2"/>
          <p:cNvSpPr txBox="1"/>
          <p:nvPr/>
        </p:nvSpPr>
        <p:spPr>
          <a:xfrm>
            <a:off x="5303520" y="1719072"/>
            <a:ext cx="2377440" cy="329184"/>
          </a:xfrm>
          <a:prstGeom prst="rect">
            <a:avLst/>
          </a:prstGeom>
          <a:noFill/>
          <a:ln/>
        </p:spPr>
        <p:txBody>
          <a:bodyPr wrap="square" lIns="0" tIns="0" rIns="0" bIns="0" rtlCol="0" anchor="t"/>
          <a:lstStyle/>
          <a:p>
            <a:pPr algn="l" marL="0" indent="0">
              <a:buNone/>
            </a:pPr>
            <a:r>
              <a:rPr lang="en-US" sz="1800" b="1" dirty="0">
                <a:solidFill>
                  <a:schemeClr val="tx2"/>
                </a:solidFill>
                <a:latin typeface="Cambria" pitchFamily="34" charset="0"/>
                <a:ea typeface="Cambria" pitchFamily="34" charset="-122"/>
                <a:cs typeface="Cambria" pitchFamily="34" charset="-120"/>
              </a:rPr>
              <a:t>Data Protection</a:t>
            </a:r>
            <a:endParaRPr lang="en-US" sz="1200" dirty="0"/>
          </a:p>
        </p:txBody>
      </p:sp>
      <p:sp>
        <p:nvSpPr>
          <p:cNvPr id="13" name="Pillar subtitle 2"/>
          <p:cNvSpPr txBox="1"/>
          <p:nvPr/>
        </p:nvSpPr>
        <p:spPr>
          <a:xfrm>
            <a:off x="5303520" y="2066543"/>
            <a:ext cx="2377440" cy="256032"/>
          </a:xfrm>
          <a:prstGeom prst="rect">
            <a:avLst/>
          </a:prstGeom>
          <a:noFill/>
          <a:ln/>
        </p:spPr>
        <p:txBody>
          <a:bodyPr wrap="square" lIns="0" tIns="0" rIns="0" bIns="0" rtlCol="0" anchor="t"/>
          <a:lstStyle/>
          <a:p>
            <a:pPr algn="l" marL="0" indent="0">
              <a:buNone/>
            </a:pPr>
            <a:r>
              <a:rPr lang="en-US" sz="1200" dirty="0">
                <a:solidFill>
                  <a:schemeClr val="accent6"/>
                </a:solidFill>
              </a:rPr>
              <a:t>Statutory Privacy Governance</a:t>
            </a:r>
            <a:endParaRPr lang="en-US" sz="1200" dirty="0"/>
          </a:p>
        </p:txBody>
      </p:sp>
      <p:sp>
        <p:nvSpPr>
          <p:cNvPr id="14" name="Pillar points 2"/>
          <p:cNvSpPr txBox="1"/>
          <p:nvPr/>
        </p:nvSpPr>
        <p:spPr>
          <a:xfrm>
            <a:off x="4572000" y="2743200"/>
            <a:ext cx="3044952" cy="3291840"/>
          </a:xfrm>
          <a:prstGeom prst="rect">
            <a:avLst/>
          </a:prstGeom>
          <a:noFill/>
          <a:ln/>
        </p:spPr>
        <p:txBody>
          <a:bodyPr wrap="square" lIns="0" tIns="0" rIns="0" bIns="0" rtlCol="0" anchor="t"/>
          <a:lstStyle/>
          <a:p>
            <a:pPr algn="l" marL="0" indent="0">
              <a:spcAft>
                <a:spcPts val="300"/>
              </a:spcAft>
              <a:buNone/>
            </a:pPr>
            <a:r>
              <a:rPr lang="en-US" sz="1400" b="1" dirty="0">
                <a:solidFill>
                  <a:schemeClr val="accent1"/>
                </a:solidFill>
              </a:rPr>
              <a:t>Zero Cleartext PII</a:t>
            </a:r>
            <a:endParaRPr lang="en-US" sz="1200" dirty="0"/>
          </a:p>
          <a:p>
            <a:pPr algn="l" marL="0" indent="0">
              <a:buNone/>
            </a:pPr>
            <a:r>
              <a:rPr lang="en-US" sz="1300" dirty="0">
                <a:solidFill>
                  <a:schemeClr val="tx1"/>
                </a:solidFill>
              </a:rPr>
              <a:t>No student names, roll numbers or grades are recorded on the public ledger.</a:t>
            </a:r>
            <a:endParaRPr lang="en-US" sz="1200" dirty="0"/>
          </a:p>
          <a:p>
            <a:pPr algn="l" marL="0" indent="0">
              <a:spcBef>
                <a:spcPts val="1600"/>
              </a:spcBef>
              <a:spcAft>
                <a:spcPts val="300"/>
              </a:spcAft>
              <a:buNone/>
            </a:pPr>
            <a:r>
              <a:rPr lang="en-US" sz="1400" b="1" dirty="0">
                <a:solidFill>
                  <a:schemeClr val="accent1"/>
                </a:solidFill>
              </a:rPr>
              <a:t>DPDP Act Section 12</a:t>
            </a:r>
            <a:endParaRPr lang="en-US" sz="1200" dirty="0"/>
          </a:p>
          <a:p>
            <a:pPr algn="l" marL="0" indent="0">
              <a:buNone/>
            </a:pPr>
            <a:r>
              <a:rPr lang="en-US" sz="1300" dirty="0">
                <a:solidFill>
                  <a:schemeClr val="tx1"/>
                </a:solidFill>
              </a:rPr>
              <a:t>A formal un-pinning process for the Right to Erasure leaves only an orphaned 32-byte hash.</a:t>
            </a:r>
            <a:endParaRPr lang="en-US" sz="1200" dirty="0"/>
          </a:p>
          <a:p>
            <a:pPr algn="l" marL="0" indent="0">
              <a:spcBef>
                <a:spcPts val="1600"/>
              </a:spcBef>
              <a:spcAft>
                <a:spcPts val="300"/>
              </a:spcAft>
              <a:buNone/>
            </a:pPr>
            <a:r>
              <a:rPr lang="en-US" sz="1400" b="1" dirty="0">
                <a:solidFill>
                  <a:schemeClr val="accent1"/>
                </a:solidFill>
              </a:rPr>
              <a:t>Data Minimization</a:t>
            </a:r>
            <a:endParaRPr lang="en-US" sz="1200" dirty="0"/>
          </a:p>
          <a:p>
            <a:pPr algn="l" marL="0" indent="0">
              <a:buNone/>
            </a:pPr>
            <a:r>
              <a:rPr lang="en-US" sz="1300" dirty="0">
                <a:solidFill>
                  <a:schemeClr val="tx1"/>
                </a:solidFill>
              </a:rPr>
              <a:t>Hashing runs in the browser with Web Crypto, so confidential files never leave the device.</a:t>
            </a:r>
            <a:endParaRPr lang="en-US" sz="1200" dirty="0"/>
          </a:p>
        </p:txBody>
      </p:sp>
      <p:sp>
        <p:nvSpPr>
          <p:cNvPr id="15" name="Pillar card 3"/>
          <p:cNvSpPr/>
          <p:nvPr/>
        </p:nvSpPr>
        <p:spPr>
          <a:xfrm>
            <a:off x="8046720" y="1463040"/>
            <a:ext cx="3593592" cy="4800600"/>
          </a:xfrm>
          <a:prstGeom prst="roundRect">
            <a:avLst>
              <a:gd name="adj" fmla="val 2597"/>
            </a:avLst>
          </a:prstGeom>
          <a:solidFill>
            <a:schemeClr val="bg2"/>
          </a:solidFill>
          <a:ln/>
        </p:spPr>
      </p:sp>
      <p:sp>
        <p:nvSpPr>
          <p:cNvPr id="16" name="Pillar number 3"/>
          <p:cNvSpPr/>
          <p:nvPr/>
        </p:nvSpPr>
        <p:spPr>
          <a:xfrm>
            <a:off x="8321040" y="1737360"/>
            <a:ext cx="548640" cy="548640"/>
          </a:xfrm>
          <a:prstGeom prst="ellipse">
            <a:avLst/>
          </a:prstGeom>
          <a:solidFill>
            <a:schemeClr val="accent1"/>
          </a:solidFill>
          <a:ln/>
        </p:spPr>
        <p:txBody>
          <a:bodyPr wrap="square" lIns="0" tIns="0" rIns="0" bIns="0" rtlCol="0" anchor="ctr"/>
          <a:lstStyle/>
          <a:p>
            <a:pPr algn="ctr" marL="0" indent="0">
              <a:buNone/>
            </a:pPr>
            <a:r>
              <a:rPr lang="en-US" sz="1800" b="1" dirty="0">
                <a:solidFill>
                  <a:schemeClr val="bg1"/>
                </a:solidFill>
              </a:rPr>
              <a:t>3</a:t>
            </a:r>
            <a:endParaRPr lang="en-US" sz="1200" dirty="0"/>
          </a:p>
        </p:txBody>
      </p:sp>
      <p:sp>
        <p:nvSpPr>
          <p:cNvPr id="17" name="Pillar title 3"/>
          <p:cNvSpPr txBox="1"/>
          <p:nvPr/>
        </p:nvSpPr>
        <p:spPr>
          <a:xfrm>
            <a:off x="9052560" y="1719072"/>
            <a:ext cx="2377440" cy="329184"/>
          </a:xfrm>
          <a:prstGeom prst="rect">
            <a:avLst/>
          </a:prstGeom>
          <a:noFill/>
          <a:ln/>
        </p:spPr>
        <p:txBody>
          <a:bodyPr wrap="square" lIns="0" tIns="0" rIns="0" bIns="0" rtlCol="0" anchor="t"/>
          <a:lstStyle/>
          <a:p>
            <a:pPr algn="l" marL="0" indent="0">
              <a:buNone/>
            </a:pPr>
            <a:r>
              <a:rPr lang="en-US" sz="1800" b="1" dirty="0">
                <a:solidFill>
                  <a:schemeClr val="tx2"/>
                </a:solidFill>
                <a:latin typeface="Cambria" pitchFamily="34" charset="0"/>
                <a:ea typeface="Cambria" pitchFamily="34" charset="-122"/>
                <a:cs typeface="Cambria" pitchFamily="34" charset="-120"/>
              </a:rPr>
              <a:t>Operations</a:t>
            </a:r>
            <a:endParaRPr lang="en-US" sz="1200" dirty="0"/>
          </a:p>
        </p:txBody>
      </p:sp>
      <p:sp>
        <p:nvSpPr>
          <p:cNvPr id="18" name="Pillar subtitle 3"/>
          <p:cNvSpPr txBox="1"/>
          <p:nvPr/>
        </p:nvSpPr>
        <p:spPr>
          <a:xfrm>
            <a:off x="9052560" y="2066543"/>
            <a:ext cx="2377440" cy="256032"/>
          </a:xfrm>
          <a:prstGeom prst="rect">
            <a:avLst/>
          </a:prstGeom>
          <a:noFill/>
          <a:ln/>
        </p:spPr>
        <p:txBody>
          <a:bodyPr wrap="square" lIns="0" tIns="0" rIns="0" bIns="0" rtlCol="0" anchor="t"/>
          <a:lstStyle/>
          <a:p>
            <a:pPr algn="l" marL="0" indent="0">
              <a:buNone/>
            </a:pPr>
            <a:r>
              <a:rPr lang="en-US" sz="1200" dirty="0">
                <a:solidFill>
                  <a:schemeClr val="accent6"/>
                </a:solidFill>
              </a:rPr>
              <a:t>University Exam Cell Policy</a:t>
            </a:r>
            <a:endParaRPr lang="en-US" sz="1200" dirty="0"/>
          </a:p>
        </p:txBody>
      </p:sp>
      <p:sp>
        <p:nvSpPr>
          <p:cNvPr id="19" name="Pillar points 3"/>
          <p:cNvSpPr txBox="1"/>
          <p:nvPr/>
        </p:nvSpPr>
        <p:spPr>
          <a:xfrm>
            <a:off x="8321040" y="2743200"/>
            <a:ext cx="3044952" cy="3291840"/>
          </a:xfrm>
          <a:prstGeom prst="rect">
            <a:avLst/>
          </a:prstGeom>
          <a:noFill/>
          <a:ln/>
        </p:spPr>
        <p:txBody>
          <a:bodyPr wrap="square" lIns="0" tIns="0" rIns="0" bIns="0" rtlCol="0" anchor="t"/>
          <a:lstStyle/>
          <a:p>
            <a:pPr algn="l" marL="0" indent="0">
              <a:spcAft>
                <a:spcPts val="300"/>
              </a:spcAft>
              <a:buNone/>
            </a:pPr>
            <a:r>
              <a:rPr lang="en-US" sz="1400" b="1" dirty="0">
                <a:solidFill>
                  <a:schemeClr val="accent1"/>
                </a:solidFill>
              </a:rPr>
              <a:t>Multi-Signature Wallets</a:t>
            </a:r>
            <a:endParaRPr lang="en-US" sz="1200" dirty="0"/>
          </a:p>
          <a:p>
            <a:pPr algn="l" marL="0" indent="0">
              <a:buNone/>
            </a:pPr>
            <a:r>
              <a:rPr lang="en-US" sz="1300" dirty="0">
                <a:solidFill>
                  <a:schemeClr val="tx1"/>
                </a:solidFill>
              </a:rPr>
              <a:t>3 of 5 university deans must approve admin changes through a Gnosis Safe.</a:t>
            </a:r>
            <a:endParaRPr lang="en-US" sz="1200" dirty="0"/>
          </a:p>
          <a:p>
            <a:pPr algn="l" marL="0" indent="0">
              <a:spcBef>
                <a:spcPts val="1600"/>
              </a:spcBef>
              <a:spcAft>
                <a:spcPts val="300"/>
              </a:spcAft>
              <a:buNone/>
            </a:pPr>
            <a:r>
              <a:rPr lang="en-US" sz="1400" b="1" dirty="0">
                <a:solidFill>
                  <a:schemeClr val="accent1"/>
                </a:solidFill>
              </a:rPr>
              <a:t>SAP ERP Integration</a:t>
            </a:r>
            <a:endParaRPr lang="en-US" sz="1200" dirty="0"/>
          </a:p>
          <a:p>
            <a:pPr algn="l" marL="0" indent="0">
              <a:buNone/>
            </a:pPr>
            <a:r>
              <a:rPr lang="en-US" sz="1300" dirty="0">
                <a:solidFill>
                  <a:schemeClr val="tx1"/>
                </a:solidFill>
              </a:rPr>
              <a:t>Middleware connects the university SLCM database once the Senate ratifies results.</a:t>
            </a:r>
            <a:endParaRPr lang="en-US" sz="1200" dirty="0"/>
          </a:p>
          <a:p>
            <a:pPr algn="l" marL="0" indent="0">
              <a:spcBef>
                <a:spcPts val="1600"/>
              </a:spcBef>
              <a:spcAft>
                <a:spcPts val="300"/>
              </a:spcAft>
              <a:buNone/>
            </a:pPr>
            <a:r>
              <a:rPr lang="en-US" sz="1400" b="1" dirty="0">
                <a:solidFill>
                  <a:schemeClr val="accent1"/>
                </a:solidFill>
              </a:rPr>
              <a:t>Key Security &amp; Audits</a:t>
            </a:r>
            <a:endParaRPr lang="en-US" sz="1200" dirty="0"/>
          </a:p>
          <a:p>
            <a:pPr algn="l" marL="0" indent="0">
              <a:buNone/>
            </a:pPr>
            <a:r>
              <a:rPr lang="en-US" sz="1300" dirty="0">
                <a:solidFill>
                  <a:schemeClr val="tx1"/>
                </a:solidFill>
              </a:rPr>
              <a:t>Hardware security modules (HSM) and periodic smart contract re-audits.</a:t>
            </a:r>
            <a:endParaRPr lang="en-US" sz="1200"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ph idx="100" type="body" hasCustomPrompt="1"/>
          </p:nvPr>
        </p:nvSpPr>
        <p:spPr>
          <a:xfrm>
            <a:off x="548640" y="292608"/>
            <a:ext cx="11094415" cy="256032"/>
          </a:xfrm>
          <a:prstGeom prst="rect">
            <a:avLst/>
          </a:prstGeom>
          <a:noFill/>
          <a:ln/>
        </p:spPr>
        <p:txBody>
          <a:bodyPr wrap="square" lIns="0" tIns="0" rIns="0" bIns="0" rtlCol="0" anchor="t"/>
          <a:lstStyle/>
          <a:p>
            <a:pPr algn="l" indent="0" marL="0">
              <a:buNone/>
            </a:pPr>
            <a:r>
              <a:rPr lang="en-US" sz="1200" b="1" spc="200" kern="0" dirty="0">
                <a:solidFill>
                  <a:schemeClr val="accent1"/>
                </a:solidFill>
              </a:rPr>
              <a:t>APPENDIX  |  VIVA PREPARATION</a:t>
            </a:r>
            <a:endParaRPr lang="en-US" sz="1200" dirty="0"/>
          </a:p>
        </p:txBody>
      </p:sp>
      <p:sp>
        <p:nvSpPr>
          <p:cNvPr id="3" name="Text 0"/>
          <p:cNvSpPr txBox="1"/>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Likely Evaluator Questions and Model Answers</a:t>
            </a:r>
            <a:endParaRPr lang="en-US" sz="3200" dirty="0"/>
          </a:p>
        </p:txBody>
      </p:sp>
      <p:sp>
        <p:nvSpPr>
          <p:cNvPr id="4"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19</a:t>
            </a:fld>
            <a:endParaRPr lang="en-US"/>
          </a:p>
        </p:txBody>
      </p:sp>
      <p:sp>
        <p:nvSpPr>
          <p:cNvPr id="5" name="Question card 1"/>
          <p:cNvSpPr/>
          <p:nvPr/>
        </p:nvSpPr>
        <p:spPr>
          <a:xfrm>
            <a:off x="548640" y="1463040"/>
            <a:ext cx="5458968" cy="2286000"/>
          </a:xfrm>
          <a:prstGeom prst="roundRect">
            <a:avLst>
              <a:gd name="adj" fmla="val 2597"/>
            </a:avLst>
          </a:prstGeom>
          <a:solidFill>
            <a:schemeClr val="bg2"/>
          </a:solidFill>
          <a:ln/>
        </p:spPr>
      </p:sp>
      <p:sp>
        <p:nvSpPr>
          <p:cNvPr id="6" name="Question 1"/>
          <p:cNvSpPr txBox="1"/>
          <p:nvPr/>
        </p:nvSpPr>
        <p:spPr>
          <a:xfrm>
            <a:off x="777240" y="1609344"/>
            <a:ext cx="5001768" cy="502920"/>
          </a:xfrm>
          <a:prstGeom prst="rect">
            <a:avLst/>
          </a:prstGeom>
          <a:noFill/>
          <a:ln/>
        </p:spPr>
        <p:txBody>
          <a:bodyPr wrap="square" lIns="0" tIns="0" rIns="0" bIns="0" rtlCol="0" anchor="t"/>
          <a:lstStyle/>
          <a:p>
            <a:pPr algn="l" marL="0" indent="0">
              <a:buNone/>
            </a:pPr>
            <a:r>
              <a:rPr lang="en-US" sz="1300" b="1" dirty="0">
                <a:solidFill>
                  <a:schemeClr val="accent1"/>
                </a:solidFill>
              </a:rPr>
              <a:t>Q1: Why not a centralized MySQL database with digital signatures? Wouldn’t it be cheaper?</a:t>
            </a:r>
            <a:endParaRPr lang="en-US" sz="1200" dirty="0"/>
          </a:p>
        </p:txBody>
      </p:sp>
      <p:sp>
        <p:nvSpPr>
          <p:cNvPr id="7" name="Answer 1"/>
          <p:cNvSpPr txBox="1"/>
          <p:nvPr/>
        </p:nvSpPr>
        <p:spPr>
          <a:xfrm>
            <a:off x="777240" y="2157984"/>
            <a:ext cx="5001768" cy="1508760"/>
          </a:xfrm>
          <a:prstGeom prst="rect">
            <a:avLst/>
          </a:prstGeom>
          <a:noFill/>
          <a:ln/>
        </p:spPr>
        <p:txBody>
          <a:bodyPr wrap="square" lIns="0" tIns="0" rIns="0" bIns="0" rtlCol="0" anchor="t"/>
          <a:lstStyle/>
          <a:p>
            <a:pPr algn="l" marL="0" indent="0">
              <a:buNone/>
            </a:pPr>
            <a:r>
              <a:rPr lang="en-US" sz="1150" dirty="0">
                <a:solidFill>
                  <a:schemeClr val="tx1"/>
                </a:solidFill>
              </a:rPr>
              <a:t>A central database has three weaknesses. (1) Single point of failure: if the server crashes or goes offline, verification stops. (2) Insider risk: a dishonest registrar admin can quietly change SQL records. (3) Verification friction: third parties cannot check records without querying the university’s private servers. A blockchain provides decentralized consensus. Once a record is anchored, no one can alter it, including the university chancellor. Third parties can also verify credentials from anywhere in constant time, O(1), with zero gas fees.</a:t>
            </a:r>
            <a:endParaRPr lang="en-US" sz="1200" dirty="0"/>
          </a:p>
        </p:txBody>
      </p:sp>
      <p:sp>
        <p:nvSpPr>
          <p:cNvPr id="8" name="Question card 2"/>
          <p:cNvSpPr/>
          <p:nvPr/>
        </p:nvSpPr>
        <p:spPr>
          <a:xfrm>
            <a:off x="6181344" y="1463040"/>
            <a:ext cx="5458968" cy="2286000"/>
          </a:xfrm>
          <a:prstGeom prst="roundRect">
            <a:avLst>
              <a:gd name="adj" fmla="val 2597"/>
            </a:avLst>
          </a:prstGeom>
          <a:solidFill>
            <a:schemeClr val="bg2"/>
          </a:solidFill>
          <a:ln/>
        </p:spPr>
      </p:sp>
      <p:sp>
        <p:nvSpPr>
          <p:cNvPr id="9" name="Question 2"/>
          <p:cNvSpPr txBox="1"/>
          <p:nvPr/>
        </p:nvSpPr>
        <p:spPr>
          <a:xfrm>
            <a:off x="6409944" y="1609344"/>
            <a:ext cx="5001768" cy="502920"/>
          </a:xfrm>
          <a:prstGeom prst="rect">
            <a:avLst/>
          </a:prstGeom>
          <a:noFill/>
          <a:ln/>
        </p:spPr>
        <p:txBody>
          <a:bodyPr wrap="square" lIns="0" tIns="0" rIns="0" bIns="0" rtlCol="0" anchor="t"/>
          <a:lstStyle/>
          <a:p>
            <a:pPr algn="l" marL="0" indent="0">
              <a:buNone/>
            </a:pPr>
            <a:r>
              <a:rPr lang="en-US" sz="1300" b="1" dirty="0">
                <a:solidFill>
                  <a:schemeClr val="accent1"/>
                </a:solidFill>
              </a:rPr>
              <a:t>Q2: What happens if a registrar’s private key is compromised or stolen?</a:t>
            </a:r>
            <a:endParaRPr lang="en-US" sz="1200" dirty="0"/>
          </a:p>
        </p:txBody>
      </p:sp>
      <p:sp>
        <p:nvSpPr>
          <p:cNvPr id="10" name="Answer 2"/>
          <p:cNvSpPr txBox="1"/>
          <p:nvPr/>
        </p:nvSpPr>
        <p:spPr>
          <a:xfrm>
            <a:off x="6409944" y="2157984"/>
            <a:ext cx="5001768" cy="1508760"/>
          </a:xfrm>
          <a:prstGeom prst="rect">
            <a:avLst/>
          </a:prstGeom>
          <a:noFill/>
          <a:ln/>
        </p:spPr>
        <p:txBody>
          <a:bodyPr wrap="square" lIns="0" tIns="0" rIns="0" bIns="0" rtlCol="0" anchor="t"/>
          <a:lstStyle/>
          <a:p>
            <a:pPr algn="l" marL="0" indent="0">
              <a:buNone/>
            </a:pPr>
            <a:r>
              <a:rPr lang="en-US" sz="1150" dirty="0">
                <a:solidFill>
                  <a:schemeClr val="tx1"/>
                </a:solidFill>
              </a:rPr>
              <a:t>We use defense-in-depth. (1) CredentialRegistry.sol inherits OpenZeppelin’s Pausable. If a breach is suspected, the admin calls pause() to freeze all issuance and revocation writes immediately. (2) With role-based access control (RBAC), the owner calls removeIssuer(compromisedAddress) to cancel that wallet’s authorization at once, with no need to redeploy the contract. (3) In production, the owner address is controlled by a Gnosis Safe multi-signature wallet, and 3 of 5 deans must approve any administrative change.</a:t>
            </a:r>
            <a:endParaRPr lang="en-US" sz="1200" dirty="0"/>
          </a:p>
        </p:txBody>
      </p:sp>
      <p:sp>
        <p:nvSpPr>
          <p:cNvPr id="11" name="Question card 3"/>
          <p:cNvSpPr/>
          <p:nvPr/>
        </p:nvSpPr>
        <p:spPr>
          <a:xfrm>
            <a:off x="548640" y="3931920"/>
            <a:ext cx="5458968" cy="2286000"/>
          </a:xfrm>
          <a:prstGeom prst="roundRect">
            <a:avLst>
              <a:gd name="adj" fmla="val 2597"/>
            </a:avLst>
          </a:prstGeom>
          <a:solidFill>
            <a:schemeClr val="bg2"/>
          </a:solidFill>
          <a:ln/>
        </p:spPr>
      </p:sp>
      <p:sp>
        <p:nvSpPr>
          <p:cNvPr id="12" name="Question 3"/>
          <p:cNvSpPr txBox="1"/>
          <p:nvPr/>
        </p:nvSpPr>
        <p:spPr>
          <a:xfrm>
            <a:off x="777240" y="4078224"/>
            <a:ext cx="5001768" cy="502920"/>
          </a:xfrm>
          <a:prstGeom prst="rect">
            <a:avLst/>
          </a:prstGeom>
          <a:noFill/>
          <a:ln/>
        </p:spPr>
        <p:txBody>
          <a:bodyPr wrap="square" lIns="0" tIns="0" rIns="0" bIns="0" rtlCol="0" anchor="t"/>
          <a:lstStyle/>
          <a:p>
            <a:pPr algn="l" marL="0" indent="0">
              <a:buNone/>
            </a:pPr>
            <a:r>
              <a:rPr lang="en-US" sz="1300" b="1" dirty="0">
                <a:solidFill>
                  <a:schemeClr val="accent1"/>
                </a:solidFill>
              </a:rPr>
              <a:t>Q3: How do you comply with the DPDP 2023 ‘Right to Erasure’ if blockchain records are immutable?</a:t>
            </a:r>
            <a:endParaRPr lang="en-US" sz="1200" dirty="0"/>
          </a:p>
        </p:txBody>
      </p:sp>
      <p:sp>
        <p:nvSpPr>
          <p:cNvPr id="13" name="Answer 3"/>
          <p:cNvSpPr txBox="1"/>
          <p:nvPr/>
        </p:nvSpPr>
        <p:spPr>
          <a:xfrm>
            <a:off x="777240" y="4626864"/>
            <a:ext cx="5001768" cy="1508760"/>
          </a:xfrm>
          <a:prstGeom prst="rect">
            <a:avLst/>
          </a:prstGeom>
          <a:noFill/>
          <a:ln/>
        </p:spPr>
        <p:txBody>
          <a:bodyPr wrap="square" lIns="0" tIns="0" rIns="0" bIns="0" rtlCol="0" anchor="t"/>
          <a:lstStyle/>
          <a:p>
            <a:pPr algn="l" marL="0" indent="0">
              <a:buNone/>
            </a:pPr>
            <a:r>
              <a:rPr lang="en-US" sz="1150" dirty="0">
                <a:solidFill>
                  <a:schemeClr val="tx1"/>
                </a:solidFill>
              </a:rPr>
              <a:t>EduCred stores no personal data on-chain, only a one-way 32-byte SHA-256 digest. When a student exercises the Right to Erasure under Section 12 of the DPDP Act 2023, the university deletes the internal ERP records and un-pins the PDF marksheet from IPFS. The orphaned 32-byte hash left on the blockchain holds no personal information, so the requirement is met and penalties of up to INR 250 crore are avoided.</a:t>
            </a:r>
            <a:endParaRPr lang="en-US" sz="1200" dirty="0"/>
          </a:p>
        </p:txBody>
      </p:sp>
      <p:sp>
        <p:nvSpPr>
          <p:cNvPr id="14" name="Question card 4"/>
          <p:cNvSpPr/>
          <p:nvPr/>
        </p:nvSpPr>
        <p:spPr>
          <a:xfrm>
            <a:off x="6181344" y="3931920"/>
            <a:ext cx="5458968" cy="2286000"/>
          </a:xfrm>
          <a:prstGeom prst="roundRect">
            <a:avLst>
              <a:gd name="adj" fmla="val 2597"/>
            </a:avLst>
          </a:prstGeom>
          <a:solidFill>
            <a:schemeClr val="bg2"/>
          </a:solidFill>
          <a:ln/>
        </p:spPr>
      </p:sp>
      <p:sp>
        <p:nvSpPr>
          <p:cNvPr id="15" name="Question 4"/>
          <p:cNvSpPr txBox="1"/>
          <p:nvPr/>
        </p:nvSpPr>
        <p:spPr>
          <a:xfrm>
            <a:off x="6409944" y="4078224"/>
            <a:ext cx="5001768" cy="502920"/>
          </a:xfrm>
          <a:prstGeom prst="rect">
            <a:avLst/>
          </a:prstGeom>
          <a:noFill/>
          <a:ln/>
        </p:spPr>
        <p:txBody>
          <a:bodyPr wrap="square" lIns="0" tIns="0" rIns="0" bIns="0" rtlCol="0" anchor="t"/>
          <a:lstStyle/>
          <a:p>
            <a:pPr algn="l" marL="0" indent="0">
              <a:buNone/>
            </a:pPr>
            <a:r>
              <a:rPr lang="en-US" sz="1300" b="1" dirty="0">
                <a:solidFill>
                  <a:schemeClr val="accent1"/>
                </a:solidFill>
              </a:rPr>
              <a:t>Q4: What prevents a corrupt registrar from issuing a fake degree on-chain in the first place?</a:t>
            </a:r>
            <a:endParaRPr lang="en-US" sz="1200" dirty="0"/>
          </a:p>
        </p:txBody>
      </p:sp>
      <p:sp>
        <p:nvSpPr>
          <p:cNvPr id="16" name="Answer 4"/>
          <p:cNvSpPr txBox="1"/>
          <p:nvPr/>
        </p:nvSpPr>
        <p:spPr>
          <a:xfrm>
            <a:off x="6409944" y="4626864"/>
            <a:ext cx="5001768" cy="1508760"/>
          </a:xfrm>
          <a:prstGeom prst="rect">
            <a:avLst/>
          </a:prstGeom>
          <a:noFill/>
          <a:ln/>
        </p:spPr>
        <p:txBody>
          <a:bodyPr wrap="square" lIns="0" tIns="0" rIns="0" bIns="0" rtlCol="0" anchor="t"/>
          <a:lstStyle/>
          <a:p>
            <a:pPr algn="l" marL="0" indent="0">
              <a:buNone/>
            </a:pPr>
            <a:r>
              <a:rPr lang="en-US" sz="1150" dirty="0">
                <a:solidFill>
                  <a:schemeClr val="tx1"/>
                </a:solidFill>
              </a:rPr>
              <a:t>A blockchain guarantees that a record cannot be changed after it is issued. It cannot check whether the input data was true to begin with (garbage in, garbage out). To reduce registrar fraud, EduCred adds: (1) Senate ERP middleware ratification, so degrees can only be batch-issued through automated pipelines linked to Senate-ratified results; (2) multi-signature authorization; and (3) permanent, non-destructive revocation, which keeps a clear audit trail if malpractice is found later.</a:t>
            </a:r>
            <a:endParaRPr lang="en-US" sz="1200" dirty="0"/>
          </a:p>
        </p:txBody>
      </p:sp>
    </p:spTree>
  </p:cSld>
  <p:clrMapOvr>
    <a:masterClrMapping/>
  </p:clrMapOvr>
</p:sld>
</file>

<file path=ppt/theme/theme1.xml><?xml version="1.0" encoding="utf-8"?>
<a:theme xmlns:a="http://schemas.openxmlformats.org/drawingml/2006/main" name="EduCred Navy Teal">
  <a:themeElements>
    <a:clrScheme name="EduCred Navy Teal">
      <a:dk1>
        <a:srgbClr val="1E293B"/>
      </a:dk1>
      <a:lt1>
        <a:srgbClr val="FFFFFF"/>
      </a:lt1>
      <a:dk2>
        <a:srgbClr val="0B1B3A"/>
      </a:dk2>
      <a:lt2>
        <a:srgbClr val="F1F5F9"/>
      </a:lt2>
      <a:accent1>
        <a:srgbClr val="0F766E"/>
      </a:accent1>
      <a:accent2>
        <a:srgbClr val="F59E0B"/>
      </a:accent2>
      <a:accent3>
        <a:srgbClr val="DC2626"/>
      </a:accent3>
      <a:accent4>
        <a:srgbClr val="16A34A"/>
      </a:accent4>
      <a:accent5>
        <a:srgbClr val="5EEAD4"/>
      </a:accent5>
      <a:accent6>
        <a:srgbClr val="64748B"/>
      </a:accent6>
      <a:hlink>
        <a:srgbClr val="0F766E"/>
      </a:hlink>
      <a:folHlink>
        <a:srgbClr val="64748B"/>
      </a:folHlink>
    </a:clrScheme>
    <a:fontScheme name="EduCred Navy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EduCred - DE-II Final Project Defense</dc:title>
  <dc:subject>Design Experience II: Final Project Defense</dc:subject>
  <dc:creator>Himanshu Garg</dc:creator>
  <cp:lastModifiedBy>Himanshu Garg</cp:lastModifiedBy>
  <cp:revision>1</cp:revision>
  <dcterms:created xsi:type="dcterms:W3CDTF">2026-10-26T18:28:07Z</dcterms:created>
  <dcterms:modified xsi:type="dcterms:W3CDTF">2026-10-26T18:28:07Z</dcterms:modified>
</cp:coreProperties>
</file>